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 Accountability" id="{462da2ba-748b-c0d6-98ea-259f2428fe61}">
          <p14:sldIdLst>
            <p14:sldId id="256"/>
            <p14:sldId id="257"/>
            <p14:sldId id="258"/>
            <p14:sldId id="259"/>
            <p14:sldId id="260"/>
            <p14:sldId id="261"/>
          </p14:sldIdLst>
        </p14:section>
        <p14:section name="Part 2 · The website designs" id="{496439b9-7fe2-9445-7afb-5b3336b275ad}">
          <p14:sldIdLst>
            <p14:sldId id="262"/>
            <p14:sldId id="263"/>
            <p14:sldId id="264"/>
            <p14:sldId id="265"/>
            <p14:sldId id="266"/>
            <p14:sldId id="267"/>
            <p14:sldId id="268"/>
            <p14:sldId id="269"/>
            <p14:sldId id="270"/>
          </p14:sldIdLst>
        </p14:section>
        <p14:section name="Part 3 · Decide and commit" id="{eeacc3bb-18e6-a4c6-116e-ac7a7678c11e}">
          <p14:sldIdLst>
            <p14:sldId id="271"/>
            <p14:sldId id="272"/>
            <p14:sldId id="273"/>
            <p14:sldId id="274"/>
          </p14:sldIdLst>
        </p14:section>
        <p14:section name="Appendix" id="{51a9bee8-ec7e-c6bb-74df-807532d2eef4}">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today, and they belong together: how we create accountability with Rocks, and the website designs that become our first Rock.
Keep the open short. The room knows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jobs, one outcome. First, how we create accountability. Second, the website designs, and choosing one.
Then we put both together: the website becomes our first Rock, with owners and dates before we stand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EOS is blunt on purpose: one name on every Rock.
If everyone owns it, no one owns it. That’s how good ideas, like a new website, sit for years.
Accountability isn’t blame. It’s clarity: everyone knows who is driving.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Rocks are the few things that must be true in 90 days. Measurable, a clear “done when”, one owner.
To-Dos are seven-day promises. Done by next week, or flagged early.
Both are commitments: to the team, and to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real: a weekly rhythm.
Set: every Rock gets one owner and a done-when.
Report: every L10, each owner says on track or off track. One word, no stories.
Resolve: if it’s off track, it goes to the issues list and we solve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personal one. You’re accountable for the things you give yourself.
Ambition without ownership is noise. Everyone here has had a “we should redo the website” moment. You don’t get credit for the intention. You get credit for the finish.
Which brings us to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two jobs meet. The website is our first Rock, run exactly the way we just described.
Four milestones. The first is already done: five directions, fully built. The second happens in this room, today.
From here on it gets reported in L10 like every other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one is done. Five directions, built end to end: homepage, services, booking. Not mood boards. Every one is live, and I can open any of them right now.
The two highlighted are the ones I want us to sit with. The other three are real alternates.
Try this with each one: cover the logo for two seconds. Does it still feel like 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feeling in one sentence: a family company that has been doing this right for a long time.
Point out how the gold in the site is the gold in our mark — nothing fights the logo.
Ask the room: cover the logo for two seconds. Still 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it works for ACE, one honest risk.
The gold is ours. Its palette is the ACE mark — the logo looks native, not placed.
Editorial serif = credibility. Reads established without reading corporate.
“Delivered like family” says the family-company promise without a history lesson.
Watch: Can read soft or lifestyle to hard-nosed fleet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Heavy-duty product and people who answer the phone. Built for the long haul.
This is the same promise as Big Sky at a different volume.
Fair risk: it is loud, and the orange would move toward our gold in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it works for ACE, one honest risk.
Built for the buyer who runs trucks. Speaks ops, not lifestyle.
Dark stage lets the mark pop. The gold logo has never looked stronger.
Most distinct in the market. Nobody in our space looks like this.
Watch: Loudest option. The orange accent needs tuning toward our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throwaways. Each one is complete and any of them could ship.
If someone in the room is pulling for one of these, say so now and we’ll swap it into the final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each, so we’re comparing the same things: feeling, who it speaks to, what to watch for.
The watch-out column is where the real conversation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this. Whichever direction we choose, the booking matrix already matches it.
It turns a visit into a scheduled delivery window. That’s what makes the site work for ACE, not just look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two. Ask it plainly: which direction do we build?
If the room splits, land on two and name who makes the final call by when. That’s a To-Do, not a maybe.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do what Part 1 described. Three Rocks for the website, each with a done-when.
One name on each, and a date. Type them in right here, in the room.
From next week, each owner reports on track or off track in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Seven-day promises to get the Rocks moving.
Put a name and a date on every line before anyone stands up. Read them back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commitment, not the design. Read the Rock owners and To-Do names back.
Then: we’ll hear where every Rock stands, every week in L10, until the site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a full view of each alternate, in case the room wants to swap one into the final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handshake you can trust. Calm, rooted.
Honest risk: the green pulls away from our gold, and the forest feels East Texas more than our corridors.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supplier that runs like a serious business. Built for procurement.
Risk: the offshore rig says drilling, not distribution. Imagery would need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up a chair — Texas hospitality.
Risk: it is the most consumer-feeling of the five, and terracotta competes with our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ACE-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ACE-Dark-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CE-Light-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ACE-Light-Bare-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ACE-Statement-image-2.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ACE-Showcas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CE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CE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ace-design-presentation/deck/assets/ace-logo-gold.png">    </p:cNvPr>
          <p:cNvPicPr>
            <a:picLocks noChangeAspect="1"/>
          </p:cNvPicPr>
          <p:nvPr/>
        </p:nvPicPr>
        <p:blipFill>
          <a:blip r:embed="rId1"/>
          <a:stretch>
            <a:fillRect/>
          </a:stretch>
        </p:blipFill>
        <p:spPr>
          <a:xfrm>
            <a:off x="886968" y="384048"/>
            <a:ext cx="1118795" cy="237744"/>
          </a:xfrm>
          <a:prstGeom prst="rect">
            <a:avLst/>
          </a:prstGeom>
        </p:spPr>
      </p:pic>
      <p:sp>
        <p:nvSpPr>
          <p:cNvPr id="3" name="Text 0"/>
          <p:cNvSpPr/>
          <p:nvPr>
            <p:ph idx="101" type="body" hasCustomPrompt="1"/>
          </p:nvPr>
        </p:nvSpPr>
        <p:spPr>
          <a:xfrm>
            <a:off x="886968" y="1051560"/>
            <a:ext cx="10417759" cy="320040"/>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4" name="Text 0"/>
          <p:cNvSpPr/>
          <p:nvPr>
            <p:ph idx="102" type="title" hasCustomPrompt="1"/>
          </p:nvPr>
        </p:nvSpPr>
        <p:spPr>
          <a:xfrm>
            <a:off x="886968" y="1371600"/>
            <a:ext cx="10417759" cy="1371600"/>
          </a:xfrm>
          <a:prstGeom prst="rect">
            <a:avLst/>
          </a:prstGeom>
          <a:noFill/>
          <a:ln/>
        </p:spPr>
        <p:txBody>
          <a:bodyPr wrap="square" rtlCol="0"/>
          <a:lstStyle>
            <a:lvl1pPr algn="l" indent="0" marL="0">
              <a:buNone/>
              <a:defRPr lang="en-US" sz="4400" b="1" dirty="0">
                <a:solidFill>
                  <a:schemeClr val="bg2"/>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E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ace-design-presentation/pptx/assets/ace-logo-deepgold.png">    </p:cNvPr>
          <p:cNvPicPr>
            <a:picLocks noChangeAspect="1"/>
          </p:cNvPicPr>
          <p:nvPr/>
        </p:nvPicPr>
        <p:blipFill>
          <a:blip r:embed="rId1"/>
          <a:stretch>
            <a:fillRect/>
          </a:stretch>
        </p:blipFill>
        <p:spPr>
          <a:xfrm>
            <a:off x="886968" y="384048"/>
            <a:ext cx="1118795" cy="237744"/>
          </a:xfrm>
          <a:prstGeom prst="rect">
            <a:avLst/>
          </a:prstGeom>
        </p:spPr>
      </p:pic>
      <p:sp>
        <p:nvSpPr>
          <p:cNvPr id="3" name="Text 0"/>
          <p:cNvSpPr/>
          <p:nvPr>
            <p:ph idx="101" type="body" hasCustomPrompt="1"/>
          </p:nvPr>
        </p:nvSpPr>
        <p:spPr>
          <a:xfrm>
            <a:off x="886968" y="1051560"/>
            <a:ext cx="10417759" cy="320040"/>
          </a:xfrm>
          <a:prstGeom prst="rect">
            <a:avLst/>
          </a:prstGeom>
          <a:noFill/>
          <a:ln/>
        </p:spPr>
        <p:txBody>
          <a:bodyPr wrap="square" rtlCol="0"/>
          <a:lstStyle>
            <a:lvl1pPr algn="l" indent="0" marL="0">
              <a:buNone/>
              <a:defRPr lang="en-US" sz="1100" b="1" spc="300" kern="0" dirty="0">
                <a:solidFill>
                  <a:schemeClr val="accent2"/>
                </a:solidFill>
              </a:defRPr>
            </a:lvl1pPr>
          </a:lstStyle>
          <a:p>
            <a:pPr algn="l" indent="0" marL="0">
              <a:buNone/>
            </a:pPr>
            <a:endParaRPr lang="en-US" sz="1100" dirty="0"/>
          </a:p>
        </p:txBody>
      </p:sp>
      <p:sp>
        <p:nvSpPr>
          <p:cNvPr id="4" name="Text 0"/>
          <p:cNvSpPr/>
          <p:nvPr>
            <p:ph idx="102" type="title" hasCustomPrompt="1"/>
          </p:nvPr>
        </p:nvSpPr>
        <p:spPr>
          <a:xfrm>
            <a:off x="886968" y="1371600"/>
            <a:ext cx="10417759" cy="137160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E Light Ba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ace-design-presentation/pptx/assets/ace-logo-deepgold.png">    </p:cNvPr>
          <p:cNvPicPr>
            <a:picLocks noChangeAspect="1"/>
          </p:cNvPicPr>
          <p:nvPr/>
        </p:nvPicPr>
        <p:blipFill>
          <a:blip r:embed="rId1"/>
          <a:stretch>
            <a:fillRect/>
          </a:stretch>
        </p:blipFill>
        <p:spPr>
          <a:xfrm>
            <a:off x="886968" y="384048"/>
            <a:ext cx="1118795" cy="237744"/>
          </a:xfrm>
          <a:prstGeom prst="rect">
            <a:avLst/>
          </a:prstGeom>
        </p:spPr>
      </p:pic>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CE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ace-design-presentation/deck/assets/ace-logo-gold.png">    </p:cNvPr>
          <p:cNvPicPr>
            <a:picLocks noChangeAspect="1"/>
          </p:cNvPicPr>
          <p:nvPr/>
        </p:nvPicPr>
        <p:blipFill>
          <a:blip r:embed="rId1"/>
          <a:stretch>
            <a:fillRect/>
          </a:stretch>
        </p:blipFill>
        <p:spPr>
          <a:xfrm>
            <a:off x="886968" y="384048"/>
            <a:ext cx="1118795" cy="237744"/>
          </a:xfrm>
          <a:prstGeom prst="rect">
            <a:avLst/>
          </a:prstGeom>
        </p:spPr>
      </p:pic>
      <p:sp>
        <p:nvSpPr>
          <p:cNvPr id="3" name="Text 0"/>
          <p:cNvSpPr/>
          <p:nvPr>
            <p:ph idx="101" type="body" hasCustomPrompt="1"/>
          </p:nvPr>
        </p:nvSpPr>
        <p:spPr>
          <a:xfrm>
            <a:off x="886968" y="1965960"/>
            <a:ext cx="10417759" cy="320040"/>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4" name="Text 0"/>
          <p:cNvSpPr/>
          <p:nvPr>
            <p:ph idx="102" type="title" hasCustomPrompt="1"/>
          </p:nvPr>
        </p:nvSpPr>
        <p:spPr>
          <a:xfrm>
            <a:off x="886968" y="2331720"/>
            <a:ext cx="8778240" cy="2103120"/>
          </a:xfrm>
          <a:prstGeom prst="rect">
            <a:avLst/>
          </a:prstGeom>
          <a:noFill/>
          <a:ln/>
        </p:spPr>
        <p:txBody>
          <a:bodyPr wrap="square" rtlCol="0"/>
          <a:lstStyle>
            <a:lvl1pPr algn="l" indent="0" marL="0">
              <a:buNone/>
              <a:defRPr lang="en-US" sz="5800" b="1" dirty="0">
                <a:solidFill>
                  <a:schemeClr val="bg2"/>
                </a:solidFill>
                <a:latin typeface="Cambria" pitchFamily="34" charset="0"/>
                <a:ea typeface="Cambria" pitchFamily="34" charset="-122"/>
                <a:cs typeface="Cambria" pitchFamily="34" charset="-120"/>
              </a:defRPr>
            </a:lvl1pPr>
          </a:lstStyle>
          <a:p>
            <a:pPr algn="l" indent="0" marL="0">
              <a:buNone/>
            </a:pPr>
            <a:endParaRPr lang="en-US" sz="5800" dirty="0"/>
          </a:p>
        </p:txBody>
      </p:sp>
      <p:sp>
        <p:nvSpPr>
          <p:cNvPr id="5" name="Text 0"/>
          <p:cNvSpPr/>
          <p:nvPr>
            <p:ph idx="103" type="body" hasCustomPrompt="1"/>
          </p:nvPr>
        </p:nvSpPr>
        <p:spPr>
          <a:xfrm>
            <a:off x="886968" y="4572000"/>
            <a:ext cx="8961120" cy="914400"/>
          </a:xfrm>
          <a:prstGeom prst="rect">
            <a:avLst/>
          </a:prstGeom>
          <a:noFill/>
          <a:ln/>
        </p:spPr>
        <p:txBody>
          <a:bodyPr wrap="square" rtlCol="0"/>
          <a:lstStyle>
            <a:lvl1pPr algn="l" indent="0" marL="0">
              <a:buNone/>
              <a:defRPr lang="en-US" sz="1800" dirty="0">
                <a:solidFill>
                  <a:srgbClr val="BDB4A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CE Showca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jpzllkfl.github.io/ace-design-presentation/designs/bigsky.html" TargetMode="External"/><Relationship Id="rId4" Type="http://schemas.openxmlformats.org/officeDocument/2006/relationships/hyperlink" Target="https://jpzllkfl.github.io/ace-design-presentation/designs/piney.html" TargetMode="External"/><Relationship Id="rId6" Type="http://schemas.openxmlformats.org/officeDocument/2006/relationships/hyperlink" Target="https://jpzllkfl.github.io/ace-design-presentation/designs/openwater.html" TargetMode="External"/><Relationship Id="rId8" Type="http://schemas.openxmlformats.org/officeDocument/2006/relationships/hyperlink" Target="https://jpzllkfl.github.io/ace-design-presentation/designs/heartland.html" TargetMode="External"/><Relationship Id="rId10" Type="http://schemas.openxmlformats.org/officeDocument/2006/relationships/hyperlink" Target="https://jpzllkfl.github.io/ace-design-presentation/designs/hill.html" TargetMode="External"/><Relationship Id="rId1" Type="http://schemas.openxmlformats.org/officeDocument/2006/relationships/image" Target="../media/image-8-1.jpg"/><Relationship Id="rId3" Type="http://schemas.openxmlformats.org/officeDocument/2006/relationships/image" Target="../media/image-8-2.jpg"/><Relationship Id="rId5" Type="http://schemas.openxmlformats.org/officeDocument/2006/relationships/image" Target="../media/image-8-3.jpg"/><Relationship Id="rId7" Type="http://schemas.openxmlformats.org/officeDocument/2006/relationships/image" Target="../media/image-8-4.jpg"/><Relationship Id="rId9" Type="http://schemas.openxmlformats.org/officeDocument/2006/relationships/image" Target="../media/image-8-5.jpg"/><Relationship Id="rId11" Type="http://schemas.openxmlformats.org/officeDocument/2006/relationships/slideLayout" Target="../slideLayouts/slideLayout3.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jpzllkfl.github.io/ace-design-presentation/designs/bigsky.html" TargetMode="External"/><Relationship Id="rId1" Type="http://schemas.openxmlformats.org/officeDocument/2006/relationships/image" Target="../media/image-9-1.jpg"/><Relationship Id="rId3" Type="http://schemas.openxmlformats.org/officeDocument/2006/relationships/slideLayout" Target="../slideLayouts/slideLayout7.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jpzllkfl.github.io/ace-design-presentation/designs/bigsky.html" TargetMode="External"/><Relationship Id="rId1" Type="http://schemas.openxmlformats.org/officeDocument/2006/relationships/image" Target="../media/image-10-1.jpg"/><Relationship Id="rId3" Type="http://schemas.openxmlformats.org/officeDocument/2006/relationships/slideLayout" Target="../slideLayouts/slideLayout5.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jpzllkfl.github.io/ace-design-presentation/designs/heartland.html" TargetMode="External"/><Relationship Id="rId1" Type="http://schemas.openxmlformats.org/officeDocument/2006/relationships/image" Target="../media/image-11-1.jpg"/><Relationship Id="rId3" Type="http://schemas.openxmlformats.org/officeDocument/2006/relationships/slideLayout" Target="../slideLayouts/slideLayout7.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jpzllkfl.github.io/ace-design-presentation/designs/heartland.html" TargetMode="External"/><Relationship Id="rId1" Type="http://schemas.openxmlformats.org/officeDocument/2006/relationships/image" Target="../media/image-12-1.jpg"/><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jpzllkfl.github.io/ace-design-presentation/designs/piney.html" TargetMode="External"/><Relationship Id="rId1" Type="http://schemas.openxmlformats.org/officeDocument/2006/relationships/image" Target="../media/image-21-1.jpg"/><Relationship Id="rId3" Type="http://schemas.openxmlformats.org/officeDocument/2006/relationships/slideLayout" Target="../slideLayouts/slideLayout7.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jpzllkfl.github.io/ace-design-presentation/designs/openwater.html" TargetMode="External"/><Relationship Id="rId1" Type="http://schemas.openxmlformats.org/officeDocument/2006/relationships/image" Target="../media/image-22-1.jpg"/><Relationship Id="rId3" Type="http://schemas.openxmlformats.org/officeDocument/2006/relationships/slideLayout" Target="../slideLayouts/slideLayout7.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jpzllkfl.github.io/ace-design-presentation/designs/hill.html" TargetMode="External"/><Relationship Id="rId1" Type="http://schemas.openxmlformats.org/officeDocument/2006/relationships/image" Target="../media/image-23-1.jpg"/><Relationship Id="rId3" Type="http://schemas.openxmlformats.org/officeDocument/2006/relationships/slideLayout" Target="../slideLayouts/slideLayout7.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logo" descr="A.C.E. Distribution">    </p:cNvPr>
          <p:cNvPicPr>
            <a:picLocks noChangeAspect="1"/>
          </p:cNvPicPr>
          <p:nvPr/>
        </p:nvPicPr>
        <p:blipFill>
          <a:blip r:embed="rId1"/>
          <a:stretch>
            <a:fillRect/>
          </a:stretch>
        </p:blipFill>
        <p:spPr>
          <a:xfrm>
            <a:off x="886968" y="868680"/>
            <a:ext cx="4303059" cy="914400"/>
          </a:xfrm>
          <a:prstGeom prst="rect">
            <a:avLst/>
          </a:prstGeom>
        </p:spPr>
      </p:pic>
      <p:sp>
        <p:nvSpPr>
          <p:cNvPr id="3" name="Text 0"/>
          <p:cNvSpPr txBox="1"/>
          <p:nvPr/>
        </p:nvSpPr>
        <p:spPr>
          <a:xfrm>
            <a:off x="886968" y="2514600"/>
            <a:ext cx="10417759"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LEADERSHIP SESSION</a:t>
            </a:r>
            <a:endParaRPr lang="en-US" sz="1200" dirty="0"/>
          </a:p>
        </p:txBody>
      </p:sp>
      <p:sp>
        <p:nvSpPr>
          <p:cNvPr id="4" name="Text 1"/>
          <p:cNvSpPr txBox="1"/>
          <p:nvPr/>
        </p:nvSpPr>
        <p:spPr>
          <a:xfrm>
            <a:off x="886968" y="2880360"/>
            <a:ext cx="10417759" cy="2011680"/>
          </a:xfrm>
          <a:prstGeom prst="rect">
            <a:avLst/>
          </a:prstGeom>
          <a:noFill/>
          <a:ln/>
        </p:spPr>
        <p:txBody>
          <a:bodyPr wrap="square" lIns="0" tIns="0" rIns="0" bIns="0" rtlCol="0" anchor="t"/>
          <a:lstStyle/>
          <a:p>
            <a:pPr indent="0" marL="0">
              <a:lnSpc>
                <a:spcPct val="100000"/>
              </a:lnSpc>
              <a:buNone/>
            </a:pPr>
            <a:r>
              <a:rPr lang="en-US" sz="5400" b="1" dirty="0">
                <a:solidFill>
                  <a:schemeClr val="bg2"/>
                </a:solidFill>
                <a:latin typeface="Cambria" pitchFamily="34" charset="0"/>
                <a:ea typeface="Cambria" pitchFamily="34" charset="-122"/>
                <a:cs typeface="Cambria" pitchFamily="34" charset="-120"/>
              </a:rPr>
              <a:t>Accountability, Rocks and</a:t>
            </a:r>
            <a:endParaRPr lang="en-US" sz="5400" dirty="0"/>
          </a:p>
          <a:p>
            <a:pPr indent="0" marL="0">
              <a:lnSpc>
                <a:spcPct val="100000"/>
              </a:lnSpc>
              <a:buNone/>
            </a:pPr>
            <a:r>
              <a:rPr lang="en-US" sz="5400" b="1" dirty="0">
                <a:solidFill>
                  <a:schemeClr val="bg2"/>
                </a:solidFill>
                <a:latin typeface="Cambria" pitchFamily="34" charset="0"/>
                <a:ea typeface="Cambria" pitchFamily="34" charset="-122"/>
                <a:cs typeface="Cambria" pitchFamily="34" charset="-120"/>
              </a:rPr>
              <a:t>the new </a:t>
            </a:r>
            <a:pPr indent="0" marL="0">
              <a:lnSpc>
                <a:spcPct val="100000"/>
              </a:lnSpc>
              <a:buNone/>
            </a:pPr>
            <a:r>
              <a:rPr lang="en-US" sz="5400" b="1" i="1" dirty="0">
                <a:solidFill>
                  <a:schemeClr val="accent1"/>
                </a:solidFill>
                <a:latin typeface="Cambria" pitchFamily="34" charset="0"/>
                <a:ea typeface="Cambria" pitchFamily="34" charset="-122"/>
                <a:cs typeface="Cambria" pitchFamily="34" charset="-120"/>
              </a:rPr>
              <a:t>ACE website.</a:t>
            </a:r>
            <a:endParaRPr lang="en-US" sz="5400" dirty="0"/>
          </a:p>
        </p:txBody>
      </p:sp>
      <p:sp>
        <p:nvSpPr>
          <p:cNvPr id="5" name="Text 2"/>
          <p:cNvSpPr txBox="1"/>
          <p:nvPr/>
        </p:nvSpPr>
        <p:spPr>
          <a:xfrm>
            <a:off x="886968" y="5120640"/>
            <a:ext cx="8961120" cy="731520"/>
          </a:xfrm>
          <a:prstGeom prst="rect">
            <a:avLst/>
          </a:prstGeom>
          <a:noFill/>
          <a:ln/>
        </p:spPr>
        <p:txBody>
          <a:bodyPr wrap="square" lIns="0" tIns="0" rIns="0" bIns="0" rtlCol="0" anchor="t"/>
          <a:lstStyle/>
          <a:p>
            <a:pPr indent="0" marL="0">
              <a:buNone/>
            </a:pPr>
            <a:r>
              <a:rPr lang="en-US" sz="1800" dirty="0">
                <a:solidFill>
                  <a:srgbClr val="BDB4A2"/>
                </a:solidFill>
              </a:rPr>
              <a:t>How we’ll own what we commit to, and the website designs that become our first Rock.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2"/>
                </a:solidFill>
              </a:rPr>
              <a:t>WHY WE’RE HERE</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Two jobs, one outcome</a:t>
            </a:r>
            <a:endParaRPr lang="en-US" sz="4400" dirty="0"/>
          </a:p>
        </p:txBody>
      </p:sp>
      <p:sp>
        <p:nvSpPr>
          <p:cNvPr id="4" name="row rule 1"/>
          <p:cNvSpPr/>
          <p:nvPr/>
        </p:nvSpPr>
        <p:spPr>
          <a:xfrm>
            <a:off x="886968" y="2606040"/>
            <a:ext cx="8869680" cy="0"/>
          </a:xfrm>
          <a:prstGeom prst="line">
            <a:avLst/>
          </a:prstGeom>
          <a:noFill/>
          <a:ln w="9525">
            <a:solidFill>
              <a:schemeClr val="accent4"/>
            </a:solidFill>
            <a:prstDash val="solid"/>
          </a:ln>
        </p:spPr>
      </p:sp>
      <p:sp>
        <p:nvSpPr>
          <p:cNvPr id="5" name="Text 3"/>
          <p:cNvSpPr txBox="1"/>
          <p:nvPr/>
        </p:nvSpPr>
        <p:spPr>
          <a:xfrm>
            <a:off x="886968" y="2898648"/>
            <a:ext cx="5486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a:t>
            </a:r>
            <a:endParaRPr lang="en-US" sz="1200" dirty="0"/>
          </a:p>
        </p:txBody>
      </p:sp>
      <p:sp>
        <p:nvSpPr>
          <p:cNvPr id="6" name="Text 4"/>
          <p:cNvSpPr txBox="1"/>
          <p:nvPr/>
        </p:nvSpPr>
        <p:spPr>
          <a:xfrm>
            <a:off x="1572768" y="2834640"/>
            <a:ext cx="8138160" cy="731520"/>
          </a:xfrm>
          <a:prstGeom prst="rect">
            <a:avLst/>
          </a:prstGeom>
          <a:noFill/>
          <a:ln/>
        </p:spPr>
        <p:txBody>
          <a:bodyPr wrap="square" lIns="0" tIns="0" rIns="0" bIns="0" rtlCol="0" anchor="t"/>
          <a:lstStyle/>
          <a:p>
            <a:pPr indent="0" marL="0">
              <a:buNone/>
            </a:pPr>
            <a:r>
              <a:rPr lang="en-US" sz="2100" dirty="0">
                <a:solidFill>
                  <a:schemeClr val="tx1"/>
                </a:solidFill>
              </a:rPr>
              <a:t>Create accountability</a:t>
            </a:r>
            <a:endParaRPr lang="en-US" sz="2100" dirty="0"/>
          </a:p>
          <a:p>
            <a:pPr indent="0" marL="0">
              <a:buNone/>
            </a:pPr>
            <a:r>
              <a:rPr lang="en-US" sz="1400" dirty="0">
                <a:solidFill>
                  <a:schemeClr val="accent3"/>
                </a:solidFill>
              </a:rPr>
              <a:t>How we set Rocks, own them, and report on them every week.</a:t>
            </a:r>
            <a:endParaRPr lang="en-US" sz="2100" dirty="0"/>
          </a:p>
        </p:txBody>
      </p:sp>
      <p:sp>
        <p:nvSpPr>
          <p:cNvPr id="7" name="row rule 2"/>
          <p:cNvSpPr/>
          <p:nvPr/>
        </p:nvSpPr>
        <p:spPr>
          <a:xfrm>
            <a:off x="886968" y="3657600"/>
            <a:ext cx="8869680" cy="0"/>
          </a:xfrm>
          <a:prstGeom prst="line">
            <a:avLst/>
          </a:prstGeom>
          <a:noFill/>
          <a:ln w="9525">
            <a:solidFill>
              <a:schemeClr val="accent4"/>
            </a:solidFill>
            <a:prstDash val="solid"/>
          </a:ln>
        </p:spPr>
      </p:sp>
      <p:sp>
        <p:nvSpPr>
          <p:cNvPr id="8" name="Text 6"/>
          <p:cNvSpPr txBox="1"/>
          <p:nvPr/>
        </p:nvSpPr>
        <p:spPr>
          <a:xfrm>
            <a:off x="886968" y="3950208"/>
            <a:ext cx="5486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a:t>
            </a:r>
            <a:endParaRPr lang="en-US" sz="1200" dirty="0"/>
          </a:p>
        </p:txBody>
      </p:sp>
      <p:sp>
        <p:nvSpPr>
          <p:cNvPr id="9" name="Text 7"/>
          <p:cNvSpPr txBox="1"/>
          <p:nvPr/>
        </p:nvSpPr>
        <p:spPr>
          <a:xfrm>
            <a:off x="1572768" y="3886200"/>
            <a:ext cx="8138160" cy="731520"/>
          </a:xfrm>
          <a:prstGeom prst="rect">
            <a:avLst/>
          </a:prstGeom>
          <a:noFill/>
          <a:ln/>
        </p:spPr>
        <p:txBody>
          <a:bodyPr wrap="square" lIns="0" tIns="0" rIns="0" bIns="0" rtlCol="0" anchor="t"/>
          <a:lstStyle/>
          <a:p>
            <a:pPr indent="0" marL="0">
              <a:buNone/>
            </a:pPr>
            <a:r>
              <a:rPr lang="en-US" sz="2100" dirty="0">
                <a:solidFill>
                  <a:schemeClr val="tx1"/>
                </a:solidFill>
              </a:rPr>
              <a:t>Present the website designs</a:t>
            </a:r>
            <a:endParaRPr lang="en-US" sz="2100" dirty="0"/>
          </a:p>
          <a:p>
            <a:pPr indent="0" marL="0">
              <a:buNone/>
            </a:pPr>
            <a:r>
              <a:rPr lang="en-US" sz="1400" dirty="0">
                <a:solidFill>
                  <a:schemeClr val="accent3"/>
                </a:solidFill>
              </a:rPr>
              <a:t>Five built, two featured, one to choose.</a:t>
            </a:r>
            <a:endParaRPr lang="en-US" sz="2100" dirty="0"/>
          </a:p>
        </p:txBody>
      </p:sp>
      <p:sp>
        <p:nvSpPr>
          <p:cNvPr id="10" name="row rule 3"/>
          <p:cNvSpPr/>
          <p:nvPr/>
        </p:nvSpPr>
        <p:spPr>
          <a:xfrm>
            <a:off x="886968" y="4709160"/>
            <a:ext cx="8869680" cy="0"/>
          </a:xfrm>
          <a:prstGeom prst="line">
            <a:avLst/>
          </a:prstGeom>
          <a:noFill/>
          <a:ln w="9525">
            <a:solidFill>
              <a:schemeClr val="accent4"/>
            </a:solidFill>
            <a:prstDash val="solid"/>
          </a:ln>
        </p:spPr>
      </p:sp>
      <p:sp>
        <p:nvSpPr>
          <p:cNvPr id="11" name="Text 9"/>
          <p:cNvSpPr txBox="1"/>
          <p:nvPr/>
        </p:nvSpPr>
        <p:spPr>
          <a:xfrm>
            <a:off x="886968" y="5001768"/>
            <a:ext cx="5486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a:t>
            </a:r>
            <a:endParaRPr lang="en-US" sz="1200" dirty="0"/>
          </a:p>
        </p:txBody>
      </p:sp>
      <p:sp>
        <p:nvSpPr>
          <p:cNvPr id="12" name="Text 10"/>
          <p:cNvSpPr txBox="1"/>
          <p:nvPr/>
        </p:nvSpPr>
        <p:spPr>
          <a:xfrm>
            <a:off x="1572768" y="4937760"/>
            <a:ext cx="8138160" cy="731520"/>
          </a:xfrm>
          <a:prstGeom prst="rect">
            <a:avLst/>
          </a:prstGeom>
          <a:noFill/>
          <a:ln/>
        </p:spPr>
        <p:txBody>
          <a:bodyPr wrap="square" lIns="0" tIns="0" rIns="0" bIns="0" rtlCol="0" anchor="t"/>
          <a:lstStyle/>
          <a:p>
            <a:pPr indent="0" marL="0">
              <a:buNone/>
            </a:pPr>
            <a:r>
              <a:rPr lang="en-US" sz="2100" dirty="0">
                <a:solidFill>
                  <a:schemeClr val="tx1"/>
                </a:solidFill>
              </a:rPr>
              <a:t>Leave with Rocks</a:t>
            </a:r>
            <a:endParaRPr lang="en-US" sz="2100" dirty="0"/>
          </a:p>
          <a:p>
            <a:pPr indent="0" marL="0">
              <a:buNone/>
            </a:pPr>
            <a:r>
              <a:rPr lang="en-US" sz="1400" dirty="0">
                <a:solidFill>
                  <a:schemeClr val="accent3"/>
                </a:solidFill>
              </a:rPr>
              <a:t>The website becomes our first Rock: owners and dates before we stand up.</a:t>
            </a:r>
            <a:endParaRPr lang="en-US" sz="2100" dirty="0"/>
          </a:p>
        </p:txBody>
      </p:sp>
      <p:sp>
        <p:nvSpPr>
          <p:cNvPr id="13" name="row rule end"/>
          <p:cNvSpPr/>
          <p:nvPr/>
        </p:nvSpPr>
        <p:spPr>
          <a:xfrm>
            <a:off x="886968" y="5760720"/>
            <a:ext cx="8869680" cy="0"/>
          </a:xfrm>
          <a:prstGeom prst="line">
            <a:avLst/>
          </a:prstGeom>
          <a:noFill/>
          <a:ln w="9525">
            <a:solidFill>
              <a:schemeClr val="accent4"/>
            </a:solidFill>
            <a:prstDash val="solid"/>
          </a:ln>
        </p:spPr>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886968" y="19659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ACCOUNTABILITY</a:t>
            </a:r>
            <a:endParaRPr lang="en-US" sz="1100" dirty="0"/>
          </a:p>
        </p:txBody>
      </p:sp>
      <p:sp>
        <p:nvSpPr>
          <p:cNvPr id="3" name="Text 0"/>
          <p:cNvSpPr/>
          <p:nvPr>
            <p:ph idx="102" type="title" hasCustomPrompt="1"/>
          </p:nvPr>
        </p:nvSpPr>
        <p:spPr>
          <a:xfrm>
            <a:off x="886968" y="2331720"/>
            <a:ext cx="8778240" cy="2103120"/>
          </a:xfrm>
          <a:prstGeom prst="rect">
            <a:avLst/>
          </a:prstGeom>
          <a:noFill/>
          <a:ln/>
        </p:spPr>
        <p:txBody>
          <a:bodyPr wrap="square" lIns="0" tIns="0" rIns="0" bIns="0" rtlCol="0" anchor="t"/>
          <a:lstStyle/>
          <a:p>
            <a:pPr algn="l" indent="0" marL="0">
              <a:buNone/>
            </a:pPr>
            <a:r>
              <a:rPr lang="en-US" sz="5800" b="1" dirty="0">
                <a:solidFill>
                  <a:schemeClr val="bg2"/>
                </a:solidFill>
                <a:latin typeface="Cambria" pitchFamily="34" charset="0"/>
                <a:ea typeface="Cambria" pitchFamily="34" charset="-122"/>
                <a:cs typeface="Cambria" pitchFamily="34" charset="-120"/>
              </a:rPr>
              <a:t>One name</a:t>
            </a:r>
            <a:endParaRPr lang="en-US" sz="5800" dirty="0"/>
          </a:p>
          <a:p>
            <a:pPr algn="l" indent="0" marL="0">
              <a:buNone/>
            </a:pPr>
            <a:r>
              <a:rPr lang="en-US" sz="5800" b="1" dirty="0">
                <a:solidFill>
                  <a:schemeClr val="bg2"/>
                </a:solidFill>
                <a:latin typeface="Cambria" pitchFamily="34" charset="0"/>
                <a:ea typeface="Cambria" pitchFamily="34" charset="-122"/>
                <a:cs typeface="Cambria" pitchFamily="34" charset="-120"/>
              </a:rPr>
              <a:t>on every </a:t>
            </a:r>
            <a:pPr algn="l" indent="0" marL="0">
              <a:buNone/>
            </a:pPr>
            <a:r>
              <a:rPr lang="en-US" sz="5800" b="1" i="1" dirty="0">
                <a:solidFill>
                  <a:schemeClr val="accent1"/>
                </a:solidFill>
                <a:latin typeface="Cambria" pitchFamily="34" charset="0"/>
                <a:ea typeface="Cambria" pitchFamily="34" charset="-122"/>
                <a:cs typeface="Cambria" pitchFamily="34" charset="-120"/>
              </a:rPr>
              <a:t>Rock</a:t>
            </a:r>
            <a:endParaRPr lang="en-US" sz="5800" dirty="0"/>
          </a:p>
        </p:txBody>
      </p:sp>
      <p:sp>
        <p:nvSpPr>
          <p:cNvPr id="4" name="Text 0"/>
          <p:cNvSpPr/>
          <p:nvPr>
            <p:ph idx="103" type="body" hasCustomPrompt="1"/>
          </p:nvPr>
        </p:nvSpPr>
        <p:spPr>
          <a:xfrm>
            <a:off x="886968" y="4572000"/>
            <a:ext cx="8961120" cy="914400"/>
          </a:xfrm>
          <a:prstGeom prst="rect">
            <a:avLst/>
          </a:prstGeom>
          <a:noFill/>
          <a:ln/>
        </p:spPr>
        <p:txBody>
          <a:bodyPr wrap="square" lIns="0" tIns="0" rIns="0" bIns="0" rtlCol="0" anchor="t"/>
          <a:lstStyle/>
          <a:p>
            <a:pPr algn="l" indent="0" marL="0">
              <a:buNone/>
            </a:pPr>
            <a:r>
              <a:rPr lang="en-US" sz="1800" dirty="0">
                <a:solidFill>
                  <a:srgbClr val="BDB4A2"/>
                </a:solidFill>
              </a:rPr>
              <a:t>If everyone owns it, no one owns it.</a:t>
            </a:r>
            <a:endParaRPr lang="en-US" sz="1800" dirty="0"/>
          </a:p>
          <a:p>
            <a:pPr algn="l" indent="0" marL="0">
              <a:buNone/>
            </a:pPr>
            <a:r>
              <a:rPr lang="en-US" sz="1800" dirty="0">
                <a:solidFill>
                  <a:srgbClr val="BDB4A2"/>
                </a:solidFill>
              </a:rPr>
              <a:t>Accountability isn’t blame: it’s clarity, ownership and follow-through.</a:t>
            </a:r>
            <a:endParaRPr lang="en-US" sz="18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THE TOOLS</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bg2"/>
                </a:solidFill>
                <a:latin typeface="Cambria" pitchFamily="34" charset="0"/>
                <a:ea typeface="Cambria" pitchFamily="34" charset="-122"/>
                <a:cs typeface="Cambria" pitchFamily="34" charset="-120"/>
              </a:rPr>
              <a:t>Rocks and To-Dos</a:t>
            </a:r>
            <a:endParaRPr lang="en-US" sz="4400" dirty="0"/>
          </a:p>
        </p:txBody>
      </p:sp>
      <p:sp>
        <p:nvSpPr>
          <p:cNvPr id="4" name="top rule"/>
          <p:cNvSpPr/>
          <p:nvPr/>
        </p:nvSpPr>
        <p:spPr>
          <a:xfrm>
            <a:off x="886968" y="2514600"/>
            <a:ext cx="10417759" cy="0"/>
          </a:xfrm>
          <a:prstGeom prst="line">
            <a:avLst/>
          </a:prstGeom>
          <a:noFill/>
          <a:ln w="9525">
            <a:solidFill>
              <a:srgbClr val="3A3226"/>
            </a:solidFill>
            <a:prstDash val="solid"/>
          </a:ln>
        </p:spPr>
      </p:sp>
      <p:sp>
        <p:nvSpPr>
          <p:cNvPr id="5" name="divider"/>
          <p:cNvSpPr/>
          <p:nvPr/>
        </p:nvSpPr>
        <p:spPr>
          <a:xfrm>
            <a:off x="6095848" y="2514600"/>
            <a:ext cx="0" cy="3383280"/>
          </a:xfrm>
          <a:prstGeom prst="line">
            <a:avLst/>
          </a:prstGeom>
          <a:noFill/>
          <a:ln w="9525">
            <a:solidFill>
              <a:srgbClr val="3A3226"/>
            </a:solidFill>
            <a:prstDash val="solid"/>
          </a:ln>
        </p:spPr>
      </p:sp>
      <p:sp>
        <p:nvSpPr>
          <p:cNvPr id="6" name="Text 4"/>
          <p:cNvSpPr txBox="1"/>
          <p:nvPr/>
        </p:nvSpPr>
        <p:spPr>
          <a:xfrm>
            <a:off x="886968" y="2834640"/>
            <a:ext cx="4705960" cy="731520"/>
          </a:xfrm>
          <a:prstGeom prst="rect">
            <a:avLst/>
          </a:prstGeom>
          <a:noFill/>
          <a:ln/>
        </p:spPr>
        <p:txBody>
          <a:bodyPr wrap="square" lIns="0" tIns="0" rIns="0" bIns="0" rtlCol="0" anchor="t"/>
          <a:lstStyle/>
          <a:p>
            <a:pPr indent="0" marL="0">
              <a:buNone/>
            </a:pPr>
            <a:r>
              <a:rPr lang="en-US" sz="4000" b="1" dirty="0">
                <a:solidFill>
                  <a:schemeClr val="bg2"/>
                </a:solidFill>
                <a:latin typeface="Cambria" pitchFamily="34" charset="0"/>
                <a:ea typeface="Cambria" pitchFamily="34" charset="-122"/>
                <a:cs typeface="Cambria" pitchFamily="34" charset="-120"/>
              </a:rPr>
              <a:t>Rocks</a:t>
            </a:r>
            <a:endParaRPr lang="en-US" sz="4000" dirty="0"/>
          </a:p>
        </p:txBody>
      </p:sp>
      <p:sp>
        <p:nvSpPr>
          <p:cNvPr id="7" name="Text 5"/>
          <p:cNvSpPr txBox="1"/>
          <p:nvPr/>
        </p:nvSpPr>
        <p:spPr>
          <a:xfrm>
            <a:off x="886968" y="3611880"/>
            <a:ext cx="470596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90 DAYS</a:t>
            </a:r>
            <a:endParaRPr lang="en-US" sz="1100" dirty="0"/>
          </a:p>
        </p:txBody>
      </p:sp>
      <p:sp>
        <p:nvSpPr>
          <p:cNvPr id="8" name="Text 6"/>
          <p:cNvSpPr txBox="1"/>
          <p:nvPr/>
        </p:nvSpPr>
        <p:spPr>
          <a:xfrm>
            <a:off x="886968" y="4069080"/>
            <a:ext cx="4705960" cy="1645920"/>
          </a:xfrm>
          <a:prstGeom prst="rect">
            <a:avLst/>
          </a:prstGeom>
          <a:noFill/>
          <a:ln/>
        </p:spPr>
        <p:txBody>
          <a:bodyPr wrap="square" lIns="0" tIns="0" rIns="0" bIns="0" rtlCol="0" anchor="t"/>
          <a:lstStyle/>
          <a:p>
            <a:pPr marL="381000" indent="-381000">
              <a:spcAft>
                <a:spcPts val="1000"/>
              </a:spcAft>
              <a:buSzPct val="100000"/>
              <a:buChar char="—"/>
            </a:pPr>
            <a:r>
              <a:rPr lang="en-US" sz="1800" dirty="0">
                <a:solidFill>
                  <a:srgbClr val="D9D1C1"/>
                </a:solidFill>
              </a:rPr>
              <a:t>A few per person, not a wish list</a:t>
            </a:r>
            <a:endParaRPr lang="en-US" sz="1800" dirty="0"/>
          </a:p>
          <a:p>
            <a:pPr marL="381000" indent="-381000">
              <a:spcAft>
                <a:spcPts val="1000"/>
              </a:spcAft>
              <a:buSzPct val="100000"/>
              <a:buChar char="—"/>
            </a:pPr>
            <a:r>
              <a:rPr lang="en-US" sz="1800" dirty="0">
                <a:solidFill>
                  <a:srgbClr val="D9D1C1"/>
                </a:solidFill>
              </a:rPr>
              <a:t>Measurable, with a clear “done when”</a:t>
            </a:r>
            <a:endParaRPr lang="en-US" sz="1800" dirty="0"/>
          </a:p>
          <a:p>
            <a:pPr marL="381000" indent="-381000">
              <a:spcAft>
                <a:spcPts val="1000"/>
              </a:spcAft>
              <a:buSzPct val="100000"/>
              <a:buChar char="—"/>
            </a:pPr>
            <a:r>
              <a:rPr lang="en-US" sz="1800" dirty="0">
                <a:solidFill>
                  <a:srgbClr val="D9D1C1"/>
                </a:solidFill>
              </a:rPr>
              <a:t>One owner, always</a:t>
            </a:r>
            <a:endParaRPr lang="en-US" sz="1800" dirty="0"/>
          </a:p>
        </p:txBody>
      </p:sp>
      <p:sp>
        <p:nvSpPr>
          <p:cNvPr id="9" name="Text 7"/>
          <p:cNvSpPr txBox="1"/>
          <p:nvPr/>
        </p:nvSpPr>
        <p:spPr>
          <a:xfrm>
            <a:off x="6598768" y="2834640"/>
            <a:ext cx="4705960" cy="731520"/>
          </a:xfrm>
          <a:prstGeom prst="rect">
            <a:avLst/>
          </a:prstGeom>
          <a:noFill/>
          <a:ln/>
        </p:spPr>
        <p:txBody>
          <a:bodyPr wrap="square" lIns="0" tIns="0" rIns="0" bIns="0" rtlCol="0" anchor="t"/>
          <a:lstStyle/>
          <a:p>
            <a:pPr indent="0" marL="0">
              <a:buNone/>
            </a:pPr>
            <a:r>
              <a:rPr lang="en-US" sz="4000" b="1" dirty="0">
                <a:solidFill>
                  <a:schemeClr val="bg2"/>
                </a:solidFill>
                <a:latin typeface="Cambria" pitchFamily="34" charset="0"/>
                <a:ea typeface="Cambria" pitchFamily="34" charset="-122"/>
                <a:cs typeface="Cambria" pitchFamily="34" charset="-120"/>
              </a:rPr>
              <a:t>To-Dos</a:t>
            </a:r>
            <a:endParaRPr lang="en-US" sz="4000" dirty="0"/>
          </a:p>
        </p:txBody>
      </p:sp>
      <p:sp>
        <p:nvSpPr>
          <p:cNvPr id="10" name="Text 8"/>
          <p:cNvSpPr txBox="1"/>
          <p:nvPr/>
        </p:nvSpPr>
        <p:spPr>
          <a:xfrm>
            <a:off x="6598768" y="3611880"/>
            <a:ext cx="470596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7 DAYS</a:t>
            </a:r>
            <a:endParaRPr lang="en-US" sz="1100" dirty="0"/>
          </a:p>
        </p:txBody>
      </p:sp>
      <p:sp>
        <p:nvSpPr>
          <p:cNvPr id="11" name="Text 9"/>
          <p:cNvSpPr txBox="1"/>
          <p:nvPr/>
        </p:nvSpPr>
        <p:spPr>
          <a:xfrm>
            <a:off x="6598768" y="4069080"/>
            <a:ext cx="4705960" cy="1645920"/>
          </a:xfrm>
          <a:prstGeom prst="rect">
            <a:avLst/>
          </a:prstGeom>
          <a:noFill/>
          <a:ln/>
        </p:spPr>
        <p:txBody>
          <a:bodyPr wrap="square" lIns="0" tIns="0" rIns="0" bIns="0" rtlCol="0" anchor="t"/>
          <a:lstStyle/>
          <a:p>
            <a:pPr marL="381000" indent="-381000">
              <a:spcAft>
                <a:spcPts val="1000"/>
              </a:spcAft>
              <a:buSzPct val="100000"/>
              <a:buChar char="—"/>
            </a:pPr>
            <a:r>
              <a:rPr lang="en-US" sz="1800" dirty="0">
                <a:solidFill>
                  <a:srgbClr val="D9D1C1"/>
                </a:solidFill>
              </a:rPr>
              <a:t>Short, specific promises</a:t>
            </a:r>
            <a:endParaRPr lang="en-US" sz="1800" dirty="0"/>
          </a:p>
          <a:p>
            <a:pPr marL="381000" indent="-381000">
              <a:spcAft>
                <a:spcPts val="1000"/>
              </a:spcAft>
              <a:buSzPct val="100000"/>
              <a:buChar char="—"/>
            </a:pPr>
            <a:r>
              <a:rPr lang="en-US" sz="1800" dirty="0">
                <a:solidFill>
                  <a:srgbClr val="D9D1C1"/>
                </a:solidFill>
              </a:rPr>
              <a:t>Done by next week’s L10</a:t>
            </a:r>
            <a:endParaRPr lang="en-US" sz="1800" dirty="0"/>
          </a:p>
          <a:p>
            <a:pPr marL="381000" indent="-381000">
              <a:spcAft>
                <a:spcPts val="1000"/>
              </a:spcAft>
              <a:buSzPct val="100000"/>
              <a:buChar char="—"/>
            </a:pPr>
            <a:r>
              <a:rPr lang="en-US" sz="1800" dirty="0">
                <a:solidFill>
                  <a:srgbClr val="D9D1C1"/>
                </a:solidFill>
              </a:rPr>
              <a:t>Or flagged early, never quietly late</a:t>
            </a:r>
            <a:endParaRPr lang="en-US" sz="18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2"/>
                </a:solidFill>
              </a:rPr>
              <a:t>PART 1 · THE RHYTHM</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Every week, out loud</a:t>
            </a:r>
            <a:endParaRPr lang="en-US" sz="4400" dirty="0"/>
          </a:p>
        </p:txBody>
      </p:sp>
      <p:sp>
        <p:nvSpPr>
          <p:cNvPr id="4" name="step rule 01"/>
          <p:cNvSpPr/>
          <p:nvPr/>
        </p:nvSpPr>
        <p:spPr>
          <a:xfrm>
            <a:off x="886968" y="2743200"/>
            <a:ext cx="3198266" cy="0"/>
          </a:xfrm>
          <a:prstGeom prst="line">
            <a:avLst/>
          </a:prstGeom>
          <a:noFill/>
          <a:ln w="19050">
            <a:solidFill>
              <a:srgbClr val="D6A64A"/>
            </a:solidFill>
            <a:prstDash val="solid"/>
          </a:ln>
        </p:spPr>
      </p:sp>
      <p:sp>
        <p:nvSpPr>
          <p:cNvPr id="5" name="Text 3"/>
          <p:cNvSpPr txBox="1"/>
          <p:nvPr/>
        </p:nvSpPr>
        <p:spPr>
          <a:xfrm>
            <a:off x="886968" y="3017520"/>
            <a:ext cx="3198266"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a:t>
            </a:r>
            <a:endParaRPr lang="en-US" sz="1200" dirty="0"/>
          </a:p>
        </p:txBody>
      </p:sp>
      <p:sp>
        <p:nvSpPr>
          <p:cNvPr id="6" name="Text 4"/>
          <p:cNvSpPr txBox="1"/>
          <p:nvPr/>
        </p:nvSpPr>
        <p:spPr>
          <a:xfrm>
            <a:off x="886968" y="3383280"/>
            <a:ext cx="3198266" cy="64008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Set</a:t>
            </a:r>
            <a:endParaRPr lang="en-US" sz="3200" dirty="0"/>
          </a:p>
        </p:txBody>
      </p:sp>
      <p:sp>
        <p:nvSpPr>
          <p:cNvPr id="7" name="Text 5"/>
          <p:cNvSpPr txBox="1"/>
          <p:nvPr/>
        </p:nvSpPr>
        <p:spPr>
          <a:xfrm>
            <a:off x="886968" y="4114800"/>
            <a:ext cx="3198266" cy="1005840"/>
          </a:xfrm>
          <a:prstGeom prst="rect">
            <a:avLst/>
          </a:prstGeom>
          <a:noFill/>
          <a:ln/>
        </p:spPr>
        <p:txBody>
          <a:bodyPr wrap="square" lIns="0" tIns="0" rIns="0" bIns="0" rtlCol="0" anchor="t"/>
          <a:lstStyle/>
          <a:p>
            <a:pPr indent="0" marL="0">
              <a:buNone/>
            </a:pPr>
            <a:r>
              <a:rPr lang="en-US" sz="1700" dirty="0">
                <a:solidFill>
                  <a:schemeClr val="accent3"/>
                </a:solidFill>
              </a:rPr>
              <a:t>Every Rock gets one owner and a clear “done when.”</a:t>
            </a:r>
            <a:endParaRPr lang="en-US" sz="1700" dirty="0"/>
          </a:p>
        </p:txBody>
      </p:sp>
      <p:sp>
        <p:nvSpPr>
          <p:cNvPr id="8" name="step rule 02"/>
          <p:cNvSpPr/>
          <p:nvPr/>
        </p:nvSpPr>
        <p:spPr>
          <a:xfrm>
            <a:off x="4496714" y="2743200"/>
            <a:ext cx="3198266" cy="0"/>
          </a:xfrm>
          <a:prstGeom prst="line">
            <a:avLst/>
          </a:prstGeom>
          <a:noFill/>
          <a:ln w="19050">
            <a:solidFill>
              <a:srgbClr val="D6A64A"/>
            </a:solidFill>
            <a:prstDash val="solid"/>
          </a:ln>
        </p:spPr>
      </p:sp>
      <p:sp>
        <p:nvSpPr>
          <p:cNvPr id="9" name="Text 7"/>
          <p:cNvSpPr txBox="1"/>
          <p:nvPr/>
        </p:nvSpPr>
        <p:spPr>
          <a:xfrm>
            <a:off x="4496714" y="3017520"/>
            <a:ext cx="3198266"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a:t>
            </a:r>
            <a:endParaRPr lang="en-US" sz="1200" dirty="0"/>
          </a:p>
        </p:txBody>
      </p:sp>
      <p:sp>
        <p:nvSpPr>
          <p:cNvPr id="10" name="Text 8"/>
          <p:cNvSpPr txBox="1"/>
          <p:nvPr/>
        </p:nvSpPr>
        <p:spPr>
          <a:xfrm>
            <a:off x="4496714" y="3383280"/>
            <a:ext cx="3198266" cy="64008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Report</a:t>
            </a:r>
            <a:endParaRPr lang="en-US" sz="3200" dirty="0"/>
          </a:p>
        </p:txBody>
      </p:sp>
      <p:sp>
        <p:nvSpPr>
          <p:cNvPr id="11" name="Text 9"/>
          <p:cNvSpPr txBox="1"/>
          <p:nvPr/>
        </p:nvSpPr>
        <p:spPr>
          <a:xfrm>
            <a:off x="4496714" y="4114800"/>
            <a:ext cx="3198266" cy="1005840"/>
          </a:xfrm>
          <a:prstGeom prst="rect">
            <a:avLst/>
          </a:prstGeom>
          <a:noFill/>
          <a:ln/>
        </p:spPr>
        <p:txBody>
          <a:bodyPr wrap="square" lIns="0" tIns="0" rIns="0" bIns="0" rtlCol="0" anchor="t"/>
          <a:lstStyle/>
          <a:p>
            <a:pPr indent="0" marL="0">
              <a:buNone/>
            </a:pPr>
            <a:r>
              <a:rPr lang="en-US" sz="1700" dirty="0">
                <a:solidFill>
                  <a:schemeClr val="accent3"/>
                </a:solidFill>
              </a:rPr>
              <a:t>Every L10: on track or off track. One word, no stories.</a:t>
            </a:r>
            <a:endParaRPr lang="en-US" sz="1700" dirty="0"/>
          </a:p>
        </p:txBody>
      </p:sp>
      <p:sp>
        <p:nvSpPr>
          <p:cNvPr id="12" name="step rule 03"/>
          <p:cNvSpPr/>
          <p:nvPr/>
        </p:nvSpPr>
        <p:spPr>
          <a:xfrm>
            <a:off x="8106461" y="2743200"/>
            <a:ext cx="3198266" cy="0"/>
          </a:xfrm>
          <a:prstGeom prst="line">
            <a:avLst/>
          </a:prstGeom>
          <a:noFill/>
          <a:ln w="19050">
            <a:solidFill>
              <a:srgbClr val="D6A64A"/>
            </a:solidFill>
            <a:prstDash val="solid"/>
          </a:ln>
        </p:spPr>
      </p:sp>
      <p:sp>
        <p:nvSpPr>
          <p:cNvPr id="13" name="Text 11"/>
          <p:cNvSpPr txBox="1"/>
          <p:nvPr/>
        </p:nvSpPr>
        <p:spPr>
          <a:xfrm>
            <a:off x="8106461" y="3017520"/>
            <a:ext cx="3198266"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a:t>
            </a:r>
            <a:endParaRPr lang="en-US" sz="1200" dirty="0"/>
          </a:p>
        </p:txBody>
      </p:sp>
      <p:sp>
        <p:nvSpPr>
          <p:cNvPr id="14" name="Text 12"/>
          <p:cNvSpPr txBox="1"/>
          <p:nvPr/>
        </p:nvSpPr>
        <p:spPr>
          <a:xfrm>
            <a:off x="8106461" y="3383280"/>
            <a:ext cx="3198266" cy="64008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Resolve</a:t>
            </a:r>
            <a:endParaRPr lang="en-US" sz="3200" dirty="0"/>
          </a:p>
        </p:txBody>
      </p:sp>
      <p:sp>
        <p:nvSpPr>
          <p:cNvPr id="15" name="Text 13"/>
          <p:cNvSpPr txBox="1"/>
          <p:nvPr/>
        </p:nvSpPr>
        <p:spPr>
          <a:xfrm>
            <a:off x="8106461" y="4114800"/>
            <a:ext cx="3198266" cy="1005840"/>
          </a:xfrm>
          <a:prstGeom prst="rect">
            <a:avLst/>
          </a:prstGeom>
          <a:noFill/>
          <a:ln/>
        </p:spPr>
        <p:txBody>
          <a:bodyPr wrap="square" lIns="0" tIns="0" rIns="0" bIns="0" rtlCol="0" anchor="t"/>
          <a:lstStyle/>
          <a:p>
            <a:pPr indent="0" marL="0">
              <a:buNone/>
            </a:pPr>
            <a:r>
              <a:rPr lang="en-US" sz="1700" dirty="0">
                <a:solidFill>
                  <a:schemeClr val="accent3"/>
                </a:solidFill>
              </a:rPr>
              <a:t>Off track goes on the issues list, and we solve it as a team.</a:t>
            </a:r>
            <a:endParaRPr lang="en-US" sz="17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886968" y="19659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DRIVE</a:t>
            </a:r>
            <a:endParaRPr lang="en-US" sz="1100" dirty="0"/>
          </a:p>
        </p:txBody>
      </p:sp>
      <p:sp>
        <p:nvSpPr>
          <p:cNvPr id="3" name="Text 0"/>
          <p:cNvSpPr/>
          <p:nvPr>
            <p:ph idx="102" type="title" hasCustomPrompt="1"/>
          </p:nvPr>
        </p:nvSpPr>
        <p:spPr>
          <a:xfrm>
            <a:off x="886968" y="2331720"/>
            <a:ext cx="8778240" cy="2103120"/>
          </a:xfrm>
          <a:prstGeom prst="rect">
            <a:avLst/>
          </a:prstGeom>
          <a:noFill/>
          <a:ln/>
        </p:spPr>
        <p:txBody>
          <a:bodyPr wrap="square" lIns="0" tIns="0" rIns="0" bIns="0" rtlCol="0" anchor="t"/>
          <a:lstStyle/>
          <a:p>
            <a:pPr algn="l" indent="0" marL="0">
              <a:buNone/>
            </a:pPr>
            <a:r>
              <a:rPr lang="en-US" sz="5800" b="1" dirty="0">
                <a:solidFill>
                  <a:schemeClr val="bg2"/>
                </a:solidFill>
                <a:latin typeface="Cambria" pitchFamily="34" charset="0"/>
                <a:ea typeface="Cambria" pitchFamily="34" charset="-122"/>
                <a:cs typeface="Cambria" pitchFamily="34" charset="-120"/>
              </a:rPr>
              <a:t>Finish what you </a:t>
            </a:r>
            <a:pPr algn="l" indent="0" marL="0">
              <a:buNone/>
            </a:pPr>
            <a:r>
              <a:rPr lang="en-US" sz="5800" b="1" i="1" dirty="0">
                <a:solidFill>
                  <a:schemeClr val="accent1"/>
                </a:solidFill>
                <a:latin typeface="Cambria" pitchFamily="34" charset="0"/>
                <a:ea typeface="Cambria" pitchFamily="34" charset="-122"/>
                <a:cs typeface="Cambria" pitchFamily="34" charset="-120"/>
              </a:rPr>
              <a:t>give yourself</a:t>
            </a:r>
            <a:endParaRPr lang="en-US" sz="5800" dirty="0"/>
          </a:p>
        </p:txBody>
      </p:sp>
      <p:sp>
        <p:nvSpPr>
          <p:cNvPr id="4" name="Text 0"/>
          <p:cNvSpPr/>
          <p:nvPr>
            <p:ph idx="103" type="body" hasCustomPrompt="1"/>
          </p:nvPr>
        </p:nvSpPr>
        <p:spPr>
          <a:xfrm>
            <a:off x="886968" y="4572000"/>
            <a:ext cx="8961120" cy="914400"/>
          </a:xfrm>
          <a:prstGeom prst="rect">
            <a:avLst/>
          </a:prstGeom>
          <a:noFill/>
          <a:ln/>
        </p:spPr>
        <p:txBody>
          <a:bodyPr wrap="square" lIns="0" tIns="0" rIns="0" bIns="0" rtlCol="0" anchor="t"/>
          <a:lstStyle/>
          <a:p>
            <a:pPr algn="l" indent="0" marL="0">
              <a:buNone/>
            </a:pPr>
            <a:r>
              <a:rPr lang="en-US" sz="1800" dirty="0">
                <a:solidFill>
                  <a:srgbClr val="BDB4A2"/>
                </a:solidFill>
              </a:rPr>
              <a:t>Ambition without ownership is noise. Credit goes to the finish, not the intention.</a:t>
            </a:r>
            <a:endParaRPr lang="en-US" sz="18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2"/>
                </a:solidFill>
              </a:rPr>
              <a:t>PART 2 · OUR FIRST ROCK</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Launch the new ACE website</a:t>
            </a:r>
            <a:endParaRPr lang="en-US" sz="4400" dirty="0"/>
          </a:p>
        </p:txBody>
      </p:sp>
      <p:sp>
        <p:nvSpPr>
          <p:cNvPr id="4" name="Text 2"/>
          <p:cNvSpPr txBox="1"/>
          <p:nvPr/>
        </p:nvSpPr>
        <p:spPr>
          <a:xfrm>
            <a:off x="886968" y="2331720"/>
            <a:ext cx="237744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OWNER</a:t>
            </a:r>
            <a:endParaRPr lang="en-US" sz="1000" dirty="0"/>
          </a:p>
        </p:txBody>
      </p:sp>
      <p:sp>
        <p:nvSpPr>
          <p:cNvPr id="5" name="Text 3"/>
          <p:cNvSpPr txBox="1"/>
          <p:nvPr/>
        </p:nvSpPr>
        <p:spPr>
          <a:xfrm>
            <a:off x="3904488" y="2331720"/>
            <a:ext cx="237744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DONE BY</a:t>
            </a:r>
            <a:endParaRPr lang="en-US" sz="1000" dirty="0"/>
          </a:p>
        </p:txBody>
      </p:sp>
      <p:sp>
        <p:nvSpPr>
          <p:cNvPr id="6" name="Text 4"/>
          <p:cNvSpPr txBox="1"/>
          <p:nvPr/>
        </p:nvSpPr>
        <p:spPr>
          <a:xfrm>
            <a:off x="6739128" y="2331720"/>
            <a:ext cx="237744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STATUS</a:t>
            </a:r>
            <a:endParaRPr lang="en-US" sz="1000" dirty="0"/>
          </a:p>
        </p:txBody>
      </p:sp>
      <p:sp>
        <p:nvSpPr>
          <p:cNvPr id="7" name="owner (type a name)"/>
          <p:cNvSpPr txBox="1"/>
          <p:nvPr/>
        </p:nvSpPr>
        <p:spPr>
          <a:xfrm>
            <a:off x="886968" y="2679192"/>
            <a:ext cx="2377440" cy="384048"/>
          </a:xfrm>
          <a:prstGeom prst="rect">
            <a:avLst/>
          </a:prstGeom>
          <a:noFill/>
          <a:ln/>
        </p:spPr>
        <p:txBody>
          <a:bodyPr wrap="square" lIns="0" tIns="0" rIns="0" bIns="0" rtlCol="0" anchor="t"/>
          <a:lstStyle/>
          <a:p>
            <a:pPr indent="0" marL="0">
              <a:buNone/>
            </a:pPr>
            <a:endParaRPr lang="en-US" sz="1800" dirty="0"/>
          </a:p>
        </p:txBody>
      </p:sp>
      <p:sp>
        <p:nvSpPr>
          <p:cNvPr id="8" name="owner line"/>
          <p:cNvSpPr/>
          <p:nvPr/>
        </p:nvSpPr>
        <p:spPr>
          <a:xfrm>
            <a:off x="886968" y="3081528"/>
            <a:ext cx="2377440" cy="0"/>
          </a:xfrm>
          <a:prstGeom prst="line">
            <a:avLst/>
          </a:prstGeom>
          <a:noFill/>
          <a:ln w="9525">
            <a:solidFill>
              <a:schemeClr val="accent4"/>
            </a:solidFill>
            <a:prstDash val="solid"/>
          </a:ln>
        </p:spPr>
      </p:sp>
      <p:sp>
        <p:nvSpPr>
          <p:cNvPr id="9" name="done by"/>
          <p:cNvSpPr txBox="1"/>
          <p:nvPr/>
        </p:nvSpPr>
        <p:spPr>
          <a:xfrm>
            <a:off x="3904488" y="2679192"/>
            <a:ext cx="2377440" cy="384048"/>
          </a:xfrm>
          <a:prstGeom prst="rect">
            <a:avLst/>
          </a:prstGeom>
          <a:noFill/>
          <a:ln/>
        </p:spPr>
        <p:txBody>
          <a:bodyPr wrap="square" lIns="0" tIns="0" rIns="0" bIns="0" rtlCol="0" anchor="t"/>
          <a:lstStyle/>
          <a:p>
            <a:pPr indent="0" marL="0">
              <a:buNone/>
            </a:pPr>
            <a:r>
              <a:rPr lang="en-US" sz="1800" dirty="0">
                <a:solidFill>
                  <a:schemeClr val="tx1"/>
                </a:solidFill>
                <a:latin typeface="Cambria" pitchFamily="34" charset="0"/>
                <a:ea typeface="Cambria" pitchFamily="34" charset="-122"/>
                <a:cs typeface="Cambria" pitchFamily="34" charset="-120"/>
              </a:rPr>
              <a:t>End of quarter</a:t>
            </a:r>
            <a:endParaRPr lang="en-US" sz="1800" dirty="0"/>
          </a:p>
        </p:txBody>
      </p:sp>
      <p:sp>
        <p:nvSpPr>
          <p:cNvPr id="10" name="done by line"/>
          <p:cNvSpPr/>
          <p:nvPr/>
        </p:nvSpPr>
        <p:spPr>
          <a:xfrm>
            <a:off x="3904488" y="3081528"/>
            <a:ext cx="2377440" cy="0"/>
          </a:xfrm>
          <a:prstGeom prst="line">
            <a:avLst/>
          </a:prstGeom>
          <a:noFill/>
          <a:ln w="9525">
            <a:solidFill>
              <a:schemeClr val="accent4"/>
            </a:solidFill>
            <a:prstDash val="solid"/>
          </a:ln>
        </p:spPr>
      </p:sp>
      <p:sp>
        <p:nvSpPr>
          <p:cNvPr id="11" name="status"/>
          <p:cNvSpPr txBox="1"/>
          <p:nvPr/>
        </p:nvSpPr>
        <p:spPr>
          <a:xfrm>
            <a:off x="6739128" y="2660904"/>
            <a:ext cx="1325880" cy="384048"/>
          </a:xfrm>
          <a:prstGeom prst="roundRect">
            <a:avLst>
              <a:gd name="adj" fmla="val 47619"/>
            </a:avLst>
          </a:prstGeom>
          <a:solidFill>
            <a:srgbClr val="E4EBDD"/>
          </a:solidFill>
          <a:ln w="9525">
            <a:solidFill>
              <a:srgbClr val="A9C4A6"/>
            </a:solidFill>
          </a:ln>
        </p:spPr>
        <p:txBody>
          <a:bodyPr wrap="square" lIns="0" tIns="0" rIns="0" bIns="0" rtlCol="0" anchor="ctr"/>
          <a:lstStyle/>
          <a:p>
            <a:pPr algn="ctr" indent="0" marL="0">
              <a:buNone/>
            </a:pPr>
            <a:r>
              <a:rPr lang="en-US" sz="1500" b="1" dirty="0">
                <a:solidFill>
                  <a:srgbClr val="2F6B3A"/>
                </a:solidFill>
              </a:rPr>
              <a:t>On track</a:t>
            </a:r>
            <a:endParaRPr lang="en-US" sz="1500" dirty="0"/>
          </a:p>
        </p:txBody>
      </p:sp>
      <p:sp>
        <p:nvSpPr>
          <p:cNvPr id="12" name="milestone line 1"/>
          <p:cNvSpPr/>
          <p:nvPr/>
        </p:nvSpPr>
        <p:spPr>
          <a:xfrm>
            <a:off x="1078992" y="4169664"/>
            <a:ext cx="2604440" cy="0"/>
          </a:xfrm>
          <a:prstGeom prst="line">
            <a:avLst/>
          </a:prstGeom>
          <a:noFill/>
          <a:ln w="28575">
            <a:solidFill>
              <a:srgbClr val="D6A64A"/>
            </a:solidFill>
            <a:prstDash val="solid"/>
          </a:ln>
        </p:spPr>
      </p:sp>
      <p:sp>
        <p:nvSpPr>
          <p:cNvPr id="13" name="milestone line 2"/>
          <p:cNvSpPr/>
          <p:nvPr/>
        </p:nvSpPr>
        <p:spPr>
          <a:xfrm>
            <a:off x="3683432" y="4169664"/>
            <a:ext cx="2604440" cy="0"/>
          </a:xfrm>
          <a:prstGeom prst="line">
            <a:avLst/>
          </a:prstGeom>
          <a:noFill/>
          <a:ln w="28575">
            <a:solidFill>
              <a:srgbClr val="E2D6BF"/>
            </a:solidFill>
            <a:prstDash val="solid"/>
          </a:ln>
        </p:spPr>
      </p:sp>
      <p:sp>
        <p:nvSpPr>
          <p:cNvPr id="14" name="milestone line 3"/>
          <p:cNvSpPr/>
          <p:nvPr/>
        </p:nvSpPr>
        <p:spPr>
          <a:xfrm>
            <a:off x="6287872" y="4169664"/>
            <a:ext cx="2604440" cy="0"/>
          </a:xfrm>
          <a:prstGeom prst="line">
            <a:avLst/>
          </a:prstGeom>
          <a:noFill/>
          <a:ln w="28575">
            <a:solidFill>
              <a:srgbClr val="E2D6BF"/>
            </a:solidFill>
            <a:prstDash val="solid"/>
          </a:ln>
        </p:spPr>
      </p:sp>
      <p:sp>
        <p:nvSpPr>
          <p:cNvPr id="15" name="milestone 1"/>
          <p:cNvSpPr txBox="1"/>
          <p:nvPr/>
        </p:nvSpPr>
        <p:spPr>
          <a:xfrm>
            <a:off x="886968" y="3977640"/>
            <a:ext cx="384048" cy="384048"/>
          </a:xfrm>
          <a:prstGeom prst="ellipse">
            <a:avLst/>
          </a:prstGeom>
          <a:solidFill>
            <a:srgbClr val="D6A64A"/>
          </a:solidFill>
          <a:ln w="25400">
            <a:solidFill>
              <a:srgbClr val="D6A64A"/>
            </a:solid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16" name="Text 14"/>
          <p:cNvSpPr txBox="1"/>
          <p:nvPr/>
        </p:nvSpPr>
        <p:spPr>
          <a:xfrm>
            <a:off x="886968" y="4526280"/>
            <a:ext cx="2375840" cy="5486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Five directions built</a:t>
            </a:r>
            <a:endParaRPr lang="en-US" sz="1600" dirty="0"/>
          </a:p>
        </p:txBody>
      </p:sp>
      <p:sp>
        <p:nvSpPr>
          <p:cNvPr id="17" name="Text 15"/>
          <p:cNvSpPr txBox="1"/>
          <p:nvPr/>
        </p:nvSpPr>
        <p:spPr>
          <a:xfrm>
            <a:off x="886968" y="4873752"/>
            <a:ext cx="237584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DONE</a:t>
            </a:r>
            <a:endParaRPr lang="en-US" sz="1000" dirty="0"/>
          </a:p>
        </p:txBody>
      </p:sp>
      <p:sp>
        <p:nvSpPr>
          <p:cNvPr id="18" name="milestone 2"/>
          <p:cNvSpPr txBox="1"/>
          <p:nvPr/>
        </p:nvSpPr>
        <p:spPr>
          <a:xfrm>
            <a:off x="3491408" y="3977640"/>
            <a:ext cx="384048" cy="384048"/>
          </a:xfrm>
          <a:prstGeom prst="ellipse">
            <a:avLst/>
          </a:prstGeom>
          <a:solidFill>
            <a:srgbClr val="FAF6EE"/>
          </a:solidFill>
          <a:ln w="25400">
            <a:solidFill>
              <a:srgbClr val="D6A64A"/>
            </a:solidFill>
          </a:ln>
        </p:spPr>
        <p:txBody>
          <a:bodyPr wrap="square" lIns="0" tIns="0" rIns="0" bIns="0" rtlCol="0" anchor="ctr"/>
          <a:lstStyle/>
          <a:p>
            <a:pPr algn="ctr" indent="0" marL="0">
              <a:buNone/>
            </a:pPr>
            <a:r>
              <a:rPr lang="en-US" sz="1400" b="1" dirty="0">
                <a:solidFill>
                  <a:schemeClr val="accent2"/>
                </a:solidFill>
              </a:rPr>
              <a:t>2</a:t>
            </a:r>
            <a:endParaRPr lang="en-US" sz="1400" dirty="0"/>
          </a:p>
        </p:txBody>
      </p:sp>
      <p:sp>
        <p:nvSpPr>
          <p:cNvPr id="19" name="Text 17"/>
          <p:cNvSpPr txBox="1"/>
          <p:nvPr/>
        </p:nvSpPr>
        <p:spPr>
          <a:xfrm>
            <a:off x="3491408" y="4526280"/>
            <a:ext cx="2375840" cy="5486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Choose the direction</a:t>
            </a:r>
            <a:endParaRPr lang="en-US" sz="1600" dirty="0"/>
          </a:p>
        </p:txBody>
      </p:sp>
      <p:sp>
        <p:nvSpPr>
          <p:cNvPr id="20" name="Text 18"/>
          <p:cNvSpPr txBox="1"/>
          <p:nvPr/>
        </p:nvSpPr>
        <p:spPr>
          <a:xfrm>
            <a:off x="3491408" y="4873752"/>
            <a:ext cx="237584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TODAY</a:t>
            </a:r>
            <a:endParaRPr lang="en-US" sz="1000" dirty="0"/>
          </a:p>
        </p:txBody>
      </p:sp>
      <p:sp>
        <p:nvSpPr>
          <p:cNvPr id="21" name="milestone 3"/>
          <p:cNvSpPr txBox="1"/>
          <p:nvPr/>
        </p:nvSpPr>
        <p:spPr>
          <a:xfrm>
            <a:off x="6095848" y="3977640"/>
            <a:ext cx="384048" cy="384048"/>
          </a:xfrm>
          <a:prstGeom prst="ellipse">
            <a:avLst/>
          </a:prstGeom>
          <a:solidFill>
            <a:srgbClr val="FAF6EE"/>
          </a:solidFill>
          <a:ln w="25400">
            <a:solidFill>
              <a:srgbClr val="E2D6BF"/>
            </a:solidFill>
          </a:ln>
        </p:spPr>
        <p:txBody>
          <a:bodyPr wrap="square" lIns="0" tIns="0" rIns="0" bIns="0" rtlCol="0" anchor="ctr"/>
          <a:lstStyle/>
          <a:p>
            <a:pPr algn="ctr" indent="0" marL="0">
              <a:buNone/>
            </a:pPr>
            <a:r>
              <a:rPr lang="en-US" sz="1400" b="1" dirty="0">
                <a:solidFill>
                  <a:schemeClr val="accent3"/>
                </a:solidFill>
              </a:rPr>
              <a:t>3</a:t>
            </a:r>
            <a:endParaRPr lang="en-US" sz="1400" dirty="0"/>
          </a:p>
        </p:txBody>
      </p:sp>
      <p:sp>
        <p:nvSpPr>
          <p:cNvPr id="22" name="Text 20"/>
          <p:cNvSpPr txBox="1"/>
          <p:nvPr/>
        </p:nvSpPr>
        <p:spPr>
          <a:xfrm>
            <a:off x="6095848" y="4526280"/>
            <a:ext cx="2375840" cy="5486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Build + booking live</a:t>
            </a:r>
            <a:endParaRPr lang="en-US" sz="1600" dirty="0"/>
          </a:p>
        </p:txBody>
      </p:sp>
      <p:sp>
        <p:nvSpPr>
          <p:cNvPr id="23" name="Text 21"/>
          <p:cNvSpPr txBox="1"/>
          <p:nvPr/>
        </p:nvSpPr>
        <p:spPr>
          <a:xfrm>
            <a:off x="6095848" y="4873752"/>
            <a:ext cx="2375840"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NEXT</a:t>
            </a:r>
            <a:endParaRPr lang="en-US" sz="1000" dirty="0"/>
          </a:p>
        </p:txBody>
      </p:sp>
      <p:sp>
        <p:nvSpPr>
          <p:cNvPr id="24" name="milestone 4"/>
          <p:cNvSpPr txBox="1"/>
          <p:nvPr/>
        </p:nvSpPr>
        <p:spPr>
          <a:xfrm>
            <a:off x="8700287" y="3977640"/>
            <a:ext cx="384048" cy="384048"/>
          </a:xfrm>
          <a:prstGeom prst="ellipse">
            <a:avLst/>
          </a:prstGeom>
          <a:solidFill>
            <a:srgbClr val="FAF6EE"/>
          </a:solidFill>
          <a:ln w="25400">
            <a:solidFill>
              <a:srgbClr val="E2D6BF"/>
            </a:solidFill>
          </a:ln>
        </p:spPr>
        <p:txBody>
          <a:bodyPr wrap="square" lIns="0" tIns="0" rIns="0" bIns="0" rtlCol="0" anchor="ctr"/>
          <a:lstStyle/>
          <a:p>
            <a:pPr algn="ctr" indent="0" marL="0">
              <a:buNone/>
            </a:pPr>
            <a:r>
              <a:rPr lang="en-US" sz="1400" b="1" dirty="0">
                <a:solidFill>
                  <a:schemeClr val="accent3"/>
                </a:solidFill>
              </a:rPr>
              <a:t>4</a:t>
            </a:r>
            <a:endParaRPr lang="en-US" sz="1400" dirty="0"/>
          </a:p>
        </p:txBody>
      </p:sp>
      <p:sp>
        <p:nvSpPr>
          <p:cNvPr id="25" name="Text 23"/>
          <p:cNvSpPr txBox="1"/>
          <p:nvPr/>
        </p:nvSpPr>
        <p:spPr>
          <a:xfrm>
            <a:off x="8700287" y="4526280"/>
            <a:ext cx="2375840" cy="5486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Launch</a:t>
            </a:r>
            <a:endParaRPr lang="en-US" sz="1600" dirty="0"/>
          </a:p>
        </p:txBody>
      </p:sp>
      <p:sp>
        <p:nvSpPr>
          <p:cNvPr id="26" name="Text 24"/>
          <p:cNvSpPr txBox="1"/>
          <p:nvPr/>
        </p:nvSpPr>
        <p:spPr>
          <a:xfrm>
            <a:off x="8700287" y="4873752"/>
            <a:ext cx="2375840"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DONE WHEN LIVE</a:t>
            </a:r>
            <a:endParaRPr lang="en-US" sz="10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THE DESIGNS</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bg2"/>
                </a:solidFill>
                <a:latin typeface="Cambria" pitchFamily="34" charset="0"/>
                <a:ea typeface="Cambria" pitchFamily="34" charset="-122"/>
                <a:cs typeface="Cambria" pitchFamily="34" charset="-120"/>
              </a:rPr>
              <a:t>Five directions, built. </a:t>
            </a:r>
            <a:pPr algn="l" indent="0" marL="0">
              <a:buNone/>
            </a:pPr>
            <a:r>
              <a:rPr lang="en-US" sz="4400" b="1" i="1" dirty="0">
                <a:solidFill>
                  <a:schemeClr val="accent1"/>
                </a:solidFill>
                <a:latin typeface="Cambria" pitchFamily="34" charset="0"/>
                <a:ea typeface="Cambria" pitchFamily="34" charset="-122"/>
                <a:cs typeface="Cambria" pitchFamily="34" charset="-120"/>
              </a:rPr>
              <a:t>Two</a:t>
            </a:r>
            <a:pPr algn="l" indent="0" marL="0">
              <a:buNone/>
            </a:pPr>
            <a:r>
              <a:rPr lang="en-US" sz="4400" b="1" dirty="0">
                <a:solidFill>
                  <a:schemeClr val="bg2"/>
                </a:solidFill>
                <a:latin typeface="Cambria" pitchFamily="34" charset="0"/>
                <a:ea typeface="Cambria" pitchFamily="34" charset="-122"/>
                <a:cs typeface="Cambria" pitchFamily="34" charset="-120"/>
              </a:rPr>
              <a:t> to sit with</a:t>
            </a:r>
            <a:endParaRPr lang="en-US" sz="4400" dirty="0"/>
          </a:p>
        </p:txBody>
      </p:sp>
      <p:sp>
        <p:nvSpPr>
          <p:cNvPr id="4" name="Big Sky highlight"/>
          <p:cNvSpPr/>
          <p:nvPr/>
        </p:nvSpPr>
        <p:spPr>
          <a:xfrm>
            <a:off x="841248" y="2697480"/>
            <a:ext cx="1955536" cy="1182783"/>
          </a:xfrm>
          <a:prstGeom prst="rect">
            <a:avLst/>
          </a:prstGeom>
          <a:solidFill>
            <a:schemeClr val="accent1"/>
          </a:solidFill>
          <a:ln w="12700">
            <a:solidFill>
              <a:schemeClr val="accent1"/>
            </a:solidFill>
            <a:prstDash val="solid"/>
          </a:ln>
        </p:spPr>
      </p:sp>
      <p:pic>
        <p:nvPicPr>
          <p:cNvPr id="5" name="Big Sky thumb" descr="Big Sky">
            <a:hlinkClick r:id="rId2" tooltip="Open the Big Sky live site"/>
          </p:cNvPr>
          <p:cNvPicPr>
            <a:picLocks noChangeAspect="1"/>
          </p:cNvPicPr>
          <p:nvPr/>
        </p:nvPicPr>
        <p:blipFill>
          <a:blip r:embed="rId1"/>
          <a:stretch>
            <a:fillRect/>
          </a:stretch>
        </p:blipFill>
        <p:spPr>
          <a:xfrm>
            <a:off x="886968" y="2743200"/>
            <a:ext cx="1864096" cy="1091343"/>
          </a:xfrm>
          <a:prstGeom prst="rect">
            <a:avLst/>
          </a:prstGeom>
        </p:spPr>
      </p:pic>
      <p:sp>
        <p:nvSpPr>
          <p:cNvPr id="6" name="Text 3"/>
          <p:cNvSpPr txBox="1"/>
          <p:nvPr/>
        </p:nvSpPr>
        <p:spPr>
          <a:xfrm>
            <a:off x="886968" y="4063143"/>
            <a:ext cx="1864096"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01 · FEATURED</a:t>
            </a:r>
            <a:endParaRPr lang="en-US" sz="1000" dirty="0"/>
          </a:p>
        </p:txBody>
      </p:sp>
      <p:sp>
        <p:nvSpPr>
          <p:cNvPr id="7" name="Text 4"/>
          <p:cNvSpPr txBox="1"/>
          <p:nvPr/>
        </p:nvSpPr>
        <p:spPr>
          <a:xfrm>
            <a:off x="886968" y="4310031"/>
            <a:ext cx="1864096" cy="365760"/>
          </a:xfrm>
          <a:prstGeom prst="rect">
            <a:avLst/>
          </a:prstGeom>
          <a:noFill/>
          <a:ln/>
        </p:spPr>
        <p:txBody>
          <a:bodyPr wrap="square" lIns="0" tIns="0" rIns="0" bIns="0" rtlCol="0" anchor="t"/>
          <a:lstStyle/>
          <a:p>
            <a:pPr indent="0" marL="0">
              <a:buNone/>
            </a:pPr>
            <a:r>
              <a:rPr lang="en-US" sz="1800" b="1" dirty="0">
                <a:solidFill>
                  <a:schemeClr val="bg2"/>
                </a:solidFill>
                <a:latin typeface="Cambria" pitchFamily="34" charset="0"/>
                <a:ea typeface="Cambria" pitchFamily="34" charset="-122"/>
                <a:cs typeface="Cambria" pitchFamily="34" charset="-120"/>
              </a:rPr>
              <a:t>Big Sky</a:t>
            </a:r>
            <a:endParaRPr lang="en-US" sz="1800" dirty="0"/>
          </a:p>
        </p:txBody>
      </p:sp>
      <p:sp>
        <p:nvSpPr>
          <p:cNvPr id="8" name="Text 5"/>
          <p:cNvSpPr txBox="1"/>
          <p:nvPr/>
        </p:nvSpPr>
        <p:spPr>
          <a:xfrm>
            <a:off x="886968" y="4675791"/>
            <a:ext cx="1864096" cy="365760"/>
          </a:xfrm>
          <a:prstGeom prst="rect">
            <a:avLst/>
          </a:prstGeom>
          <a:noFill/>
          <a:ln/>
        </p:spPr>
        <p:txBody>
          <a:bodyPr wrap="square" lIns="0" tIns="0" rIns="0" bIns="0" rtlCol="0" anchor="t"/>
          <a:lstStyle/>
          <a:p>
            <a:pPr indent="0" marL="0">
              <a:buNone/>
            </a:pPr>
            <a:r>
              <a:rPr lang="en-US" sz="1200" dirty="0">
                <a:solidFill>
                  <a:srgbClr val="BDB4A2"/>
                </a:solidFill>
              </a:rPr>
              <a:t>Warm, editorial, timeless.</a:t>
            </a:r>
            <a:endParaRPr lang="en-US" sz="1200" dirty="0"/>
          </a:p>
        </p:txBody>
      </p:sp>
      <p:pic>
        <p:nvPicPr>
          <p:cNvPr id="9" name="Piney Woods thumb" descr="Piney Woods">
            <a:hlinkClick r:id="rId4" tooltip="Open the Piney Woods live site"/>
          </p:cNvPr>
          <p:cNvPicPr>
            <a:picLocks noChangeAspect="1"/>
          </p:cNvPicPr>
          <p:nvPr/>
        </p:nvPicPr>
        <p:blipFill>
          <a:blip r:embed="rId3">
            <a:alphaModFix amt="45000"/>
          </a:blip>
          <a:stretch>
            <a:fillRect/>
          </a:stretch>
        </p:blipFill>
        <p:spPr>
          <a:xfrm>
            <a:off x="3025384" y="2743200"/>
            <a:ext cx="1864096" cy="1091343"/>
          </a:xfrm>
          <a:prstGeom prst="rect">
            <a:avLst/>
          </a:prstGeom>
        </p:spPr>
      </p:pic>
      <p:sp>
        <p:nvSpPr>
          <p:cNvPr id="10" name="Text 6"/>
          <p:cNvSpPr txBox="1"/>
          <p:nvPr/>
        </p:nvSpPr>
        <p:spPr>
          <a:xfrm>
            <a:off x="3025384" y="4063143"/>
            <a:ext cx="1864096"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02</a:t>
            </a:r>
            <a:endParaRPr lang="en-US" sz="1000" dirty="0"/>
          </a:p>
        </p:txBody>
      </p:sp>
      <p:sp>
        <p:nvSpPr>
          <p:cNvPr id="11" name="Text 7"/>
          <p:cNvSpPr txBox="1"/>
          <p:nvPr/>
        </p:nvSpPr>
        <p:spPr>
          <a:xfrm>
            <a:off x="3025384" y="4310031"/>
            <a:ext cx="1864096" cy="365760"/>
          </a:xfrm>
          <a:prstGeom prst="rect">
            <a:avLst/>
          </a:prstGeom>
          <a:noFill/>
          <a:ln/>
        </p:spPr>
        <p:txBody>
          <a:bodyPr wrap="square" lIns="0" tIns="0" rIns="0" bIns="0" rtlCol="0" anchor="t"/>
          <a:lstStyle/>
          <a:p>
            <a:pPr indent="0" marL="0">
              <a:buNone/>
            </a:pPr>
            <a:r>
              <a:rPr lang="en-US" sz="1800" b="1" dirty="0">
                <a:solidFill>
                  <a:srgbClr val="8C826F"/>
                </a:solidFill>
                <a:latin typeface="Cambria" pitchFamily="34" charset="0"/>
                <a:ea typeface="Cambria" pitchFamily="34" charset="-122"/>
                <a:cs typeface="Cambria" pitchFamily="34" charset="-120"/>
              </a:rPr>
              <a:t>Piney Woods</a:t>
            </a:r>
            <a:endParaRPr lang="en-US" sz="1800" dirty="0"/>
          </a:p>
        </p:txBody>
      </p:sp>
      <p:sp>
        <p:nvSpPr>
          <p:cNvPr id="12" name="Text 8"/>
          <p:cNvSpPr txBox="1"/>
          <p:nvPr/>
        </p:nvSpPr>
        <p:spPr>
          <a:xfrm>
            <a:off x="3025384" y="4675791"/>
            <a:ext cx="1864096" cy="365760"/>
          </a:xfrm>
          <a:prstGeom prst="rect">
            <a:avLst/>
          </a:prstGeom>
          <a:noFill/>
          <a:ln/>
        </p:spPr>
        <p:txBody>
          <a:bodyPr wrap="square" lIns="0" tIns="0" rIns="0" bIns="0" rtlCol="0" anchor="t"/>
          <a:lstStyle/>
          <a:p>
            <a:pPr indent="0" marL="0">
              <a:buNone/>
            </a:pPr>
            <a:r>
              <a:rPr lang="en-US" sz="1200" dirty="0">
                <a:solidFill>
                  <a:srgbClr val="6E6656"/>
                </a:solidFill>
              </a:rPr>
              <a:t>Rooted, calm, organic.</a:t>
            </a:r>
            <a:endParaRPr lang="en-US" sz="1200" dirty="0"/>
          </a:p>
        </p:txBody>
      </p:sp>
      <p:pic>
        <p:nvPicPr>
          <p:cNvPr id="13" name="Open Water thumb" descr="Open Water">
            <a:hlinkClick r:id="rId6" tooltip="Open the Open Water live site"/>
          </p:cNvPr>
          <p:cNvPicPr>
            <a:picLocks noChangeAspect="1"/>
          </p:cNvPicPr>
          <p:nvPr/>
        </p:nvPicPr>
        <p:blipFill>
          <a:blip r:embed="rId5">
            <a:alphaModFix amt="45000"/>
          </a:blip>
          <a:stretch>
            <a:fillRect/>
          </a:stretch>
        </p:blipFill>
        <p:spPr>
          <a:xfrm>
            <a:off x="5163800" y="2743200"/>
            <a:ext cx="1864096" cy="1091343"/>
          </a:xfrm>
          <a:prstGeom prst="rect">
            <a:avLst/>
          </a:prstGeom>
        </p:spPr>
      </p:pic>
      <p:sp>
        <p:nvSpPr>
          <p:cNvPr id="14" name="Text 9"/>
          <p:cNvSpPr txBox="1"/>
          <p:nvPr/>
        </p:nvSpPr>
        <p:spPr>
          <a:xfrm>
            <a:off x="5163800" y="4063143"/>
            <a:ext cx="1864096"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03</a:t>
            </a:r>
            <a:endParaRPr lang="en-US" sz="1000" dirty="0"/>
          </a:p>
        </p:txBody>
      </p:sp>
      <p:sp>
        <p:nvSpPr>
          <p:cNvPr id="15" name="Text 10"/>
          <p:cNvSpPr txBox="1"/>
          <p:nvPr/>
        </p:nvSpPr>
        <p:spPr>
          <a:xfrm>
            <a:off x="5163800" y="4310031"/>
            <a:ext cx="1864096" cy="365760"/>
          </a:xfrm>
          <a:prstGeom prst="rect">
            <a:avLst/>
          </a:prstGeom>
          <a:noFill/>
          <a:ln/>
        </p:spPr>
        <p:txBody>
          <a:bodyPr wrap="square" lIns="0" tIns="0" rIns="0" bIns="0" rtlCol="0" anchor="t"/>
          <a:lstStyle/>
          <a:p>
            <a:pPr indent="0" marL="0">
              <a:buNone/>
            </a:pPr>
            <a:r>
              <a:rPr lang="en-US" sz="1800" b="1" dirty="0">
                <a:solidFill>
                  <a:srgbClr val="8C826F"/>
                </a:solidFill>
                <a:latin typeface="Cambria" pitchFamily="34" charset="0"/>
                <a:ea typeface="Cambria" pitchFamily="34" charset="-122"/>
                <a:cs typeface="Cambria" pitchFamily="34" charset="-120"/>
              </a:rPr>
              <a:t>Open Water</a:t>
            </a:r>
            <a:endParaRPr lang="en-US" sz="1800" dirty="0"/>
          </a:p>
        </p:txBody>
      </p:sp>
      <p:sp>
        <p:nvSpPr>
          <p:cNvPr id="16" name="Text 11"/>
          <p:cNvSpPr txBox="1"/>
          <p:nvPr/>
        </p:nvSpPr>
        <p:spPr>
          <a:xfrm>
            <a:off x="5163800" y="4675791"/>
            <a:ext cx="1864096" cy="365760"/>
          </a:xfrm>
          <a:prstGeom prst="rect">
            <a:avLst/>
          </a:prstGeom>
          <a:noFill/>
          <a:ln/>
        </p:spPr>
        <p:txBody>
          <a:bodyPr wrap="square" lIns="0" tIns="0" rIns="0" bIns="0" rtlCol="0" anchor="t"/>
          <a:lstStyle/>
          <a:p>
            <a:pPr indent="0" marL="0">
              <a:buNone/>
            </a:pPr>
            <a:r>
              <a:rPr lang="en-US" sz="1200" dirty="0">
                <a:solidFill>
                  <a:srgbClr val="6E6656"/>
                </a:solidFill>
              </a:rPr>
              <a:t>Crisp, corporate, confident.</a:t>
            </a:r>
            <a:endParaRPr lang="en-US" sz="1200" dirty="0"/>
          </a:p>
        </p:txBody>
      </p:sp>
      <p:sp>
        <p:nvSpPr>
          <p:cNvPr id="17" name="Heartland Steel highlight"/>
          <p:cNvSpPr/>
          <p:nvPr/>
        </p:nvSpPr>
        <p:spPr>
          <a:xfrm>
            <a:off x="7256496" y="2697480"/>
            <a:ext cx="1955536" cy="1182783"/>
          </a:xfrm>
          <a:prstGeom prst="rect">
            <a:avLst/>
          </a:prstGeom>
          <a:solidFill>
            <a:schemeClr val="accent1"/>
          </a:solidFill>
          <a:ln w="12700">
            <a:solidFill>
              <a:schemeClr val="accent1"/>
            </a:solidFill>
            <a:prstDash val="solid"/>
          </a:ln>
        </p:spPr>
      </p:sp>
      <p:pic>
        <p:nvPicPr>
          <p:cNvPr id="18" name="Heartland Steel thumb" descr="Heartland Steel">
            <a:hlinkClick r:id="rId8" tooltip="Open the Heartland Steel live site"/>
          </p:cNvPr>
          <p:cNvPicPr>
            <a:picLocks noChangeAspect="1"/>
          </p:cNvPicPr>
          <p:nvPr/>
        </p:nvPicPr>
        <p:blipFill>
          <a:blip r:embed="rId7"/>
          <a:stretch>
            <a:fillRect/>
          </a:stretch>
        </p:blipFill>
        <p:spPr>
          <a:xfrm>
            <a:off x="7302216" y="2743200"/>
            <a:ext cx="1864096" cy="1091343"/>
          </a:xfrm>
          <a:prstGeom prst="rect">
            <a:avLst/>
          </a:prstGeom>
        </p:spPr>
      </p:pic>
      <p:sp>
        <p:nvSpPr>
          <p:cNvPr id="19" name="Text 13"/>
          <p:cNvSpPr txBox="1"/>
          <p:nvPr/>
        </p:nvSpPr>
        <p:spPr>
          <a:xfrm>
            <a:off x="7302216" y="4063143"/>
            <a:ext cx="1864096"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04 · FEATURED</a:t>
            </a:r>
            <a:endParaRPr lang="en-US" sz="1000" dirty="0"/>
          </a:p>
        </p:txBody>
      </p:sp>
      <p:sp>
        <p:nvSpPr>
          <p:cNvPr id="20" name="Text 14"/>
          <p:cNvSpPr txBox="1"/>
          <p:nvPr/>
        </p:nvSpPr>
        <p:spPr>
          <a:xfrm>
            <a:off x="7302216" y="4310031"/>
            <a:ext cx="1864096" cy="365760"/>
          </a:xfrm>
          <a:prstGeom prst="rect">
            <a:avLst/>
          </a:prstGeom>
          <a:noFill/>
          <a:ln/>
        </p:spPr>
        <p:txBody>
          <a:bodyPr wrap="square" lIns="0" tIns="0" rIns="0" bIns="0" rtlCol="0" anchor="t"/>
          <a:lstStyle/>
          <a:p>
            <a:pPr indent="0" marL="0">
              <a:buNone/>
            </a:pPr>
            <a:r>
              <a:rPr lang="en-US" sz="1800" b="1" dirty="0">
                <a:solidFill>
                  <a:schemeClr val="bg2"/>
                </a:solidFill>
                <a:latin typeface="Cambria" pitchFamily="34" charset="0"/>
                <a:ea typeface="Cambria" pitchFamily="34" charset="-122"/>
                <a:cs typeface="Cambria" pitchFamily="34" charset="-120"/>
              </a:rPr>
              <a:t>Heartland Steel</a:t>
            </a:r>
            <a:endParaRPr lang="en-US" sz="1800" dirty="0"/>
          </a:p>
        </p:txBody>
      </p:sp>
      <p:sp>
        <p:nvSpPr>
          <p:cNvPr id="21" name="Text 15"/>
          <p:cNvSpPr txBox="1"/>
          <p:nvPr/>
        </p:nvSpPr>
        <p:spPr>
          <a:xfrm>
            <a:off x="7302216" y="4675791"/>
            <a:ext cx="1864096" cy="365760"/>
          </a:xfrm>
          <a:prstGeom prst="rect">
            <a:avLst/>
          </a:prstGeom>
          <a:noFill/>
          <a:ln/>
        </p:spPr>
        <p:txBody>
          <a:bodyPr wrap="square" lIns="0" tIns="0" rIns="0" bIns="0" rtlCol="0" anchor="t"/>
          <a:lstStyle/>
          <a:p>
            <a:pPr indent="0" marL="0">
              <a:buNone/>
            </a:pPr>
            <a:r>
              <a:rPr lang="en-US" sz="1200" dirty="0">
                <a:solidFill>
                  <a:srgbClr val="BDB4A2"/>
                </a:solidFill>
              </a:rPr>
              <a:t>Bold, cinematic, industrial.</a:t>
            </a:r>
            <a:endParaRPr lang="en-US" sz="1200" dirty="0"/>
          </a:p>
        </p:txBody>
      </p:sp>
      <p:pic>
        <p:nvPicPr>
          <p:cNvPr id="22" name="Hill Country thumb" descr="Hill Country">
            <a:hlinkClick r:id="rId10" tooltip="Open the Hill Country live site"/>
          </p:cNvPr>
          <p:cNvPicPr>
            <a:picLocks noChangeAspect="1"/>
          </p:cNvPicPr>
          <p:nvPr/>
        </p:nvPicPr>
        <p:blipFill>
          <a:blip r:embed="rId9">
            <a:alphaModFix amt="45000"/>
          </a:blip>
          <a:stretch>
            <a:fillRect/>
          </a:stretch>
        </p:blipFill>
        <p:spPr>
          <a:xfrm>
            <a:off x="9440631" y="2743200"/>
            <a:ext cx="1864096" cy="1091343"/>
          </a:xfrm>
          <a:prstGeom prst="rect">
            <a:avLst/>
          </a:prstGeom>
        </p:spPr>
      </p:pic>
      <p:sp>
        <p:nvSpPr>
          <p:cNvPr id="23" name="Text 16"/>
          <p:cNvSpPr txBox="1"/>
          <p:nvPr/>
        </p:nvSpPr>
        <p:spPr>
          <a:xfrm>
            <a:off x="9440631" y="4063143"/>
            <a:ext cx="1864096"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05</a:t>
            </a:r>
            <a:endParaRPr lang="en-US" sz="1000" dirty="0"/>
          </a:p>
        </p:txBody>
      </p:sp>
      <p:sp>
        <p:nvSpPr>
          <p:cNvPr id="24" name="Text 17"/>
          <p:cNvSpPr txBox="1"/>
          <p:nvPr/>
        </p:nvSpPr>
        <p:spPr>
          <a:xfrm>
            <a:off x="9440631" y="4310031"/>
            <a:ext cx="1864096" cy="365760"/>
          </a:xfrm>
          <a:prstGeom prst="rect">
            <a:avLst/>
          </a:prstGeom>
          <a:noFill/>
          <a:ln/>
        </p:spPr>
        <p:txBody>
          <a:bodyPr wrap="square" lIns="0" tIns="0" rIns="0" bIns="0" rtlCol="0" anchor="t"/>
          <a:lstStyle/>
          <a:p>
            <a:pPr indent="0" marL="0">
              <a:buNone/>
            </a:pPr>
            <a:r>
              <a:rPr lang="en-US" sz="1800" b="1" dirty="0">
                <a:solidFill>
                  <a:srgbClr val="8C826F"/>
                </a:solidFill>
                <a:latin typeface="Cambria" pitchFamily="34" charset="0"/>
                <a:ea typeface="Cambria" pitchFamily="34" charset="-122"/>
                <a:cs typeface="Cambria" pitchFamily="34" charset="-120"/>
              </a:rPr>
              <a:t>Hill Country</a:t>
            </a:r>
            <a:endParaRPr lang="en-US" sz="1800" dirty="0"/>
          </a:p>
        </p:txBody>
      </p:sp>
      <p:sp>
        <p:nvSpPr>
          <p:cNvPr id="25" name="Text 18"/>
          <p:cNvSpPr txBox="1"/>
          <p:nvPr/>
        </p:nvSpPr>
        <p:spPr>
          <a:xfrm>
            <a:off x="9440631" y="4675791"/>
            <a:ext cx="1864096" cy="365760"/>
          </a:xfrm>
          <a:prstGeom prst="rect">
            <a:avLst/>
          </a:prstGeom>
          <a:noFill/>
          <a:ln/>
        </p:spPr>
        <p:txBody>
          <a:bodyPr wrap="square" lIns="0" tIns="0" rIns="0" bIns="0" rtlCol="0" anchor="t"/>
          <a:lstStyle/>
          <a:p>
            <a:pPr indent="0" marL="0">
              <a:buNone/>
            </a:pPr>
            <a:r>
              <a:rPr lang="en-US" sz="1200" dirty="0">
                <a:solidFill>
                  <a:srgbClr val="6E6656"/>
                </a:solidFill>
              </a:rPr>
              <a:t>Warm, friendly, welcoming.</a:t>
            </a:r>
            <a:endParaRPr lang="en-US" sz="1200" dirty="0"/>
          </a:p>
        </p:txBody>
      </p:sp>
      <p:sp>
        <p:nvSpPr>
          <p:cNvPr id="26" name="rock marker"/>
          <p:cNvSpPr txBox="1"/>
          <p:nvPr/>
        </p:nvSpPr>
        <p:spPr>
          <a:xfrm>
            <a:off x="886968" y="6291072"/>
            <a:ext cx="2930652" cy="292608"/>
          </a:xfrm>
          <a:prstGeom prst="roundRect">
            <a:avLst>
              <a:gd name="adj" fmla="val 50000"/>
            </a:avLst>
          </a:prstGeom>
          <a:noFill/>
          <a:ln w="9525">
            <a:solidFill>
              <a:srgbClr val="A9792A"/>
            </a:solidFill>
          </a:ln>
        </p:spPr>
        <p:txBody>
          <a:bodyPr wrap="square" lIns="0" tIns="0" rIns="0" bIns="0" rtlCol="0" anchor="ctr"/>
          <a:lstStyle/>
          <a:p>
            <a:pPr algn="ctr" indent="0" marL="0">
              <a:buNone/>
            </a:pPr>
            <a:r>
              <a:rPr lang="en-US" sz="900" b="1" spc="150" kern="0" dirty="0">
                <a:solidFill>
                  <a:schemeClr val="accent1"/>
                </a:solidFill>
              </a:rPr>
              <a:t>WEBSITE ROCK · MILESTONE 1 OF 4 ✓</a:t>
            </a:r>
            <a:endParaRPr lang="en-US" sz="9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ig Sky frame"/>
          <p:cNvSpPr/>
          <p:nvPr/>
        </p:nvSpPr>
        <p:spPr>
          <a:xfrm>
            <a:off x="1706728" y="384048"/>
            <a:ext cx="8778240" cy="5358717"/>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3" name="Big Sky dot 1"/>
          <p:cNvSpPr/>
          <p:nvPr/>
        </p:nvSpPr>
        <p:spPr>
          <a:xfrm>
            <a:off x="1805483" y="458663"/>
            <a:ext cx="70226" cy="70226"/>
          </a:xfrm>
          <a:prstGeom prst="ellipse">
            <a:avLst/>
          </a:prstGeom>
          <a:solidFill>
            <a:srgbClr val="3B342A"/>
          </a:solidFill>
          <a:ln w="12700">
            <a:solidFill>
              <a:srgbClr val="3B342A"/>
            </a:solidFill>
            <a:prstDash val="solid"/>
          </a:ln>
        </p:spPr>
      </p:sp>
      <p:sp>
        <p:nvSpPr>
          <p:cNvPr id="4" name="Big Sky dot 2"/>
          <p:cNvSpPr/>
          <p:nvPr/>
        </p:nvSpPr>
        <p:spPr>
          <a:xfrm>
            <a:off x="1924867" y="458663"/>
            <a:ext cx="70226" cy="70226"/>
          </a:xfrm>
          <a:prstGeom prst="ellipse">
            <a:avLst/>
          </a:prstGeom>
          <a:solidFill>
            <a:srgbClr val="3B342A"/>
          </a:solidFill>
          <a:ln w="12700">
            <a:solidFill>
              <a:srgbClr val="3B342A"/>
            </a:solidFill>
            <a:prstDash val="solid"/>
          </a:ln>
        </p:spPr>
      </p:sp>
      <p:sp>
        <p:nvSpPr>
          <p:cNvPr id="5" name="Big Sky dot 3"/>
          <p:cNvSpPr/>
          <p:nvPr/>
        </p:nvSpPr>
        <p:spPr>
          <a:xfrm>
            <a:off x="2044251" y="458663"/>
            <a:ext cx="70226" cy="70226"/>
          </a:xfrm>
          <a:prstGeom prst="ellipse">
            <a:avLst/>
          </a:prstGeom>
          <a:solidFill>
            <a:srgbClr val="3B342A"/>
          </a:solidFill>
          <a:ln w="12700">
            <a:solidFill>
              <a:srgbClr val="3B342A"/>
            </a:solidFill>
            <a:prstDash val="solid"/>
          </a:ln>
        </p:spPr>
      </p:sp>
      <p:pic>
        <p:nvPicPr>
          <p:cNvPr id="6" name="Big Sky screenshot" descr="Big Sky homepage concept">    </p:cNvPr>
          <p:cNvPicPr>
            <a:picLocks noChangeAspect="1"/>
          </p:cNvPicPr>
          <p:nvPr/>
        </p:nvPicPr>
        <p:blipFill>
          <a:blip r:embed="rId1"/>
          <a:stretch>
            <a:fillRect/>
          </a:stretch>
        </p:blipFill>
        <p:spPr>
          <a:xfrm>
            <a:off x="1706728" y="603504"/>
            <a:ext cx="8778240" cy="5139261"/>
          </a:xfrm>
          <a:prstGeom prst="rect">
            <a:avLst/>
          </a:prstGeom>
        </p:spPr>
      </p:pic>
      <p:sp>
        <p:nvSpPr>
          <p:cNvPr id="7" name="Text 4"/>
          <p:cNvSpPr txBox="1"/>
          <p:nvPr/>
        </p:nvSpPr>
        <p:spPr>
          <a:xfrm>
            <a:off x="1706728" y="6090237"/>
            <a:ext cx="457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01</a:t>
            </a:r>
            <a:endParaRPr lang="en-US" sz="1200" dirty="0"/>
          </a:p>
        </p:txBody>
      </p:sp>
      <p:sp>
        <p:nvSpPr>
          <p:cNvPr id="8" name="Text 5"/>
          <p:cNvSpPr txBox="1"/>
          <p:nvPr/>
        </p:nvSpPr>
        <p:spPr>
          <a:xfrm>
            <a:off x="2209648" y="5998797"/>
            <a:ext cx="2606040" cy="457200"/>
          </a:xfrm>
          <a:prstGeom prst="rect">
            <a:avLst/>
          </a:prstGeom>
          <a:noFill/>
          <a:ln/>
        </p:spPr>
        <p:txBody>
          <a:bodyPr wrap="square" lIns="0" tIns="0" rIns="0" bIns="0" rtlCol="0" anchor="t"/>
          <a:lstStyle/>
          <a:p>
            <a:pPr indent="0" marL="0">
              <a:buNone/>
            </a:pPr>
            <a:r>
              <a:rPr lang="en-US" sz="2600" b="1" dirty="0">
                <a:solidFill>
                  <a:schemeClr val="bg2"/>
                </a:solidFill>
                <a:latin typeface="Cambria" pitchFamily="34" charset="0"/>
                <a:ea typeface="Cambria" pitchFamily="34" charset="-122"/>
                <a:cs typeface="Cambria" pitchFamily="34" charset="-120"/>
              </a:rPr>
              <a:t>Big Sky</a:t>
            </a:r>
            <a:endParaRPr lang="en-US" sz="2600" dirty="0"/>
          </a:p>
        </p:txBody>
      </p:sp>
      <p:sp>
        <p:nvSpPr>
          <p:cNvPr id="9" name="Text 6"/>
          <p:cNvSpPr txBox="1"/>
          <p:nvPr/>
        </p:nvSpPr>
        <p:spPr>
          <a:xfrm>
            <a:off x="4861408" y="6053661"/>
            <a:ext cx="2560320" cy="365760"/>
          </a:xfrm>
          <a:prstGeom prst="rect">
            <a:avLst/>
          </a:prstGeom>
          <a:noFill/>
          <a:ln/>
        </p:spPr>
        <p:txBody>
          <a:bodyPr wrap="square" lIns="0" tIns="0" rIns="0" bIns="0" rtlCol="0" anchor="t"/>
          <a:lstStyle/>
          <a:p>
            <a:pPr indent="0" marL="0">
              <a:buNone/>
            </a:pPr>
            <a:r>
              <a:rPr lang="en-US" sz="1500" dirty="0">
                <a:solidFill>
                  <a:srgbClr val="BDB4A2"/>
                </a:solidFill>
              </a:rPr>
              <a:t>Warm, editorial, timeless.</a:t>
            </a:r>
            <a:endParaRPr lang="en-US" sz="1500" dirty="0"/>
          </a:p>
        </p:txBody>
      </p:sp>
      <p:sp>
        <p:nvSpPr>
          <p:cNvPr id="10" name="Big Sky live link"/>
          <p:cNvSpPr txBox="1"/>
          <p:nvPr/>
        </p:nvSpPr>
        <p:spPr>
          <a:xfrm>
            <a:off x="9159088" y="6035373"/>
            <a:ext cx="1325880" cy="329184"/>
          </a:xfrm>
          <a:prstGeom prst="rect">
            <a:avLst/>
          </a:prstGeom>
          <a:solidFill>
            <a:schemeClr val="accent1"/>
          </a:solidFill>
          <a:ln/>
        </p:spPr>
        <p:txBody>
          <a:bodyPr wrap="square" lIns="0" tIns="0" rIns="0" bIns="0" rtlCol="0" anchor="ctr"/>
          <a:lstStyle/>
          <a:p>
            <a:pPr algn="ctr" indent="0" marL="0">
              <a:buNone/>
            </a:pPr>
            <a:r>
              <a:rPr lang="en-US" sz="1000" b="1" u="sng" spc="200" kern="0" dirty="0">
                <a:solidFill>
                  <a:schemeClr val="tx2"/>
                </a:solidFill>
                <a:hlinkClick r:id="rId2" invalidUrl="" action="" tgtFrame="" tooltip="Open the Big Sky live site" history="1" highlightClick="0" endSnd="0">
                  <a:extLst>
                    <a:ext uri="{A12FA001-AC4F-418D-AE19-62706E023703}">
                      <ahyp:hlinkClr xmlns:ahyp="http://schemas.microsoft.com/office/drawing/2018/hyperlinkcolor" val="tx"/>
                    </a:ext>
                  </a:extLst>
                </a:hlinkClick>
              </a:rPr>
              <a:t>OPEN LIVE ↗</a:t>
            </a:r>
            <a:endParaRPr lang="en-US" sz="1000" dirty="0"/>
          </a:p>
        </p:txBody>
      </p:sp>
      <p:sp>
        <p:nvSpPr>
          <p:cNvPr id="11" name="Text 8"/>
          <p:cNvSpPr txBox="1"/>
          <p:nvPr/>
        </p:nvSpPr>
        <p:spPr>
          <a:xfrm>
            <a:off x="7513168" y="6035373"/>
            <a:ext cx="1508760" cy="329184"/>
          </a:xfrm>
          <a:prstGeom prst="rect">
            <a:avLst/>
          </a:prstGeom>
          <a:noFill/>
          <a:ln w="9525">
            <a:solidFill>
              <a:schemeClr val="accent2"/>
            </a:solidFill>
          </a:ln>
        </p:spPr>
        <p:txBody>
          <a:bodyPr wrap="square" lIns="0" tIns="0" rIns="0" bIns="0" rtlCol="0" anchor="ctr"/>
          <a:lstStyle/>
          <a:p>
            <a:pPr algn="ctr" indent="0" marL="0">
              <a:buNone/>
            </a:pPr>
            <a:r>
              <a:rPr lang="en-US" sz="1000" b="1" spc="200" kern="0" dirty="0">
                <a:solidFill>
                  <a:schemeClr val="accent1"/>
                </a:solidFill>
              </a:rPr>
              <a:t>FEATURED 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ig Sky frame"/>
          <p:cNvSpPr/>
          <p:nvPr/>
        </p:nvSpPr>
        <p:spPr>
          <a:xfrm>
            <a:off x="886968" y="1840604"/>
            <a:ext cx="5394960" cy="3359672"/>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3" name="Big Sky dot 1"/>
          <p:cNvSpPr/>
          <p:nvPr/>
        </p:nvSpPr>
        <p:spPr>
          <a:xfrm>
            <a:off x="977494" y="1909001"/>
            <a:ext cx="64374" cy="64374"/>
          </a:xfrm>
          <a:prstGeom prst="ellipse">
            <a:avLst/>
          </a:prstGeom>
          <a:solidFill>
            <a:srgbClr val="3B342A"/>
          </a:solidFill>
          <a:ln w="12700">
            <a:solidFill>
              <a:srgbClr val="3B342A"/>
            </a:solidFill>
            <a:prstDash val="solid"/>
          </a:ln>
        </p:spPr>
      </p:sp>
      <p:sp>
        <p:nvSpPr>
          <p:cNvPr id="4" name="Big Sky dot 2"/>
          <p:cNvSpPr/>
          <p:nvPr/>
        </p:nvSpPr>
        <p:spPr>
          <a:xfrm>
            <a:off x="1086929" y="1909001"/>
            <a:ext cx="64374" cy="64374"/>
          </a:xfrm>
          <a:prstGeom prst="ellipse">
            <a:avLst/>
          </a:prstGeom>
          <a:solidFill>
            <a:srgbClr val="3B342A"/>
          </a:solidFill>
          <a:ln w="12700">
            <a:solidFill>
              <a:srgbClr val="3B342A"/>
            </a:solidFill>
            <a:prstDash val="solid"/>
          </a:ln>
        </p:spPr>
      </p:sp>
      <p:sp>
        <p:nvSpPr>
          <p:cNvPr id="5" name="Big Sky dot 3"/>
          <p:cNvSpPr/>
          <p:nvPr/>
        </p:nvSpPr>
        <p:spPr>
          <a:xfrm>
            <a:off x="1196364" y="1909001"/>
            <a:ext cx="64374" cy="64374"/>
          </a:xfrm>
          <a:prstGeom prst="ellipse">
            <a:avLst/>
          </a:prstGeom>
          <a:solidFill>
            <a:srgbClr val="3B342A"/>
          </a:solidFill>
          <a:ln w="12700">
            <a:solidFill>
              <a:srgbClr val="3B342A"/>
            </a:solidFill>
            <a:prstDash val="solid"/>
          </a:ln>
        </p:spPr>
      </p:sp>
      <p:pic>
        <p:nvPicPr>
          <p:cNvPr id="6" name="Big Sky screenshot" descr="Big Sky homepage concept">    </p:cNvPr>
          <p:cNvPicPr>
            <a:picLocks noChangeAspect="1"/>
          </p:cNvPicPr>
          <p:nvPr/>
        </p:nvPicPr>
        <p:blipFill>
          <a:blip r:embed="rId1"/>
          <a:stretch>
            <a:fillRect/>
          </a:stretch>
        </p:blipFill>
        <p:spPr>
          <a:xfrm>
            <a:off x="886968" y="2041772"/>
            <a:ext cx="5394960" cy="3158504"/>
          </a:xfrm>
          <a:prstGeom prst="rect">
            <a:avLst/>
          </a:prstGeom>
        </p:spPr>
      </p:pic>
      <p:sp>
        <p:nvSpPr>
          <p:cNvPr id="7" name="Big Sky live link"/>
          <p:cNvSpPr txBox="1"/>
          <p:nvPr/>
        </p:nvSpPr>
        <p:spPr>
          <a:xfrm>
            <a:off x="886968" y="5474596"/>
            <a:ext cx="2103120" cy="347472"/>
          </a:xfrm>
          <a:prstGeom prst="rect">
            <a:avLst/>
          </a:prstGeom>
          <a:solidFill>
            <a:schemeClr val="accent1"/>
          </a:solidFill>
          <a:ln/>
        </p:spPr>
        <p:txBody>
          <a:bodyPr wrap="square" lIns="0" tIns="0" rIns="0" bIns="0" rtlCol="0" anchor="ctr"/>
          <a:lstStyle/>
          <a:p>
            <a:pPr algn="ctr" indent="0" marL="0">
              <a:buNone/>
            </a:pPr>
            <a:r>
              <a:rPr lang="en-US" sz="1000" b="1" u="sng" spc="200" kern="0" dirty="0">
                <a:solidFill>
                  <a:schemeClr val="tx2"/>
                </a:solidFill>
                <a:hlinkClick r:id="rId2" invalidUrl="" action="" tgtFrame="" tooltip="Open the Big Sky live site" history="1" highlightClick="0" endSnd="0">
                  <a:extLst>
                    <a:ext uri="{A12FA001-AC4F-418D-AE19-62706E023703}">
                      <ahyp:hlinkClr xmlns:ahyp="http://schemas.microsoft.com/office/drawing/2018/hyperlinkcolor" val="tx"/>
                    </a:ext>
                  </a:extLst>
                </a:hlinkClick>
              </a:rPr>
              <a:t>OPEN THE LIVE SITE ↗</a:t>
            </a:r>
            <a:endParaRPr lang="en-US" sz="1000" dirty="0"/>
          </a:p>
        </p:txBody>
      </p:sp>
      <p:sp>
        <p:nvSpPr>
          <p:cNvPr id="8" name="Text 5"/>
          <p:cNvSpPr txBox="1"/>
          <p:nvPr/>
        </p:nvSpPr>
        <p:spPr>
          <a:xfrm>
            <a:off x="6720840" y="1097280"/>
            <a:ext cx="4583887" cy="274320"/>
          </a:xfrm>
          <a:prstGeom prst="rect">
            <a:avLst/>
          </a:prstGeom>
          <a:noFill/>
          <a:ln/>
        </p:spPr>
        <p:txBody>
          <a:bodyPr wrap="square" lIns="0" tIns="0" rIns="0" bIns="0" rtlCol="0" anchor="t"/>
          <a:lstStyle/>
          <a:p>
            <a:pPr indent="0" marL="0">
              <a:buNone/>
            </a:pPr>
            <a:r>
              <a:rPr lang="en-US" sz="1100" b="1" spc="300" kern="0" dirty="0">
                <a:solidFill>
                  <a:schemeClr val="accent2"/>
                </a:solidFill>
              </a:rPr>
              <a:t>FEATURED A · 01</a:t>
            </a:r>
            <a:endParaRPr lang="en-US" sz="1100" dirty="0"/>
          </a:p>
        </p:txBody>
      </p:sp>
      <p:sp>
        <p:nvSpPr>
          <p:cNvPr id="9" name="Text 6"/>
          <p:cNvSpPr txBox="1"/>
          <p:nvPr/>
        </p:nvSpPr>
        <p:spPr>
          <a:xfrm>
            <a:off x="6720840" y="1417320"/>
            <a:ext cx="4583887" cy="685800"/>
          </a:xfrm>
          <a:prstGeom prst="rect">
            <a:avLst/>
          </a:prstGeom>
          <a:noFill/>
          <a:ln/>
        </p:spPr>
        <p:txBody>
          <a:bodyPr wrap="square" lIns="0" tIns="0" rIns="0" bIns="0" rtlCol="0" anchor="t"/>
          <a:lstStyle/>
          <a:p>
            <a:pPr indent="0" marL="0">
              <a:buNone/>
            </a:pPr>
            <a:r>
              <a:rPr lang="en-US" sz="3800" b="1" dirty="0">
                <a:solidFill>
                  <a:schemeClr val="tx1"/>
                </a:solidFill>
                <a:latin typeface="Cambria" pitchFamily="34" charset="0"/>
                <a:ea typeface="Cambria" pitchFamily="34" charset="-122"/>
                <a:cs typeface="Cambria" pitchFamily="34" charset="-120"/>
              </a:rPr>
              <a:t>Big Sky</a:t>
            </a:r>
            <a:endParaRPr lang="en-US" sz="3800" dirty="0"/>
          </a:p>
        </p:txBody>
      </p:sp>
      <p:sp>
        <p:nvSpPr>
          <p:cNvPr id="10" name="Text 7"/>
          <p:cNvSpPr txBox="1"/>
          <p:nvPr/>
        </p:nvSpPr>
        <p:spPr>
          <a:xfrm>
            <a:off x="6720840" y="2194560"/>
            <a:ext cx="4583887" cy="777240"/>
          </a:xfrm>
          <a:prstGeom prst="rect">
            <a:avLst/>
          </a:prstGeom>
          <a:noFill/>
          <a:ln/>
        </p:spPr>
        <p:txBody>
          <a:bodyPr wrap="square" lIns="0" tIns="0" rIns="0" bIns="0" rtlCol="0" anchor="t"/>
          <a:lstStyle/>
          <a:p>
            <a:pPr indent="0" marL="0">
              <a:buNone/>
            </a:pPr>
            <a:r>
              <a:rPr lang="en-US" sz="1800" i="1" dirty="0">
                <a:solidFill>
                  <a:schemeClr val="accent2"/>
                </a:solidFill>
                <a:latin typeface="Cambria" pitchFamily="34" charset="0"/>
                <a:ea typeface="Cambria" pitchFamily="34" charset="-122"/>
                <a:cs typeface="Cambria" pitchFamily="34" charset="-120"/>
              </a:rPr>
              <a:t>“A family company that’s been doing this right for a long time.”</a:t>
            </a:r>
            <a:endParaRPr lang="en-US" sz="1800" dirty="0"/>
          </a:p>
        </p:txBody>
      </p:sp>
      <p:sp>
        <p:nvSpPr>
          <p:cNvPr id="11" name="Text 8"/>
          <p:cNvSpPr txBox="1"/>
          <p:nvPr/>
        </p:nvSpPr>
        <p:spPr>
          <a:xfrm>
            <a:off x="6720840" y="3108960"/>
            <a:ext cx="4583887" cy="25146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chemeClr val="tx1"/>
                </a:solidFill>
              </a:rPr>
              <a:t>The gold is ours. </a:t>
            </a:r>
            <a:pPr indent="0" marL="0">
              <a:spcAft>
                <a:spcPts val="900"/>
              </a:spcAft>
              <a:buNone/>
            </a:pPr>
            <a:r>
              <a:rPr lang="en-US" sz="1500" dirty="0">
                <a:solidFill>
                  <a:schemeClr val="tx1"/>
                </a:solidFill>
              </a:rPr>
              <a:t>Its palette is the ACE mark — the logo looks native, not placed.</a:t>
            </a:r>
            <a:endParaRPr lang="en-US" sz="1500" dirty="0"/>
          </a:p>
          <a:p>
            <a:pPr marL="203200" indent="-203200">
              <a:spcAft>
                <a:spcPts val="900"/>
              </a:spcAft>
              <a:buSzPct val="100000"/>
              <a:buChar char="•"/>
            </a:pPr>
            <a:r>
              <a:rPr lang="en-US" sz="1500" b="1" dirty="0">
                <a:solidFill>
                  <a:schemeClr val="tx1"/>
                </a:solidFill>
              </a:rPr>
              <a:t>Editorial serif = credibility. </a:t>
            </a:r>
            <a:pPr indent="0" marL="0">
              <a:spcAft>
                <a:spcPts val="900"/>
              </a:spcAft>
              <a:buNone/>
            </a:pPr>
            <a:r>
              <a:rPr lang="en-US" sz="1500" dirty="0">
                <a:solidFill>
                  <a:schemeClr val="tx1"/>
                </a:solidFill>
              </a:rPr>
              <a:t>Reads established without reading corporate.</a:t>
            </a:r>
            <a:endParaRPr lang="en-US" sz="1500" dirty="0"/>
          </a:p>
          <a:p>
            <a:pPr marL="203200" indent="-203200">
              <a:spcAft>
                <a:spcPts val="900"/>
              </a:spcAft>
              <a:buSzPct val="100000"/>
              <a:buChar char="•"/>
            </a:pPr>
            <a:r>
              <a:rPr lang="en-US" sz="1500" b="1" dirty="0">
                <a:solidFill>
                  <a:schemeClr val="tx1"/>
                </a:solidFill>
              </a:rPr>
              <a:t>“Delivered like family” </a:t>
            </a:r>
            <a:pPr indent="0" marL="0">
              <a:spcAft>
                <a:spcPts val="900"/>
              </a:spcAft>
              <a:buNone/>
            </a:pPr>
            <a:r>
              <a:rPr lang="en-US" sz="1500" dirty="0">
                <a:solidFill>
                  <a:schemeClr val="tx1"/>
                </a:solidFill>
              </a:rPr>
              <a:t>says the family-company promise without a history lesson.</a:t>
            </a:r>
            <a:endParaRPr lang="en-US" sz="1500" dirty="0"/>
          </a:p>
          <a:p>
            <a:pPr marL="203200" indent="-203200">
              <a:spcAft>
                <a:spcPts val="900"/>
              </a:spcAft>
              <a:buSzPct val="100000"/>
              <a:buChar char="•"/>
            </a:pPr>
            <a:r>
              <a:rPr lang="en-US" sz="1500" b="1" dirty="0">
                <a:solidFill>
                  <a:schemeClr val="accent3"/>
                </a:solidFill>
              </a:rPr>
              <a:t>Watch: </a:t>
            </a:r>
            <a:pPr indent="0" marL="0">
              <a:spcAft>
                <a:spcPts val="900"/>
              </a:spcAft>
              <a:buNone/>
            </a:pPr>
            <a:r>
              <a:rPr lang="en-US" sz="1500" dirty="0">
                <a:solidFill>
                  <a:schemeClr val="accent3"/>
                </a:solidFill>
              </a:rPr>
              <a:t>Can read soft or lifestyle to hard-nosed fleet buyers.</a:t>
            </a:r>
            <a:endParaRPr lang="en-US" sz="1500" dirty="0"/>
          </a:p>
        </p:txBody>
      </p:sp>
      <p:sp>
        <p:nvSpPr>
          <p:cNvPr id="12" name="swatch 1"/>
          <p:cNvSpPr/>
          <p:nvPr/>
        </p:nvSpPr>
        <p:spPr>
          <a:xfrm>
            <a:off x="6720840" y="5760720"/>
            <a:ext cx="292608" cy="292608"/>
          </a:xfrm>
          <a:prstGeom prst="ellipse">
            <a:avLst/>
          </a:prstGeom>
          <a:solidFill>
            <a:srgbClr val="D6A64A"/>
          </a:solidFill>
          <a:ln w="6350">
            <a:solidFill>
              <a:srgbClr val="CFC4AE"/>
            </a:solidFill>
            <a:prstDash val="solid"/>
          </a:ln>
        </p:spPr>
      </p:sp>
      <p:sp>
        <p:nvSpPr>
          <p:cNvPr id="13" name="swatch 2"/>
          <p:cNvSpPr/>
          <p:nvPr/>
        </p:nvSpPr>
        <p:spPr>
          <a:xfrm>
            <a:off x="7104888" y="5760720"/>
            <a:ext cx="292608" cy="292608"/>
          </a:xfrm>
          <a:prstGeom prst="ellipse">
            <a:avLst/>
          </a:prstGeom>
          <a:solidFill>
            <a:srgbClr val="2A1D10"/>
          </a:solidFill>
          <a:ln w="6350">
            <a:solidFill>
              <a:srgbClr val="CFC4AE"/>
            </a:solidFill>
            <a:prstDash val="solid"/>
          </a:ln>
        </p:spPr>
      </p:sp>
      <p:sp>
        <p:nvSpPr>
          <p:cNvPr id="14" name="swatch 3"/>
          <p:cNvSpPr/>
          <p:nvPr/>
        </p:nvSpPr>
        <p:spPr>
          <a:xfrm>
            <a:off x="7488936" y="5760720"/>
            <a:ext cx="292608" cy="292608"/>
          </a:xfrm>
          <a:prstGeom prst="ellipse">
            <a:avLst/>
          </a:prstGeom>
          <a:solidFill>
            <a:srgbClr val="F4ECDC"/>
          </a:solidFill>
          <a:ln w="6350">
            <a:solidFill>
              <a:srgbClr val="CFC4AE"/>
            </a:solidFill>
            <a:prstDash val="solid"/>
          </a:ln>
        </p:spPr>
      </p:sp>
      <p:sp>
        <p:nvSpPr>
          <p:cNvPr id="15" name="Text 12"/>
          <p:cNvSpPr txBox="1"/>
          <p:nvPr/>
        </p:nvSpPr>
        <p:spPr>
          <a:xfrm>
            <a:off x="8001000" y="5824728"/>
            <a:ext cx="3303727"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GOLD · PRAIRIE HERITAGE</a:t>
            </a:r>
            <a:endParaRPr lang="en-US" sz="10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Heartland Steel frame"/>
          <p:cNvSpPr/>
          <p:nvPr/>
        </p:nvSpPr>
        <p:spPr>
          <a:xfrm>
            <a:off x="1706728" y="384048"/>
            <a:ext cx="8778240" cy="5358717"/>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3" name="Heartland Steel dot 1"/>
          <p:cNvSpPr/>
          <p:nvPr/>
        </p:nvSpPr>
        <p:spPr>
          <a:xfrm>
            <a:off x="1805483" y="458663"/>
            <a:ext cx="70226" cy="70226"/>
          </a:xfrm>
          <a:prstGeom prst="ellipse">
            <a:avLst/>
          </a:prstGeom>
          <a:solidFill>
            <a:srgbClr val="3B342A"/>
          </a:solidFill>
          <a:ln w="12700">
            <a:solidFill>
              <a:srgbClr val="3B342A"/>
            </a:solidFill>
            <a:prstDash val="solid"/>
          </a:ln>
        </p:spPr>
      </p:sp>
      <p:sp>
        <p:nvSpPr>
          <p:cNvPr id="4" name="Heartland Steel dot 2"/>
          <p:cNvSpPr/>
          <p:nvPr/>
        </p:nvSpPr>
        <p:spPr>
          <a:xfrm>
            <a:off x="1924867" y="458663"/>
            <a:ext cx="70226" cy="70226"/>
          </a:xfrm>
          <a:prstGeom prst="ellipse">
            <a:avLst/>
          </a:prstGeom>
          <a:solidFill>
            <a:srgbClr val="3B342A"/>
          </a:solidFill>
          <a:ln w="12700">
            <a:solidFill>
              <a:srgbClr val="3B342A"/>
            </a:solidFill>
            <a:prstDash val="solid"/>
          </a:ln>
        </p:spPr>
      </p:sp>
      <p:sp>
        <p:nvSpPr>
          <p:cNvPr id="5" name="Heartland Steel dot 3"/>
          <p:cNvSpPr/>
          <p:nvPr/>
        </p:nvSpPr>
        <p:spPr>
          <a:xfrm>
            <a:off x="2044251" y="458663"/>
            <a:ext cx="70226" cy="70226"/>
          </a:xfrm>
          <a:prstGeom prst="ellipse">
            <a:avLst/>
          </a:prstGeom>
          <a:solidFill>
            <a:srgbClr val="3B342A"/>
          </a:solidFill>
          <a:ln w="12700">
            <a:solidFill>
              <a:srgbClr val="3B342A"/>
            </a:solidFill>
            <a:prstDash val="solid"/>
          </a:ln>
        </p:spPr>
      </p:sp>
      <p:pic>
        <p:nvPicPr>
          <p:cNvPr id="6" name="Heartland Steel screenshot" descr="Heartland Steel homepage concept">    </p:cNvPr>
          <p:cNvPicPr>
            <a:picLocks noChangeAspect="1"/>
          </p:cNvPicPr>
          <p:nvPr/>
        </p:nvPicPr>
        <p:blipFill>
          <a:blip r:embed="rId1"/>
          <a:stretch>
            <a:fillRect/>
          </a:stretch>
        </p:blipFill>
        <p:spPr>
          <a:xfrm>
            <a:off x="1706728" y="603504"/>
            <a:ext cx="8778240" cy="5139261"/>
          </a:xfrm>
          <a:prstGeom prst="rect">
            <a:avLst/>
          </a:prstGeom>
        </p:spPr>
      </p:pic>
      <p:sp>
        <p:nvSpPr>
          <p:cNvPr id="7" name="Text 4"/>
          <p:cNvSpPr txBox="1"/>
          <p:nvPr/>
        </p:nvSpPr>
        <p:spPr>
          <a:xfrm>
            <a:off x="1706728" y="6090237"/>
            <a:ext cx="457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04</a:t>
            </a:r>
            <a:endParaRPr lang="en-US" sz="1200" dirty="0"/>
          </a:p>
        </p:txBody>
      </p:sp>
      <p:sp>
        <p:nvSpPr>
          <p:cNvPr id="8" name="Text 5"/>
          <p:cNvSpPr txBox="1"/>
          <p:nvPr/>
        </p:nvSpPr>
        <p:spPr>
          <a:xfrm>
            <a:off x="2209648" y="5998797"/>
            <a:ext cx="2606040" cy="457200"/>
          </a:xfrm>
          <a:prstGeom prst="rect">
            <a:avLst/>
          </a:prstGeom>
          <a:noFill/>
          <a:ln/>
        </p:spPr>
        <p:txBody>
          <a:bodyPr wrap="square" lIns="0" tIns="0" rIns="0" bIns="0" rtlCol="0" anchor="t"/>
          <a:lstStyle/>
          <a:p>
            <a:pPr indent="0" marL="0">
              <a:buNone/>
            </a:pPr>
            <a:r>
              <a:rPr lang="en-US" sz="2600" b="1" dirty="0">
                <a:solidFill>
                  <a:schemeClr val="bg2"/>
                </a:solidFill>
                <a:latin typeface="Cambria" pitchFamily="34" charset="0"/>
                <a:ea typeface="Cambria" pitchFamily="34" charset="-122"/>
                <a:cs typeface="Cambria" pitchFamily="34" charset="-120"/>
              </a:rPr>
              <a:t>Heartland Steel</a:t>
            </a:r>
            <a:endParaRPr lang="en-US" sz="2600" dirty="0"/>
          </a:p>
        </p:txBody>
      </p:sp>
      <p:sp>
        <p:nvSpPr>
          <p:cNvPr id="9" name="Text 6"/>
          <p:cNvSpPr txBox="1"/>
          <p:nvPr/>
        </p:nvSpPr>
        <p:spPr>
          <a:xfrm>
            <a:off x="4861408" y="6053661"/>
            <a:ext cx="2560320" cy="365760"/>
          </a:xfrm>
          <a:prstGeom prst="rect">
            <a:avLst/>
          </a:prstGeom>
          <a:noFill/>
          <a:ln/>
        </p:spPr>
        <p:txBody>
          <a:bodyPr wrap="square" lIns="0" tIns="0" rIns="0" bIns="0" rtlCol="0" anchor="t"/>
          <a:lstStyle/>
          <a:p>
            <a:pPr indent="0" marL="0">
              <a:buNone/>
            </a:pPr>
            <a:r>
              <a:rPr lang="en-US" sz="1500" dirty="0">
                <a:solidFill>
                  <a:srgbClr val="BDB4A2"/>
                </a:solidFill>
              </a:rPr>
              <a:t>Bold, cinematic, industrial.</a:t>
            </a:r>
            <a:endParaRPr lang="en-US" sz="1500" dirty="0"/>
          </a:p>
        </p:txBody>
      </p:sp>
      <p:sp>
        <p:nvSpPr>
          <p:cNvPr id="10" name="Heartland Steel live link"/>
          <p:cNvSpPr txBox="1"/>
          <p:nvPr/>
        </p:nvSpPr>
        <p:spPr>
          <a:xfrm>
            <a:off x="9159088" y="6035373"/>
            <a:ext cx="1325880" cy="329184"/>
          </a:xfrm>
          <a:prstGeom prst="rect">
            <a:avLst/>
          </a:prstGeom>
          <a:solidFill>
            <a:schemeClr val="accent1"/>
          </a:solidFill>
          <a:ln/>
        </p:spPr>
        <p:txBody>
          <a:bodyPr wrap="square" lIns="0" tIns="0" rIns="0" bIns="0" rtlCol="0" anchor="ctr"/>
          <a:lstStyle/>
          <a:p>
            <a:pPr algn="ctr" indent="0" marL="0">
              <a:buNone/>
            </a:pPr>
            <a:r>
              <a:rPr lang="en-US" sz="1000" b="1" u="sng" spc="200" kern="0" dirty="0">
                <a:solidFill>
                  <a:schemeClr val="tx2"/>
                </a:solidFill>
                <a:hlinkClick r:id="rId2" invalidUrl="" action="" tgtFrame="" tooltip="Open the Heartland Steel live site" history="1" highlightClick="0" endSnd="0">
                  <a:extLst>
                    <a:ext uri="{A12FA001-AC4F-418D-AE19-62706E023703}">
                      <ahyp:hlinkClr xmlns:ahyp="http://schemas.microsoft.com/office/drawing/2018/hyperlinkcolor" val="tx"/>
                    </a:ext>
                  </a:extLst>
                </a:hlinkClick>
              </a:rPr>
              <a:t>OPEN LIVE ↗</a:t>
            </a:r>
            <a:endParaRPr lang="en-US" sz="1000" dirty="0"/>
          </a:p>
        </p:txBody>
      </p:sp>
      <p:sp>
        <p:nvSpPr>
          <p:cNvPr id="11" name="Text 8"/>
          <p:cNvSpPr txBox="1"/>
          <p:nvPr/>
        </p:nvSpPr>
        <p:spPr>
          <a:xfrm>
            <a:off x="7513168" y="6035373"/>
            <a:ext cx="1508760" cy="329184"/>
          </a:xfrm>
          <a:prstGeom prst="rect">
            <a:avLst/>
          </a:prstGeom>
          <a:noFill/>
          <a:ln w="9525">
            <a:solidFill>
              <a:schemeClr val="accent2"/>
            </a:solidFill>
          </a:ln>
        </p:spPr>
        <p:txBody>
          <a:bodyPr wrap="square" lIns="0" tIns="0" rIns="0" bIns="0" rtlCol="0" anchor="ctr"/>
          <a:lstStyle/>
          <a:p>
            <a:pPr algn="ctr" indent="0" marL="0">
              <a:buNone/>
            </a:pPr>
            <a:r>
              <a:rPr lang="en-US" sz="1000" b="1" spc="200" kern="0" dirty="0">
                <a:solidFill>
                  <a:schemeClr val="accent1"/>
                </a:solidFill>
              </a:rPr>
              <a:t>FEATURED B</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Heartland Steel frame"/>
          <p:cNvSpPr/>
          <p:nvPr/>
        </p:nvSpPr>
        <p:spPr>
          <a:xfrm>
            <a:off x="886968" y="1840604"/>
            <a:ext cx="5394960" cy="3359672"/>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3" name="Heartland Steel dot 1"/>
          <p:cNvSpPr/>
          <p:nvPr/>
        </p:nvSpPr>
        <p:spPr>
          <a:xfrm>
            <a:off x="977494" y="1909001"/>
            <a:ext cx="64374" cy="64374"/>
          </a:xfrm>
          <a:prstGeom prst="ellipse">
            <a:avLst/>
          </a:prstGeom>
          <a:solidFill>
            <a:srgbClr val="3B342A"/>
          </a:solidFill>
          <a:ln w="12700">
            <a:solidFill>
              <a:srgbClr val="3B342A"/>
            </a:solidFill>
            <a:prstDash val="solid"/>
          </a:ln>
        </p:spPr>
      </p:sp>
      <p:sp>
        <p:nvSpPr>
          <p:cNvPr id="4" name="Heartland Steel dot 2"/>
          <p:cNvSpPr/>
          <p:nvPr/>
        </p:nvSpPr>
        <p:spPr>
          <a:xfrm>
            <a:off x="1086929" y="1909001"/>
            <a:ext cx="64374" cy="64374"/>
          </a:xfrm>
          <a:prstGeom prst="ellipse">
            <a:avLst/>
          </a:prstGeom>
          <a:solidFill>
            <a:srgbClr val="3B342A"/>
          </a:solidFill>
          <a:ln w="12700">
            <a:solidFill>
              <a:srgbClr val="3B342A"/>
            </a:solidFill>
            <a:prstDash val="solid"/>
          </a:ln>
        </p:spPr>
      </p:sp>
      <p:sp>
        <p:nvSpPr>
          <p:cNvPr id="5" name="Heartland Steel dot 3"/>
          <p:cNvSpPr/>
          <p:nvPr/>
        </p:nvSpPr>
        <p:spPr>
          <a:xfrm>
            <a:off x="1196364" y="1909001"/>
            <a:ext cx="64374" cy="64374"/>
          </a:xfrm>
          <a:prstGeom prst="ellipse">
            <a:avLst/>
          </a:prstGeom>
          <a:solidFill>
            <a:srgbClr val="3B342A"/>
          </a:solidFill>
          <a:ln w="12700">
            <a:solidFill>
              <a:srgbClr val="3B342A"/>
            </a:solidFill>
            <a:prstDash val="solid"/>
          </a:ln>
        </p:spPr>
      </p:sp>
      <p:pic>
        <p:nvPicPr>
          <p:cNvPr id="6" name="Heartland Steel screenshot" descr="Heartland Steel homepage concept">    </p:cNvPr>
          <p:cNvPicPr>
            <a:picLocks noChangeAspect="1"/>
          </p:cNvPicPr>
          <p:nvPr/>
        </p:nvPicPr>
        <p:blipFill>
          <a:blip r:embed="rId1"/>
          <a:stretch>
            <a:fillRect/>
          </a:stretch>
        </p:blipFill>
        <p:spPr>
          <a:xfrm>
            <a:off x="886968" y="2041772"/>
            <a:ext cx="5394960" cy="3158504"/>
          </a:xfrm>
          <a:prstGeom prst="rect">
            <a:avLst/>
          </a:prstGeom>
        </p:spPr>
      </p:pic>
      <p:sp>
        <p:nvSpPr>
          <p:cNvPr id="7" name="Heartland Steel live link"/>
          <p:cNvSpPr txBox="1"/>
          <p:nvPr/>
        </p:nvSpPr>
        <p:spPr>
          <a:xfrm>
            <a:off x="886968" y="5474596"/>
            <a:ext cx="2103120" cy="347472"/>
          </a:xfrm>
          <a:prstGeom prst="rect">
            <a:avLst/>
          </a:prstGeom>
          <a:solidFill>
            <a:schemeClr val="accent1"/>
          </a:solidFill>
          <a:ln/>
        </p:spPr>
        <p:txBody>
          <a:bodyPr wrap="square" lIns="0" tIns="0" rIns="0" bIns="0" rtlCol="0" anchor="ctr"/>
          <a:lstStyle/>
          <a:p>
            <a:pPr algn="ctr" indent="0" marL="0">
              <a:buNone/>
            </a:pPr>
            <a:r>
              <a:rPr lang="en-US" sz="1000" b="1" u="sng" spc="200" kern="0" dirty="0">
                <a:solidFill>
                  <a:schemeClr val="tx2"/>
                </a:solidFill>
                <a:hlinkClick r:id="rId2" invalidUrl="" action="" tgtFrame="" tooltip="Open the Heartland Steel live site" history="1" highlightClick="0" endSnd="0">
                  <a:extLst>
                    <a:ext uri="{A12FA001-AC4F-418D-AE19-62706E023703}">
                      <ahyp:hlinkClr xmlns:ahyp="http://schemas.microsoft.com/office/drawing/2018/hyperlinkcolor" val="tx"/>
                    </a:ext>
                  </a:extLst>
                </a:hlinkClick>
              </a:rPr>
              <a:t>OPEN THE LIVE SITE ↗</a:t>
            </a:r>
            <a:endParaRPr lang="en-US" sz="1000" dirty="0"/>
          </a:p>
        </p:txBody>
      </p:sp>
      <p:sp>
        <p:nvSpPr>
          <p:cNvPr id="8" name="Text 5"/>
          <p:cNvSpPr txBox="1"/>
          <p:nvPr/>
        </p:nvSpPr>
        <p:spPr>
          <a:xfrm>
            <a:off x="6720840" y="1097280"/>
            <a:ext cx="4583887" cy="274320"/>
          </a:xfrm>
          <a:prstGeom prst="rect">
            <a:avLst/>
          </a:prstGeom>
          <a:noFill/>
          <a:ln/>
        </p:spPr>
        <p:txBody>
          <a:bodyPr wrap="square" lIns="0" tIns="0" rIns="0" bIns="0" rtlCol="0" anchor="t"/>
          <a:lstStyle/>
          <a:p>
            <a:pPr indent="0" marL="0">
              <a:buNone/>
            </a:pPr>
            <a:r>
              <a:rPr lang="en-US" sz="1100" b="1" spc="300" kern="0" dirty="0">
                <a:solidFill>
                  <a:schemeClr val="accent2"/>
                </a:solidFill>
              </a:rPr>
              <a:t>FEATURED B · 04</a:t>
            </a:r>
            <a:endParaRPr lang="en-US" sz="1100" dirty="0"/>
          </a:p>
        </p:txBody>
      </p:sp>
      <p:sp>
        <p:nvSpPr>
          <p:cNvPr id="9" name="Text 6"/>
          <p:cNvSpPr txBox="1"/>
          <p:nvPr/>
        </p:nvSpPr>
        <p:spPr>
          <a:xfrm>
            <a:off x="6720840" y="1417320"/>
            <a:ext cx="4583887" cy="685800"/>
          </a:xfrm>
          <a:prstGeom prst="rect">
            <a:avLst/>
          </a:prstGeom>
          <a:noFill/>
          <a:ln/>
        </p:spPr>
        <p:txBody>
          <a:bodyPr wrap="square" lIns="0" tIns="0" rIns="0" bIns="0" rtlCol="0" anchor="t"/>
          <a:lstStyle/>
          <a:p>
            <a:pPr indent="0" marL="0">
              <a:buNone/>
            </a:pPr>
            <a:r>
              <a:rPr lang="en-US" sz="3800" b="1" dirty="0">
                <a:solidFill>
                  <a:schemeClr val="tx1"/>
                </a:solidFill>
                <a:latin typeface="Cambria" pitchFamily="34" charset="0"/>
                <a:ea typeface="Cambria" pitchFamily="34" charset="-122"/>
                <a:cs typeface="Cambria" pitchFamily="34" charset="-120"/>
              </a:rPr>
              <a:t>Heartland Steel</a:t>
            </a:r>
            <a:endParaRPr lang="en-US" sz="3800" dirty="0"/>
          </a:p>
        </p:txBody>
      </p:sp>
      <p:sp>
        <p:nvSpPr>
          <p:cNvPr id="10" name="Text 7"/>
          <p:cNvSpPr txBox="1"/>
          <p:nvPr/>
        </p:nvSpPr>
        <p:spPr>
          <a:xfrm>
            <a:off x="6720840" y="2194560"/>
            <a:ext cx="4583887" cy="777240"/>
          </a:xfrm>
          <a:prstGeom prst="rect">
            <a:avLst/>
          </a:prstGeom>
          <a:noFill/>
          <a:ln/>
        </p:spPr>
        <p:txBody>
          <a:bodyPr wrap="square" lIns="0" tIns="0" rIns="0" bIns="0" rtlCol="0" anchor="t"/>
          <a:lstStyle/>
          <a:p>
            <a:pPr indent="0" marL="0">
              <a:buNone/>
            </a:pPr>
            <a:r>
              <a:rPr lang="en-US" sz="1800" i="1" dirty="0">
                <a:solidFill>
                  <a:schemeClr val="accent2"/>
                </a:solidFill>
                <a:latin typeface="Cambria" pitchFamily="34" charset="0"/>
                <a:ea typeface="Cambria" pitchFamily="34" charset="-122"/>
                <a:cs typeface="Cambria" pitchFamily="34" charset="-120"/>
              </a:rPr>
              <a:t>“Heavy-duty product and people who answer the phone.”</a:t>
            </a:r>
            <a:endParaRPr lang="en-US" sz="1800" dirty="0"/>
          </a:p>
        </p:txBody>
      </p:sp>
      <p:sp>
        <p:nvSpPr>
          <p:cNvPr id="11" name="Text 8"/>
          <p:cNvSpPr txBox="1"/>
          <p:nvPr/>
        </p:nvSpPr>
        <p:spPr>
          <a:xfrm>
            <a:off x="6720840" y="3108960"/>
            <a:ext cx="4583887" cy="251460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chemeClr val="tx1"/>
                </a:solidFill>
              </a:rPr>
              <a:t>Built for the buyer who runs trucks. </a:t>
            </a:r>
            <a:pPr indent="0" marL="0">
              <a:spcAft>
                <a:spcPts val="900"/>
              </a:spcAft>
              <a:buNone/>
            </a:pPr>
            <a:r>
              <a:rPr lang="en-US" sz="1500" dirty="0">
                <a:solidFill>
                  <a:schemeClr val="tx1"/>
                </a:solidFill>
              </a:rPr>
              <a:t>Speaks ops, not lifestyle.</a:t>
            </a:r>
            <a:endParaRPr lang="en-US" sz="1500" dirty="0"/>
          </a:p>
          <a:p>
            <a:pPr marL="203200" indent="-203200">
              <a:spcAft>
                <a:spcPts val="900"/>
              </a:spcAft>
              <a:buSzPct val="100000"/>
              <a:buChar char="•"/>
            </a:pPr>
            <a:r>
              <a:rPr lang="en-US" sz="1500" b="1" dirty="0">
                <a:solidFill>
                  <a:schemeClr val="tx1"/>
                </a:solidFill>
              </a:rPr>
              <a:t>Dark stage lets the mark pop. </a:t>
            </a:r>
            <a:pPr indent="0" marL="0">
              <a:spcAft>
                <a:spcPts val="900"/>
              </a:spcAft>
              <a:buNone/>
            </a:pPr>
            <a:r>
              <a:rPr lang="en-US" sz="1500" dirty="0">
                <a:solidFill>
                  <a:schemeClr val="tx1"/>
                </a:solidFill>
              </a:rPr>
              <a:t>The gold logo has never looked stronger.</a:t>
            </a:r>
            <a:endParaRPr lang="en-US" sz="1500" dirty="0"/>
          </a:p>
          <a:p>
            <a:pPr marL="203200" indent="-203200">
              <a:spcAft>
                <a:spcPts val="900"/>
              </a:spcAft>
              <a:buSzPct val="100000"/>
              <a:buChar char="•"/>
            </a:pPr>
            <a:r>
              <a:rPr lang="en-US" sz="1500" b="1" dirty="0">
                <a:solidFill>
                  <a:schemeClr val="tx1"/>
                </a:solidFill>
              </a:rPr>
              <a:t>Most distinct in the market. </a:t>
            </a:r>
            <a:pPr indent="0" marL="0">
              <a:spcAft>
                <a:spcPts val="900"/>
              </a:spcAft>
              <a:buNone/>
            </a:pPr>
            <a:r>
              <a:rPr lang="en-US" sz="1500" dirty="0">
                <a:solidFill>
                  <a:schemeClr val="tx1"/>
                </a:solidFill>
              </a:rPr>
              <a:t>Nobody in our space looks like this.</a:t>
            </a:r>
            <a:endParaRPr lang="en-US" sz="1500" dirty="0"/>
          </a:p>
          <a:p>
            <a:pPr marL="203200" indent="-203200">
              <a:spcAft>
                <a:spcPts val="900"/>
              </a:spcAft>
              <a:buSzPct val="100000"/>
              <a:buChar char="•"/>
            </a:pPr>
            <a:r>
              <a:rPr lang="en-US" sz="1500" b="1" dirty="0">
                <a:solidFill>
                  <a:schemeClr val="accent3"/>
                </a:solidFill>
              </a:rPr>
              <a:t>Watch: </a:t>
            </a:r>
            <a:pPr indent="0" marL="0">
              <a:spcAft>
                <a:spcPts val="900"/>
              </a:spcAft>
              <a:buNone/>
            </a:pPr>
            <a:r>
              <a:rPr lang="en-US" sz="1500" dirty="0">
                <a:solidFill>
                  <a:schemeClr val="accent3"/>
                </a:solidFill>
              </a:rPr>
              <a:t>Loudest option. The orange accent needs tuning toward our gold.</a:t>
            </a:r>
            <a:endParaRPr lang="en-US" sz="1500" dirty="0"/>
          </a:p>
        </p:txBody>
      </p:sp>
      <p:sp>
        <p:nvSpPr>
          <p:cNvPr id="12" name="swatch 1"/>
          <p:cNvSpPr/>
          <p:nvPr/>
        </p:nvSpPr>
        <p:spPr>
          <a:xfrm>
            <a:off x="6720840" y="5760720"/>
            <a:ext cx="292608" cy="292608"/>
          </a:xfrm>
          <a:prstGeom prst="ellipse">
            <a:avLst/>
          </a:prstGeom>
          <a:solidFill>
            <a:srgbClr val="E08A2C"/>
          </a:solidFill>
          <a:ln w="6350">
            <a:solidFill>
              <a:srgbClr val="CFC4AE"/>
            </a:solidFill>
            <a:prstDash val="solid"/>
          </a:ln>
        </p:spPr>
      </p:sp>
      <p:sp>
        <p:nvSpPr>
          <p:cNvPr id="13" name="swatch 2"/>
          <p:cNvSpPr/>
          <p:nvPr/>
        </p:nvSpPr>
        <p:spPr>
          <a:xfrm>
            <a:off x="7104888" y="5760720"/>
            <a:ext cx="292608" cy="292608"/>
          </a:xfrm>
          <a:prstGeom prst="ellipse">
            <a:avLst/>
          </a:prstGeom>
          <a:solidFill>
            <a:srgbClr val="141210"/>
          </a:solidFill>
          <a:ln w="6350">
            <a:solidFill>
              <a:srgbClr val="CFC4AE"/>
            </a:solidFill>
            <a:prstDash val="solid"/>
          </a:ln>
        </p:spPr>
      </p:sp>
      <p:sp>
        <p:nvSpPr>
          <p:cNvPr id="14" name="swatch 3"/>
          <p:cNvSpPr/>
          <p:nvPr/>
        </p:nvSpPr>
        <p:spPr>
          <a:xfrm>
            <a:off x="7488936" y="5760720"/>
            <a:ext cx="292608" cy="292608"/>
          </a:xfrm>
          <a:prstGeom prst="ellipse">
            <a:avLst/>
          </a:prstGeom>
          <a:solidFill>
            <a:srgbClr val="EFE7DA"/>
          </a:solidFill>
          <a:ln w="6350">
            <a:solidFill>
              <a:srgbClr val="CFC4AE"/>
            </a:solidFill>
            <a:prstDash val="solid"/>
          </a:ln>
        </p:spPr>
      </p:sp>
      <p:sp>
        <p:nvSpPr>
          <p:cNvPr id="15" name="Text 12"/>
          <p:cNvSpPr txBox="1"/>
          <p:nvPr/>
        </p:nvSpPr>
        <p:spPr>
          <a:xfrm>
            <a:off x="8001000" y="5824728"/>
            <a:ext cx="3303727"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ORANGE ON DARK · OPS DRAMA</a:t>
            </a:r>
            <a:endParaRPr lang="en-US" sz="10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2"/>
                </a:solidFill>
              </a:rPr>
              <a:t>PART 2 · ALSO BUILT</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The other three</a:t>
            </a:r>
            <a:endParaRPr lang="en-US" sz="4400" dirty="0"/>
          </a:p>
        </p:txBody>
      </p:sp>
      <p:sp>
        <p:nvSpPr>
          <p:cNvPr id="4" name="Piney Woods frame"/>
          <p:cNvSpPr/>
          <p:nvPr/>
        </p:nvSpPr>
        <p:spPr>
          <a:xfrm>
            <a:off x="886968" y="2240280"/>
            <a:ext cx="3198266" cy="2018744"/>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5" name="Piney Woods dot 1"/>
          <p:cNvSpPr/>
          <p:nvPr/>
        </p:nvSpPr>
        <p:spPr>
          <a:xfrm>
            <a:off x="952805" y="2290023"/>
            <a:ext cx="46817" cy="46817"/>
          </a:xfrm>
          <a:prstGeom prst="ellipse">
            <a:avLst/>
          </a:prstGeom>
          <a:solidFill>
            <a:srgbClr val="3B342A"/>
          </a:solidFill>
          <a:ln w="12700">
            <a:solidFill>
              <a:srgbClr val="3B342A"/>
            </a:solidFill>
            <a:prstDash val="solid"/>
          </a:ln>
        </p:spPr>
      </p:sp>
      <p:sp>
        <p:nvSpPr>
          <p:cNvPr id="6" name="Piney Woods dot 2"/>
          <p:cNvSpPr/>
          <p:nvPr/>
        </p:nvSpPr>
        <p:spPr>
          <a:xfrm>
            <a:off x="1032394" y="2290023"/>
            <a:ext cx="46817" cy="46817"/>
          </a:xfrm>
          <a:prstGeom prst="ellipse">
            <a:avLst/>
          </a:prstGeom>
          <a:solidFill>
            <a:srgbClr val="3B342A"/>
          </a:solidFill>
          <a:ln w="12700">
            <a:solidFill>
              <a:srgbClr val="3B342A"/>
            </a:solidFill>
            <a:prstDash val="solid"/>
          </a:ln>
        </p:spPr>
      </p:sp>
      <p:sp>
        <p:nvSpPr>
          <p:cNvPr id="7" name="Piney Woods dot 3"/>
          <p:cNvSpPr/>
          <p:nvPr/>
        </p:nvSpPr>
        <p:spPr>
          <a:xfrm>
            <a:off x="1111984" y="2290023"/>
            <a:ext cx="46817" cy="46817"/>
          </a:xfrm>
          <a:prstGeom prst="ellipse">
            <a:avLst/>
          </a:prstGeom>
          <a:solidFill>
            <a:srgbClr val="3B342A"/>
          </a:solidFill>
          <a:ln w="12700">
            <a:solidFill>
              <a:srgbClr val="3B342A"/>
            </a:solidFill>
            <a:prstDash val="solid"/>
          </a:ln>
        </p:spPr>
      </p:sp>
      <p:pic>
        <p:nvPicPr>
          <p:cNvPr id="8" name="Piney Woods screenshot" descr="Piney Woods homepage concept">    </p:cNvPr>
          <p:cNvPicPr>
            <a:picLocks noChangeAspect="1"/>
          </p:cNvPicPr>
          <p:nvPr/>
        </p:nvPicPr>
        <p:blipFill>
          <a:blip r:embed="rId1"/>
          <a:stretch>
            <a:fillRect/>
          </a:stretch>
        </p:blipFill>
        <p:spPr>
          <a:xfrm>
            <a:off x="886968" y="2386584"/>
            <a:ext cx="3198266" cy="1872440"/>
          </a:xfrm>
          <a:prstGeom prst="rect">
            <a:avLst/>
          </a:prstGeom>
        </p:spPr>
      </p:pic>
      <p:sp>
        <p:nvSpPr>
          <p:cNvPr id="9" name="Text 6"/>
          <p:cNvSpPr txBox="1"/>
          <p:nvPr/>
        </p:nvSpPr>
        <p:spPr>
          <a:xfrm>
            <a:off x="886968" y="4533344"/>
            <a:ext cx="3198266" cy="228600"/>
          </a:xfrm>
          <a:prstGeom prst="rect">
            <a:avLst/>
          </a:prstGeom>
          <a:noFill/>
          <a:ln/>
        </p:spPr>
        <p:txBody>
          <a:bodyPr wrap="square" lIns="0" tIns="0" rIns="0" bIns="0" rtlCol="0" anchor="t"/>
          <a:lstStyle/>
          <a:p>
            <a:pPr indent="0" marL="0">
              <a:buNone/>
            </a:pPr>
            <a:r>
              <a:rPr lang="en-US" sz="1000" b="1" spc="150" kern="0" dirty="0">
                <a:solidFill>
                  <a:schemeClr val="accent2"/>
                </a:solidFill>
              </a:rPr>
              <a:t>02 · FOREST GREEN · HANDSHAKE TRUST</a:t>
            </a:r>
            <a:endParaRPr lang="en-US" sz="1000" dirty="0"/>
          </a:p>
        </p:txBody>
      </p:sp>
      <p:sp>
        <p:nvSpPr>
          <p:cNvPr id="10" name="Text 7"/>
          <p:cNvSpPr txBox="1"/>
          <p:nvPr/>
        </p:nvSpPr>
        <p:spPr>
          <a:xfrm>
            <a:off x="886968" y="4789376"/>
            <a:ext cx="3198266"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Piney Woods</a:t>
            </a:r>
            <a:endParaRPr lang="en-US" sz="2200" dirty="0"/>
          </a:p>
        </p:txBody>
      </p:sp>
      <p:sp>
        <p:nvSpPr>
          <p:cNvPr id="11" name="Text 8"/>
          <p:cNvSpPr txBox="1"/>
          <p:nvPr/>
        </p:nvSpPr>
        <p:spPr>
          <a:xfrm>
            <a:off x="886968" y="5219144"/>
            <a:ext cx="3198266" cy="685800"/>
          </a:xfrm>
          <a:prstGeom prst="rect">
            <a:avLst/>
          </a:prstGeom>
          <a:noFill/>
          <a:ln/>
        </p:spPr>
        <p:txBody>
          <a:bodyPr wrap="square" lIns="0" tIns="0" rIns="0" bIns="0" rtlCol="0" anchor="t"/>
          <a:lstStyle/>
          <a:p>
            <a:pPr indent="0" marL="0">
              <a:buNone/>
            </a:pPr>
            <a:r>
              <a:rPr lang="en-US" sz="1400" dirty="0">
                <a:solidFill>
                  <a:schemeClr val="accent3"/>
                </a:solidFill>
              </a:rPr>
              <a:t>Rooted, calm, organic. The handshake you can trust.</a:t>
            </a:r>
            <a:endParaRPr lang="en-US" sz="1400" dirty="0"/>
          </a:p>
        </p:txBody>
      </p:sp>
      <p:sp>
        <p:nvSpPr>
          <p:cNvPr id="12" name="Open Water frame"/>
          <p:cNvSpPr/>
          <p:nvPr/>
        </p:nvSpPr>
        <p:spPr>
          <a:xfrm>
            <a:off x="4496714" y="2240280"/>
            <a:ext cx="3198266" cy="2018744"/>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13" name="Open Water dot 1"/>
          <p:cNvSpPr/>
          <p:nvPr/>
        </p:nvSpPr>
        <p:spPr>
          <a:xfrm>
            <a:off x="4562551" y="2290023"/>
            <a:ext cx="46817" cy="46817"/>
          </a:xfrm>
          <a:prstGeom prst="ellipse">
            <a:avLst/>
          </a:prstGeom>
          <a:solidFill>
            <a:srgbClr val="3B342A"/>
          </a:solidFill>
          <a:ln w="12700">
            <a:solidFill>
              <a:srgbClr val="3B342A"/>
            </a:solidFill>
            <a:prstDash val="solid"/>
          </a:ln>
        </p:spPr>
      </p:sp>
      <p:sp>
        <p:nvSpPr>
          <p:cNvPr id="14" name="Open Water dot 2"/>
          <p:cNvSpPr/>
          <p:nvPr/>
        </p:nvSpPr>
        <p:spPr>
          <a:xfrm>
            <a:off x="4642141" y="2290023"/>
            <a:ext cx="46817" cy="46817"/>
          </a:xfrm>
          <a:prstGeom prst="ellipse">
            <a:avLst/>
          </a:prstGeom>
          <a:solidFill>
            <a:srgbClr val="3B342A"/>
          </a:solidFill>
          <a:ln w="12700">
            <a:solidFill>
              <a:srgbClr val="3B342A"/>
            </a:solidFill>
            <a:prstDash val="solid"/>
          </a:ln>
        </p:spPr>
      </p:sp>
      <p:sp>
        <p:nvSpPr>
          <p:cNvPr id="15" name="Open Water dot 3"/>
          <p:cNvSpPr/>
          <p:nvPr/>
        </p:nvSpPr>
        <p:spPr>
          <a:xfrm>
            <a:off x="4721730" y="2290023"/>
            <a:ext cx="46817" cy="46817"/>
          </a:xfrm>
          <a:prstGeom prst="ellipse">
            <a:avLst/>
          </a:prstGeom>
          <a:solidFill>
            <a:srgbClr val="3B342A"/>
          </a:solidFill>
          <a:ln w="12700">
            <a:solidFill>
              <a:srgbClr val="3B342A"/>
            </a:solidFill>
            <a:prstDash val="solid"/>
          </a:ln>
        </p:spPr>
      </p:sp>
      <p:pic>
        <p:nvPicPr>
          <p:cNvPr id="16" name="Open Water screenshot" descr="Open Water homepage concept">    </p:cNvPr>
          <p:cNvPicPr>
            <a:picLocks noChangeAspect="1"/>
          </p:cNvPicPr>
          <p:nvPr/>
        </p:nvPicPr>
        <p:blipFill>
          <a:blip r:embed="rId2"/>
          <a:stretch>
            <a:fillRect/>
          </a:stretch>
        </p:blipFill>
        <p:spPr>
          <a:xfrm>
            <a:off x="4496714" y="2386584"/>
            <a:ext cx="3198266" cy="1872440"/>
          </a:xfrm>
          <a:prstGeom prst="rect">
            <a:avLst/>
          </a:prstGeom>
        </p:spPr>
      </p:pic>
      <p:sp>
        <p:nvSpPr>
          <p:cNvPr id="17" name="Text 13"/>
          <p:cNvSpPr txBox="1"/>
          <p:nvPr/>
        </p:nvSpPr>
        <p:spPr>
          <a:xfrm>
            <a:off x="4496714" y="4533344"/>
            <a:ext cx="3198266" cy="228600"/>
          </a:xfrm>
          <a:prstGeom prst="rect">
            <a:avLst/>
          </a:prstGeom>
          <a:noFill/>
          <a:ln/>
        </p:spPr>
        <p:txBody>
          <a:bodyPr wrap="square" lIns="0" tIns="0" rIns="0" bIns="0" rtlCol="0" anchor="t"/>
          <a:lstStyle/>
          <a:p>
            <a:pPr indent="0" marL="0">
              <a:buNone/>
            </a:pPr>
            <a:r>
              <a:rPr lang="en-US" sz="1000" b="1" spc="150" kern="0" dirty="0">
                <a:solidFill>
                  <a:schemeClr val="accent2"/>
                </a:solidFill>
              </a:rPr>
              <a:t>03 · TEAL / SAND · B2B POLISH</a:t>
            </a:r>
            <a:endParaRPr lang="en-US" sz="1000" dirty="0"/>
          </a:p>
        </p:txBody>
      </p:sp>
      <p:sp>
        <p:nvSpPr>
          <p:cNvPr id="18" name="Text 14"/>
          <p:cNvSpPr txBox="1"/>
          <p:nvPr/>
        </p:nvSpPr>
        <p:spPr>
          <a:xfrm>
            <a:off x="4496714" y="4789376"/>
            <a:ext cx="3198266"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Open Water</a:t>
            </a:r>
            <a:endParaRPr lang="en-US" sz="2200" dirty="0"/>
          </a:p>
        </p:txBody>
      </p:sp>
      <p:sp>
        <p:nvSpPr>
          <p:cNvPr id="19" name="Text 15"/>
          <p:cNvSpPr txBox="1"/>
          <p:nvPr/>
        </p:nvSpPr>
        <p:spPr>
          <a:xfrm>
            <a:off x="4496714" y="5219144"/>
            <a:ext cx="3198266" cy="685800"/>
          </a:xfrm>
          <a:prstGeom prst="rect">
            <a:avLst/>
          </a:prstGeom>
          <a:noFill/>
          <a:ln/>
        </p:spPr>
        <p:txBody>
          <a:bodyPr wrap="square" lIns="0" tIns="0" rIns="0" bIns="0" rtlCol="0" anchor="t"/>
          <a:lstStyle/>
          <a:p>
            <a:pPr indent="0" marL="0">
              <a:buNone/>
            </a:pPr>
            <a:r>
              <a:rPr lang="en-US" sz="1400" dirty="0">
                <a:solidFill>
                  <a:schemeClr val="accent3"/>
                </a:solidFill>
              </a:rPr>
              <a:t>Crisp, corporate, confident. A supplier that runs like a serious business.</a:t>
            </a:r>
            <a:endParaRPr lang="en-US" sz="1400" dirty="0"/>
          </a:p>
        </p:txBody>
      </p:sp>
      <p:sp>
        <p:nvSpPr>
          <p:cNvPr id="20" name="Hill Country frame"/>
          <p:cNvSpPr/>
          <p:nvPr/>
        </p:nvSpPr>
        <p:spPr>
          <a:xfrm>
            <a:off x="8106461" y="2240280"/>
            <a:ext cx="3198266" cy="2018744"/>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21" name="Hill Country dot 1"/>
          <p:cNvSpPr/>
          <p:nvPr/>
        </p:nvSpPr>
        <p:spPr>
          <a:xfrm>
            <a:off x="8172298" y="2290023"/>
            <a:ext cx="46817" cy="46817"/>
          </a:xfrm>
          <a:prstGeom prst="ellipse">
            <a:avLst/>
          </a:prstGeom>
          <a:solidFill>
            <a:srgbClr val="3B342A"/>
          </a:solidFill>
          <a:ln w="12700">
            <a:solidFill>
              <a:srgbClr val="3B342A"/>
            </a:solidFill>
            <a:prstDash val="solid"/>
          </a:ln>
        </p:spPr>
      </p:sp>
      <p:sp>
        <p:nvSpPr>
          <p:cNvPr id="22" name="Hill Country dot 2"/>
          <p:cNvSpPr/>
          <p:nvPr/>
        </p:nvSpPr>
        <p:spPr>
          <a:xfrm>
            <a:off x="8251887" y="2290023"/>
            <a:ext cx="46817" cy="46817"/>
          </a:xfrm>
          <a:prstGeom prst="ellipse">
            <a:avLst/>
          </a:prstGeom>
          <a:solidFill>
            <a:srgbClr val="3B342A"/>
          </a:solidFill>
          <a:ln w="12700">
            <a:solidFill>
              <a:srgbClr val="3B342A"/>
            </a:solidFill>
            <a:prstDash val="solid"/>
          </a:ln>
        </p:spPr>
      </p:sp>
      <p:sp>
        <p:nvSpPr>
          <p:cNvPr id="23" name="Hill Country dot 3"/>
          <p:cNvSpPr/>
          <p:nvPr/>
        </p:nvSpPr>
        <p:spPr>
          <a:xfrm>
            <a:off x="8331476" y="2290023"/>
            <a:ext cx="46817" cy="46817"/>
          </a:xfrm>
          <a:prstGeom prst="ellipse">
            <a:avLst/>
          </a:prstGeom>
          <a:solidFill>
            <a:srgbClr val="3B342A"/>
          </a:solidFill>
          <a:ln w="12700">
            <a:solidFill>
              <a:srgbClr val="3B342A"/>
            </a:solidFill>
            <a:prstDash val="solid"/>
          </a:ln>
        </p:spPr>
      </p:sp>
      <p:pic>
        <p:nvPicPr>
          <p:cNvPr id="24" name="Hill Country screenshot" descr="Hill Country homepage concept">    </p:cNvPr>
          <p:cNvPicPr>
            <a:picLocks noChangeAspect="1"/>
          </p:cNvPicPr>
          <p:nvPr/>
        </p:nvPicPr>
        <p:blipFill>
          <a:blip r:embed="rId3"/>
          <a:stretch>
            <a:fillRect/>
          </a:stretch>
        </p:blipFill>
        <p:spPr>
          <a:xfrm>
            <a:off x="8106461" y="2386584"/>
            <a:ext cx="3198266" cy="1872440"/>
          </a:xfrm>
          <a:prstGeom prst="rect">
            <a:avLst/>
          </a:prstGeom>
        </p:spPr>
      </p:pic>
      <p:sp>
        <p:nvSpPr>
          <p:cNvPr id="25" name="Text 20"/>
          <p:cNvSpPr txBox="1"/>
          <p:nvPr/>
        </p:nvSpPr>
        <p:spPr>
          <a:xfrm>
            <a:off x="8106461" y="4533344"/>
            <a:ext cx="3198266" cy="228600"/>
          </a:xfrm>
          <a:prstGeom prst="rect">
            <a:avLst/>
          </a:prstGeom>
          <a:noFill/>
          <a:ln/>
        </p:spPr>
        <p:txBody>
          <a:bodyPr wrap="square" lIns="0" tIns="0" rIns="0" bIns="0" rtlCol="0" anchor="t"/>
          <a:lstStyle/>
          <a:p>
            <a:pPr indent="0" marL="0">
              <a:buNone/>
            </a:pPr>
            <a:r>
              <a:rPr lang="en-US" sz="1000" b="1" spc="150" kern="0" dirty="0">
                <a:solidFill>
                  <a:schemeClr val="accent2"/>
                </a:solidFill>
              </a:rPr>
              <a:t>05 · TERRACOTTA · TEXAS HOSPITALITY</a:t>
            </a:r>
            <a:endParaRPr lang="en-US" sz="1000" dirty="0"/>
          </a:p>
        </p:txBody>
      </p:sp>
      <p:sp>
        <p:nvSpPr>
          <p:cNvPr id="26" name="Text 21"/>
          <p:cNvSpPr txBox="1"/>
          <p:nvPr/>
        </p:nvSpPr>
        <p:spPr>
          <a:xfrm>
            <a:off x="8106461" y="4789376"/>
            <a:ext cx="3198266"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Hill Country</a:t>
            </a:r>
            <a:endParaRPr lang="en-US" sz="2200" dirty="0"/>
          </a:p>
        </p:txBody>
      </p:sp>
      <p:sp>
        <p:nvSpPr>
          <p:cNvPr id="27" name="Text 22"/>
          <p:cNvSpPr txBox="1"/>
          <p:nvPr/>
        </p:nvSpPr>
        <p:spPr>
          <a:xfrm>
            <a:off x="8106461" y="5219144"/>
            <a:ext cx="3198266" cy="685800"/>
          </a:xfrm>
          <a:prstGeom prst="rect">
            <a:avLst/>
          </a:prstGeom>
          <a:noFill/>
          <a:ln/>
        </p:spPr>
        <p:txBody>
          <a:bodyPr wrap="square" lIns="0" tIns="0" rIns="0" bIns="0" rtlCol="0" anchor="t"/>
          <a:lstStyle/>
          <a:p>
            <a:pPr indent="0" marL="0">
              <a:buNone/>
            </a:pPr>
            <a:r>
              <a:rPr lang="en-US" sz="1400" dirty="0">
                <a:solidFill>
                  <a:schemeClr val="accent3"/>
                </a:solidFill>
              </a:rPr>
              <a:t>Warm, friendly, welcoming. Pull up a chair — we’ll take care of you.</a:t>
            </a:r>
            <a:endParaRPr lang="en-US" sz="1400" dirty="0"/>
          </a:p>
        </p:txBody>
      </p:sp>
      <p:sp>
        <p:nvSpPr>
          <p:cNvPr id="28" name="rock marker"/>
          <p:cNvSpPr txBox="1"/>
          <p:nvPr/>
        </p:nvSpPr>
        <p:spPr>
          <a:xfrm>
            <a:off x="886968" y="6291072"/>
            <a:ext cx="2930652" cy="292608"/>
          </a:xfrm>
          <a:prstGeom prst="roundRect">
            <a:avLst>
              <a:gd name="adj" fmla="val 50000"/>
            </a:avLst>
          </a:prstGeom>
          <a:noFill/>
          <a:ln w="9525">
            <a:solidFill>
              <a:srgbClr val="CDB68A"/>
            </a:solidFill>
          </a:ln>
        </p:spPr>
        <p:txBody>
          <a:bodyPr wrap="square" lIns="0" tIns="0" rIns="0" bIns="0" rtlCol="0" anchor="ctr"/>
          <a:lstStyle/>
          <a:p>
            <a:pPr algn="ctr" indent="0" marL="0">
              <a:buNone/>
            </a:pPr>
            <a:r>
              <a:rPr lang="en-US" sz="900" b="1" spc="150" kern="0" dirty="0">
                <a:solidFill>
                  <a:schemeClr val="accent2"/>
                </a:solidFill>
              </a:rPr>
              <a:t>WEBSITE ROCK · MILESTONE 1 OF 4 ✓</a:t>
            </a:r>
            <a:endParaRPr lang="en-US" sz="9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2"/>
                </a:solidFill>
              </a:rPr>
              <a:t>PART 2 · ALL FIVE, SIDE BY SIDE</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Feeling, audience, watch-outs</a:t>
            </a:r>
            <a:endParaRPr lang="en-US" sz="4400" dirty="0"/>
          </a:p>
        </p:txBody>
      </p:sp>
      <p:graphicFrame>
        <p:nvGraphicFramePr>
          <p:cNvPr id="15" name="comparison table"/>
          <p:cNvGraphicFramePr>
            <a:graphicFrameLocks noGrp="1"/>
          </p:cNvGraphicFramePr>
          <p:nvPr>
            <p:extLst>
              <p:ext uri="{D42A27DB-BD31-4B8C-83A1-F6EECF244321}">
                <p14:modId xmlns:p14="http://schemas.microsoft.com/office/powerpoint/2010/main" val="1579011935"/>
              </p:ext>
            </p:extLst>
          </p:nvPr>
        </p:nvGraphicFramePr>
        <p:xfrm>
          <a:off x="886968" y="2240280"/>
          <a:ext cx="10417759" cy="914400"/>
        </p:xfrm>
        <a:graphic>
          <a:graphicData uri="http://schemas.openxmlformats.org/drawingml/2006/table">
            <a:tbl>
              <a:tblPr/>
              <a:tblGrid>
                <a:gridCol w="2286000"/>
                <a:gridCol w="2194560"/>
                <a:gridCol w="2651760"/>
                <a:gridCol w="3282696"/>
              </a:tblGrid>
              <a:tr h="365760">
                <a:tc>
                  <a:txBody>
                    <a:bodyPr/>
                    <a:lstStyle/>
                    <a:p>
                      <a:pPr indent="0" marL="0">
                        <a:buNone/>
                      </a:pPr>
                      <a:r>
                        <a:rPr lang="en-US" sz="1000" b="1" spc="200" kern="0" dirty="0">
                          <a:solidFill>
                            <a:schemeClr val="accent2"/>
                          </a:solidFill>
                        </a:rPr>
                        <a:t>DIRECTION</a:t>
                      </a:r>
                      <a:endParaRPr lang="en-US" sz="1000" dirty="0"/>
                    </a:p>
                  </a:txBody>
                  <a:tcPr marL="109728"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000" b="1" spc="200" kern="0" dirty="0">
                          <a:solidFill>
                            <a:schemeClr val="accent2"/>
                          </a:solidFill>
                        </a:rPr>
                        <a:t>FEELING</a:t>
                      </a:r>
                      <a:endParaRPr lang="en-US" sz="1000" dirty="0"/>
                    </a:p>
                  </a:txBody>
                  <a:tcPr marL="109728"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000" b="1" spc="200" kern="0" dirty="0">
                          <a:solidFill>
                            <a:schemeClr val="accent2"/>
                          </a:solidFill>
                        </a:rPr>
                        <a:t>SPEAKS TO</a:t>
                      </a:r>
                      <a:endParaRPr lang="en-US" sz="1000" dirty="0"/>
                    </a:p>
                  </a:txBody>
                  <a:tcPr marL="109728"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000" b="1" spc="200" kern="0" dirty="0">
                          <a:solidFill>
                            <a:schemeClr val="accent2"/>
                          </a:solidFill>
                        </a:rPr>
                        <a:t>WATCH OUT FOR</a:t>
                      </a:r>
                      <a:endParaRPr lang="en-US" sz="1000" dirty="0"/>
                    </a:p>
                  </a:txBody>
                  <a:tcPr marL="109728"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658368">
                <a:tc>
                  <a:txBody>
                    <a:bodyPr/>
                    <a:lstStyle/>
                    <a:p>
                      <a:pPr indent="0" marL="0">
                        <a:buNone/>
                      </a:pPr>
                      <a:r>
                        <a:rPr lang="en-US" sz="1600" b="1" dirty="0">
                          <a:solidFill>
                            <a:schemeClr val="tx1"/>
                          </a:solidFill>
                          <a:latin typeface="Cambria" pitchFamily="34" charset="0"/>
                          <a:ea typeface="Cambria" pitchFamily="34" charset="-122"/>
                          <a:cs typeface="Cambria" pitchFamily="34" charset="-120"/>
                        </a:rPr>
                        <a:t>Big Sky  ★</a:t>
                      </a:r>
                      <a:endParaRPr lang="en-US" sz="1600" dirty="0">
                        <a:latin typeface="Cambria" charset="0"/>
                        <a:ea typeface="Cambria" charset="0"/>
                        <a:cs typeface="Cambria"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solidFill>
                      <a:srgbClr val="F1E4C6"/>
                    </a:solidFill>
                  </a:tcPr>
                </a:tc>
                <a:tc>
                  <a:txBody>
                    <a:bodyPr/>
                    <a:lstStyle/>
                    <a:p>
                      <a:pPr indent="0" marL="0">
                        <a:buNone/>
                      </a:pPr>
                      <a:r>
                        <a:rPr lang="en-US" sz="1400" dirty="0">
                          <a:solidFill>
                            <a:schemeClr val="tx1"/>
                          </a:solidFill>
                        </a:rPr>
                        <a:t>Warm, editorial, timeless.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solidFill>
                      <a:srgbClr val="F1E4C6"/>
                    </a:solidFill>
                  </a:tcPr>
                </a:tc>
                <a:tc>
                  <a:txBody>
                    <a:bodyPr/>
                    <a:lstStyle/>
                    <a:p>
                      <a:pPr indent="0" marL="0">
                        <a:buNone/>
                      </a:pPr>
                      <a:r>
                        <a:rPr lang="en-US" sz="1400" dirty="0">
                          <a:solidFill>
                            <a:schemeClr val="tx1"/>
                          </a:solidFill>
                        </a:rPr>
                        <a:t>Farm, ranch, and long-time accounts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solidFill>
                      <a:srgbClr val="F1E4C6"/>
                    </a:solidFill>
                  </a:tcPr>
                </a:tc>
                <a:tc>
                  <a:txBody>
                    <a:bodyPr/>
                    <a:lstStyle/>
                    <a:p>
                      <a:pPr indent="0" marL="0">
                        <a:buNone/>
                      </a:pPr>
                      <a:r>
                        <a:rPr lang="en-US" sz="1400" dirty="0">
                          <a:solidFill>
                            <a:schemeClr val="accent3"/>
                          </a:solidFill>
                        </a:rPr>
                        <a:t>Can read soft or lifestyle to hard-nosed fleet buyers.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solidFill>
                      <a:srgbClr val="F1E4C6"/>
                    </a:solidFill>
                  </a:tcPr>
                </a:tc>
              </a:tr>
              <a:tr h="658368">
                <a:tc>
                  <a:txBody>
                    <a:bodyPr/>
                    <a:lstStyle/>
                    <a:p>
                      <a:pPr indent="0" marL="0">
                        <a:buNone/>
                      </a:pPr>
                      <a:r>
                        <a:rPr lang="en-US" sz="1600" b="1" dirty="0">
                          <a:solidFill>
                            <a:schemeClr val="tx1"/>
                          </a:solidFill>
                          <a:latin typeface="Cambria" pitchFamily="34" charset="0"/>
                          <a:ea typeface="Cambria" pitchFamily="34" charset="-122"/>
                          <a:cs typeface="Cambria" pitchFamily="34" charset="-120"/>
                        </a:rPr>
                        <a:t>Piney Woods</a:t>
                      </a:r>
                      <a:endParaRPr lang="en-US" sz="1600" dirty="0">
                        <a:latin typeface="Cambria" charset="0"/>
                        <a:ea typeface="Cambria" charset="0"/>
                        <a:cs typeface="Cambria"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tx1"/>
                          </a:solidFill>
                        </a:rPr>
                        <a:t>Rooted, calm, organic.</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tx1"/>
                          </a:solidFill>
                        </a:rPr>
                        <a:t>Relationship buyers who value calm and trust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accent3"/>
                          </a:solidFill>
                        </a:rPr>
                        <a:t>Green pulls away from the gold mark; forest isn’t oilfield TX-LA-OK.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658368">
                <a:tc>
                  <a:txBody>
                    <a:bodyPr/>
                    <a:lstStyle/>
                    <a:p>
                      <a:pPr indent="0" marL="0">
                        <a:buNone/>
                      </a:pPr>
                      <a:r>
                        <a:rPr lang="en-US" sz="1600" b="1" dirty="0">
                          <a:solidFill>
                            <a:schemeClr val="tx1"/>
                          </a:solidFill>
                          <a:latin typeface="Cambria" pitchFamily="34" charset="0"/>
                          <a:ea typeface="Cambria" pitchFamily="34" charset="-122"/>
                          <a:cs typeface="Cambria" pitchFamily="34" charset="-120"/>
                        </a:rPr>
                        <a:t>Open Water</a:t>
                      </a:r>
                      <a:endParaRPr lang="en-US" sz="1600" dirty="0">
                        <a:latin typeface="Cambria" charset="0"/>
                        <a:ea typeface="Cambria" charset="0"/>
                        <a:cs typeface="Cambria"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tx1"/>
                          </a:solidFill>
                        </a:rPr>
                        <a:t>Crisp, corporate, confident.</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tx1"/>
                          </a:solidFill>
                        </a:rPr>
                        <a:t>Procurement and larger B2B accounts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accent3"/>
                          </a:solidFill>
                        </a:rPr>
                        <a:t>Offshore rig reads as drilling, not distribution. Coolest temperature.</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658368">
                <a:tc>
                  <a:txBody>
                    <a:bodyPr/>
                    <a:lstStyle/>
                    <a:p>
                      <a:pPr indent="0" marL="0">
                        <a:buNone/>
                      </a:pPr>
                      <a:r>
                        <a:rPr lang="en-US" sz="1600" b="1" dirty="0">
                          <a:solidFill>
                            <a:schemeClr val="tx1"/>
                          </a:solidFill>
                          <a:latin typeface="Cambria" pitchFamily="34" charset="0"/>
                          <a:ea typeface="Cambria" pitchFamily="34" charset="-122"/>
                          <a:cs typeface="Cambria" pitchFamily="34" charset="-120"/>
                        </a:rPr>
                        <a:t>Heartland Steel  ★</a:t>
                      </a:r>
                      <a:endParaRPr lang="en-US" sz="1600" dirty="0">
                        <a:latin typeface="Cambria" charset="0"/>
                        <a:ea typeface="Cambria" charset="0"/>
                        <a:cs typeface="Cambria"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solidFill>
                      <a:srgbClr val="F1E4C6"/>
                    </a:solidFill>
                  </a:tcPr>
                </a:tc>
                <a:tc>
                  <a:txBody>
                    <a:bodyPr/>
                    <a:lstStyle/>
                    <a:p>
                      <a:pPr indent="0" marL="0">
                        <a:buNone/>
                      </a:pPr>
                      <a:r>
                        <a:rPr lang="en-US" sz="1400" dirty="0">
                          <a:solidFill>
                            <a:schemeClr val="tx1"/>
                          </a:solidFill>
                        </a:rPr>
                        <a:t>Bold, cinematic, industrial.</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solidFill>
                      <a:srgbClr val="F1E4C6"/>
                    </a:solidFill>
                  </a:tcPr>
                </a:tc>
                <a:tc>
                  <a:txBody>
                    <a:bodyPr/>
                    <a:lstStyle/>
                    <a:p>
                      <a:pPr indent="0" marL="0">
                        <a:buNone/>
                      </a:pPr>
                      <a:r>
                        <a:rPr lang="en-US" sz="1400" dirty="0">
                          <a:solidFill>
                            <a:schemeClr val="tx1"/>
                          </a:solidFill>
                        </a:rPr>
                        <a:t>Fleet, oilfield, and operations buyers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solidFill>
                      <a:srgbClr val="F1E4C6"/>
                    </a:solidFill>
                  </a:tcPr>
                </a:tc>
                <a:tc>
                  <a:txBody>
                    <a:bodyPr/>
                    <a:lstStyle/>
                    <a:p>
                      <a:pPr indent="0" marL="0">
                        <a:buNone/>
                      </a:pPr>
                      <a:r>
                        <a:rPr lang="en-US" sz="1400" dirty="0">
                          <a:solidFill>
                            <a:schemeClr val="accent3"/>
                          </a:solidFill>
                        </a:rPr>
                        <a:t>Loudest option. The orange accent needs tuning toward our gold.</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solidFill>
                      <a:srgbClr val="F1E4C6"/>
                    </a:solidFill>
                  </a:tcPr>
                </a:tc>
              </a:tr>
              <a:tr h="658368">
                <a:tc>
                  <a:txBody>
                    <a:bodyPr/>
                    <a:lstStyle/>
                    <a:p>
                      <a:pPr indent="0" marL="0">
                        <a:buNone/>
                      </a:pPr>
                      <a:r>
                        <a:rPr lang="en-US" sz="1600" b="1" dirty="0">
                          <a:solidFill>
                            <a:schemeClr val="tx1"/>
                          </a:solidFill>
                          <a:latin typeface="Cambria" pitchFamily="34" charset="0"/>
                          <a:ea typeface="Cambria" pitchFamily="34" charset="-122"/>
                          <a:cs typeface="Cambria" pitchFamily="34" charset="-120"/>
                        </a:rPr>
                        <a:t>Hill Country</a:t>
                      </a:r>
                      <a:endParaRPr lang="en-US" sz="1600" dirty="0">
                        <a:latin typeface="Cambria" charset="0"/>
                        <a:ea typeface="Cambria" charset="0"/>
                        <a:cs typeface="Cambria" charset="0"/>
                      </a:endParaRPr>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tx1"/>
                          </a:solidFill>
                        </a:rPr>
                        <a:t>Warm, friendly, welcoming.</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tx1"/>
                          </a:solidFill>
                        </a:rPr>
                        <a:t>Smaller and first-time accounts</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400" dirty="0">
                          <a:solidFill>
                            <a:schemeClr val="accent3"/>
                          </a:solidFill>
                        </a:rPr>
                        <a:t>Most consumer-feeling; terracotta competes with the gold mark.</a:t>
                      </a:r>
                      <a:endParaRPr lang="en-US" sz="1400" dirty="0"/>
                    </a:p>
                  </a:txBody>
                  <a:tcPr marL="109728"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bl>
          </a:graphicData>
        </a:graphic>
      </p:graphicFrame>
      <p:sp>
        <p:nvSpPr>
          <p:cNvPr id="5" name="Text 2"/>
          <p:cNvSpPr txBox="1"/>
          <p:nvPr/>
        </p:nvSpPr>
        <p:spPr>
          <a:xfrm>
            <a:off x="9939528" y="5989320"/>
            <a:ext cx="1362456" cy="228600"/>
          </a:xfrm>
          <a:prstGeom prst="rect">
            <a:avLst/>
          </a:prstGeom>
          <a:noFill/>
          <a:ln/>
        </p:spPr>
        <p:txBody>
          <a:bodyPr wrap="square" lIns="0" tIns="0" rIns="0" bIns="0" rtlCol="0" anchor="t"/>
          <a:lstStyle/>
          <a:p>
            <a:pPr algn="r" indent="0" marL="0">
              <a:buNone/>
            </a:pPr>
            <a:r>
              <a:rPr lang="en-US" sz="1100" dirty="0">
                <a:solidFill>
                  <a:schemeClr val="accent3"/>
                </a:solidFill>
              </a:rPr>
              <a:t>★ featured pair</a:t>
            </a:r>
            <a:endParaRPr lang="en-US" sz="1100" dirty="0"/>
          </a:p>
        </p:txBody>
      </p:sp>
      <p:sp>
        <p:nvSpPr>
          <p:cNvPr id="6" name="rock marker"/>
          <p:cNvSpPr txBox="1"/>
          <p:nvPr/>
        </p:nvSpPr>
        <p:spPr>
          <a:xfrm>
            <a:off x="886968" y="6291072"/>
            <a:ext cx="2930652" cy="292608"/>
          </a:xfrm>
          <a:prstGeom prst="roundRect">
            <a:avLst>
              <a:gd name="adj" fmla="val 50000"/>
            </a:avLst>
          </a:prstGeom>
          <a:noFill/>
          <a:ln w="9525">
            <a:solidFill>
              <a:srgbClr val="CDB68A"/>
            </a:solidFill>
          </a:ln>
        </p:spPr>
        <p:txBody>
          <a:bodyPr wrap="square" lIns="0" tIns="0" rIns="0" bIns="0" rtlCol="0" anchor="ctr"/>
          <a:lstStyle/>
          <a:p>
            <a:pPr algn="ctr" indent="0" marL="0">
              <a:buNone/>
            </a:pPr>
            <a:r>
              <a:rPr lang="en-US" sz="900" b="1" spc="150" kern="0" dirty="0">
                <a:solidFill>
                  <a:schemeClr val="accent2"/>
                </a:solidFill>
              </a:rPr>
              <a:t>WEBSITE ROCK · MILESTONE 1 OF 4 ✓</a:t>
            </a:r>
            <a:endParaRPr lang="en-US" sz="9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2"/>
                </a:solidFill>
              </a:rPr>
              <a:t>PART 2 · BUILT IN, NOT BOLTED ON</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Every direction books deliveries, in its own colors</a:t>
            </a:r>
            <a:endParaRPr lang="en-US" sz="4400" dirty="0"/>
          </a:p>
        </p:txBody>
      </p:sp>
      <p:pic>
        <p:nvPicPr>
          <p:cNvPr id="4" name="Big Sky matrix" descr="Big Sky booking matrix">    </p:cNvPr>
          <p:cNvPicPr>
            <a:picLocks noChangeAspect="1"/>
          </p:cNvPicPr>
          <p:nvPr/>
        </p:nvPicPr>
        <p:blipFill>
          <a:blip r:embed="rId1"/>
          <a:srcRect l="0" r="0" t="0" b="0"/>
          <a:stretch/>
        </p:blipFill>
        <p:spPr>
          <a:xfrm>
            <a:off x="886968" y="3154680"/>
            <a:ext cx="1900672" cy="1965960"/>
          </a:xfrm>
          <a:prstGeom prst="rect">
            <a:avLst/>
          </a:prstGeom>
          <a:effectLst>
            <a:outerShdw sx="100000" sy="100000" kx="0" ky="0" algn="bl" rotWithShape="0" blurRad="152400" dist="50800" dir="5400000">
              <a:srgbClr val="281C0A">
                <a:alpha val="30000"/>
              </a:srgbClr>
            </a:outerShdw>
          </a:effectLst>
        </p:spPr>
      </p:pic>
      <p:sp>
        <p:nvSpPr>
          <p:cNvPr id="5" name="Text 2"/>
          <p:cNvSpPr txBox="1"/>
          <p:nvPr/>
        </p:nvSpPr>
        <p:spPr>
          <a:xfrm>
            <a:off x="886968" y="5303520"/>
            <a:ext cx="1900672" cy="228600"/>
          </a:xfrm>
          <a:prstGeom prst="rect">
            <a:avLst/>
          </a:prstGeom>
          <a:noFill/>
          <a:ln/>
        </p:spPr>
        <p:txBody>
          <a:bodyPr wrap="square" lIns="0" tIns="0" rIns="0" bIns="0" rtlCol="0" anchor="t"/>
          <a:lstStyle/>
          <a:p>
            <a:pPr indent="0" marL="0">
              <a:buNone/>
            </a:pPr>
            <a:r>
              <a:rPr lang="en-US" sz="1000" b="1" spc="150" kern="0" dirty="0">
                <a:solidFill>
                  <a:schemeClr val="accent3"/>
                </a:solidFill>
              </a:rPr>
              <a:t>01 · BIG SKY</a:t>
            </a:r>
            <a:endParaRPr lang="en-US" sz="1000" dirty="0"/>
          </a:p>
        </p:txBody>
      </p:sp>
      <p:pic>
        <p:nvPicPr>
          <p:cNvPr id="6" name="Piney Woods matrix" descr="Piney Woods booking matrix">    </p:cNvPr>
          <p:cNvPicPr>
            <a:picLocks noChangeAspect="1"/>
          </p:cNvPicPr>
          <p:nvPr/>
        </p:nvPicPr>
        <p:blipFill>
          <a:blip r:embed="rId2"/>
          <a:srcRect l="0" r="0" t="0" b="0"/>
          <a:stretch/>
        </p:blipFill>
        <p:spPr>
          <a:xfrm>
            <a:off x="3016240" y="3154680"/>
            <a:ext cx="1900672" cy="1965960"/>
          </a:xfrm>
          <a:prstGeom prst="rect">
            <a:avLst/>
          </a:prstGeom>
          <a:effectLst>
            <a:outerShdw sx="100000" sy="100000" kx="0" ky="0" algn="bl" rotWithShape="0" blurRad="152400" dist="50800" dir="5400000">
              <a:srgbClr val="281C0A">
                <a:alpha val="30000"/>
              </a:srgbClr>
            </a:outerShdw>
          </a:effectLst>
        </p:spPr>
      </p:pic>
      <p:sp>
        <p:nvSpPr>
          <p:cNvPr id="7" name="Text 3"/>
          <p:cNvSpPr txBox="1"/>
          <p:nvPr/>
        </p:nvSpPr>
        <p:spPr>
          <a:xfrm>
            <a:off x="3016240" y="5303520"/>
            <a:ext cx="1900672" cy="228600"/>
          </a:xfrm>
          <a:prstGeom prst="rect">
            <a:avLst/>
          </a:prstGeom>
          <a:noFill/>
          <a:ln/>
        </p:spPr>
        <p:txBody>
          <a:bodyPr wrap="square" lIns="0" tIns="0" rIns="0" bIns="0" rtlCol="0" anchor="t"/>
          <a:lstStyle/>
          <a:p>
            <a:pPr indent="0" marL="0">
              <a:buNone/>
            </a:pPr>
            <a:r>
              <a:rPr lang="en-US" sz="1000" b="1" spc="150" kern="0" dirty="0">
                <a:solidFill>
                  <a:schemeClr val="accent3"/>
                </a:solidFill>
              </a:rPr>
              <a:t>02 · PINEY WOODS</a:t>
            </a:r>
            <a:endParaRPr lang="en-US" sz="1000" dirty="0"/>
          </a:p>
        </p:txBody>
      </p:sp>
      <p:pic>
        <p:nvPicPr>
          <p:cNvPr id="8" name="Open Water matrix" descr="Open Water booking matrix">    </p:cNvPr>
          <p:cNvPicPr>
            <a:picLocks noChangeAspect="1"/>
          </p:cNvPicPr>
          <p:nvPr/>
        </p:nvPicPr>
        <p:blipFill>
          <a:blip r:embed="rId3"/>
          <a:srcRect l="0" r="0" t="0" b="0"/>
          <a:stretch/>
        </p:blipFill>
        <p:spPr>
          <a:xfrm>
            <a:off x="5145512" y="3154680"/>
            <a:ext cx="1900672" cy="1965960"/>
          </a:xfrm>
          <a:prstGeom prst="rect">
            <a:avLst/>
          </a:prstGeom>
          <a:effectLst>
            <a:outerShdw sx="100000" sy="100000" kx="0" ky="0" algn="bl" rotWithShape="0" blurRad="152400" dist="50800" dir="5400000">
              <a:srgbClr val="281C0A">
                <a:alpha val="30000"/>
              </a:srgbClr>
            </a:outerShdw>
          </a:effectLst>
        </p:spPr>
      </p:pic>
      <p:sp>
        <p:nvSpPr>
          <p:cNvPr id="9" name="Text 4"/>
          <p:cNvSpPr txBox="1"/>
          <p:nvPr/>
        </p:nvSpPr>
        <p:spPr>
          <a:xfrm>
            <a:off x="5145512" y="5303520"/>
            <a:ext cx="1900672" cy="228600"/>
          </a:xfrm>
          <a:prstGeom prst="rect">
            <a:avLst/>
          </a:prstGeom>
          <a:noFill/>
          <a:ln/>
        </p:spPr>
        <p:txBody>
          <a:bodyPr wrap="square" lIns="0" tIns="0" rIns="0" bIns="0" rtlCol="0" anchor="t"/>
          <a:lstStyle/>
          <a:p>
            <a:pPr indent="0" marL="0">
              <a:buNone/>
            </a:pPr>
            <a:r>
              <a:rPr lang="en-US" sz="1000" b="1" spc="150" kern="0" dirty="0">
                <a:solidFill>
                  <a:schemeClr val="accent3"/>
                </a:solidFill>
              </a:rPr>
              <a:t>03 · OPEN WATER</a:t>
            </a:r>
            <a:endParaRPr lang="en-US" sz="1000" dirty="0"/>
          </a:p>
        </p:txBody>
      </p:sp>
      <p:pic>
        <p:nvPicPr>
          <p:cNvPr id="10" name="Heartland Steel matrix" descr="Heartland Steel booking matrix">    </p:cNvPr>
          <p:cNvPicPr>
            <a:picLocks noChangeAspect="1"/>
          </p:cNvPicPr>
          <p:nvPr/>
        </p:nvPicPr>
        <p:blipFill>
          <a:blip r:embed="rId4"/>
          <a:srcRect l="0" r="0" t="0" b="0"/>
          <a:stretch/>
        </p:blipFill>
        <p:spPr>
          <a:xfrm>
            <a:off x="7274784" y="3154680"/>
            <a:ext cx="1900672" cy="1965960"/>
          </a:xfrm>
          <a:prstGeom prst="rect">
            <a:avLst/>
          </a:prstGeom>
          <a:effectLst>
            <a:outerShdw sx="100000" sy="100000" kx="0" ky="0" algn="bl" rotWithShape="0" blurRad="152400" dist="50800" dir="5400000">
              <a:srgbClr val="281C0A">
                <a:alpha val="30000"/>
              </a:srgbClr>
            </a:outerShdw>
          </a:effectLst>
        </p:spPr>
      </p:pic>
      <p:sp>
        <p:nvSpPr>
          <p:cNvPr id="11" name="Text 5"/>
          <p:cNvSpPr txBox="1"/>
          <p:nvPr/>
        </p:nvSpPr>
        <p:spPr>
          <a:xfrm>
            <a:off x="7274784" y="5303520"/>
            <a:ext cx="1900672" cy="228600"/>
          </a:xfrm>
          <a:prstGeom prst="rect">
            <a:avLst/>
          </a:prstGeom>
          <a:noFill/>
          <a:ln/>
        </p:spPr>
        <p:txBody>
          <a:bodyPr wrap="square" lIns="0" tIns="0" rIns="0" bIns="0" rtlCol="0" anchor="t"/>
          <a:lstStyle/>
          <a:p>
            <a:pPr indent="0" marL="0">
              <a:buNone/>
            </a:pPr>
            <a:r>
              <a:rPr lang="en-US" sz="1000" b="1" spc="150" kern="0" dirty="0">
                <a:solidFill>
                  <a:schemeClr val="accent3"/>
                </a:solidFill>
              </a:rPr>
              <a:t>04 · HEARTLAND STEEL</a:t>
            </a:r>
            <a:endParaRPr lang="en-US" sz="1000" dirty="0"/>
          </a:p>
        </p:txBody>
      </p:sp>
      <p:pic>
        <p:nvPicPr>
          <p:cNvPr id="12" name="Hill Country matrix" descr="Hill Country booking matrix">    </p:cNvPr>
          <p:cNvPicPr>
            <a:picLocks noChangeAspect="1"/>
          </p:cNvPicPr>
          <p:nvPr/>
        </p:nvPicPr>
        <p:blipFill>
          <a:blip r:embed="rId5"/>
          <a:srcRect l="0" r="0" t="0" b="0"/>
          <a:stretch/>
        </p:blipFill>
        <p:spPr>
          <a:xfrm>
            <a:off x="9404055" y="3154680"/>
            <a:ext cx="1900672" cy="1965960"/>
          </a:xfrm>
          <a:prstGeom prst="rect">
            <a:avLst/>
          </a:prstGeom>
          <a:effectLst>
            <a:outerShdw sx="100000" sy="100000" kx="0" ky="0" algn="bl" rotWithShape="0" blurRad="152400" dist="50800" dir="5400000">
              <a:srgbClr val="281C0A">
                <a:alpha val="30000"/>
              </a:srgbClr>
            </a:outerShdw>
          </a:effectLst>
        </p:spPr>
      </p:pic>
      <p:sp>
        <p:nvSpPr>
          <p:cNvPr id="13" name="Text 6"/>
          <p:cNvSpPr txBox="1"/>
          <p:nvPr/>
        </p:nvSpPr>
        <p:spPr>
          <a:xfrm>
            <a:off x="9404055" y="5303520"/>
            <a:ext cx="1900672" cy="228600"/>
          </a:xfrm>
          <a:prstGeom prst="rect">
            <a:avLst/>
          </a:prstGeom>
          <a:noFill/>
          <a:ln/>
        </p:spPr>
        <p:txBody>
          <a:bodyPr wrap="square" lIns="0" tIns="0" rIns="0" bIns="0" rtlCol="0" anchor="t"/>
          <a:lstStyle/>
          <a:p>
            <a:pPr indent="0" marL="0">
              <a:buNone/>
            </a:pPr>
            <a:r>
              <a:rPr lang="en-US" sz="1000" b="1" spc="150" kern="0" dirty="0">
                <a:solidFill>
                  <a:schemeClr val="accent3"/>
                </a:solidFill>
              </a:rPr>
              <a:t>05 · HILL COUNTRY</a:t>
            </a:r>
            <a:endParaRPr lang="en-US" sz="1000" dirty="0"/>
          </a:p>
        </p:txBody>
      </p:sp>
      <p:sp>
        <p:nvSpPr>
          <p:cNvPr id="14" name="rock marker"/>
          <p:cNvSpPr txBox="1"/>
          <p:nvPr/>
        </p:nvSpPr>
        <p:spPr>
          <a:xfrm>
            <a:off x="886968" y="6291072"/>
            <a:ext cx="2930652" cy="292608"/>
          </a:xfrm>
          <a:prstGeom prst="roundRect">
            <a:avLst>
              <a:gd name="adj" fmla="val 50000"/>
            </a:avLst>
          </a:prstGeom>
          <a:noFill/>
          <a:ln w="9525">
            <a:solidFill>
              <a:srgbClr val="CDB68A"/>
            </a:solidFill>
          </a:ln>
        </p:spPr>
        <p:txBody>
          <a:bodyPr wrap="square" lIns="0" tIns="0" rIns="0" bIns="0" rtlCol="0" anchor="ctr"/>
          <a:lstStyle/>
          <a:p>
            <a:pPr algn="ctr" indent="0" marL="0">
              <a:buNone/>
            </a:pPr>
            <a:r>
              <a:rPr lang="en-US" sz="900" b="1" spc="150" kern="0" dirty="0">
                <a:solidFill>
                  <a:schemeClr val="accent2"/>
                </a:solidFill>
              </a:rPr>
              <a:t>WEBSITE ROCK · MILESTONE 1 OF 4 ✓</a:t>
            </a:r>
            <a:endParaRPr lang="en-US" sz="9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DECIDE</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bg2"/>
                </a:solidFill>
                <a:latin typeface="Cambria" pitchFamily="34" charset="0"/>
                <a:ea typeface="Cambria" pitchFamily="34" charset="-122"/>
                <a:cs typeface="Cambria" pitchFamily="34" charset="-120"/>
              </a:rPr>
              <a:t>Which direction do we build?</a:t>
            </a:r>
            <a:endParaRPr lang="en-US" sz="4400" dirty="0"/>
          </a:p>
        </p:txBody>
      </p:sp>
      <p:sp>
        <p:nvSpPr>
          <p:cNvPr id="4" name="Big Sky card"/>
          <p:cNvSpPr/>
          <p:nvPr/>
        </p:nvSpPr>
        <p:spPr>
          <a:xfrm>
            <a:off x="886968" y="2423160"/>
            <a:ext cx="1922617" cy="1280160"/>
          </a:xfrm>
          <a:prstGeom prst="roundRect">
            <a:avLst>
              <a:gd name="adj" fmla="val 5714"/>
            </a:avLst>
          </a:prstGeom>
          <a:solidFill>
            <a:srgbClr val="2A2116"/>
          </a:solidFill>
          <a:ln w="15875">
            <a:solidFill>
              <a:srgbClr val="D6A64A"/>
            </a:solidFill>
            <a:prstDash val="solid"/>
          </a:ln>
        </p:spPr>
      </p:sp>
      <p:sp>
        <p:nvSpPr>
          <p:cNvPr id="5" name="Text 3"/>
          <p:cNvSpPr txBox="1"/>
          <p:nvPr/>
        </p:nvSpPr>
        <p:spPr>
          <a:xfrm>
            <a:off x="1069848" y="2587752"/>
            <a:ext cx="1556857"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01</a:t>
            </a:r>
            <a:endParaRPr lang="en-US" sz="1000" dirty="0"/>
          </a:p>
        </p:txBody>
      </p:sp>
      <p:sp>
        <p:nvSpPr>
          <p:cNvPr id="6" name="Text 4"/>
          <p:cNvSpPr txBox="1"/>
          <p:nvPr/>
        </p:nvSpPr>
        <p:spPr>
          <a:xfrm>
            <a:off x="1069848" y="2834640"/>
            <a:ext cx="1556857" cy="365760"/>
          </a:xfrm>
          <a:prstGeom prst="rect">
            <a:avLst/>
          </a:prstGeom>
          <a:noFill/>
          <a:ln/>
        </p:spPr>
        <p:txBody>
          <a:bodyPr wrap="square" lIns="0" tIns="0" rIns="0" bIns="0" rtlCol="0" anchor="t">
            <a:normAutofit/>
          </a:bodyPr>
          <a:lstStyle/>
          <a:p>
            <a:pPr indent="0" marL="0">
              <a:buNone/>
            </a:pPr>
            <a:r>
              <a:rPr lang="en-US" sz="1700" b="1" dirty="0">
                <a:solidFill>
                  <a:schemeClr val="bg2"/>
                </a:solidFill>
                <a:latin typeface="Cambria" pitchFamily="34" charset="0"/>
                <a:ea typeface="Cambria" pitchFamily="34" charset="-122"/>
                <a:cs typeface="Cambria" pitchFamily="34" charset="-120"/>
              </a:rPr>
              <a:t>Big Sky</a:t>
            </a:r>
            <a:endParaRPr lang="en-US" sz="1700" dirty="0"/>
          </a:p>
        </p:txBody>
      </p:sp>
      <p:sp>
        <p:nvSpPr>
          <p:cNvPr id="7" name="Text 5"/>
          <p:cNvSpPr txBox="1"/>
          <p:nvPr/>
        </p:nvSpPr>
        <p:spPr>
          <a:xfrm>
            <a:off x="1069848" y="3191256"/>
            <a:ext cx="1556857" cy="384048"/>
          </a:xfrm>
          <a:prstGeom prst="rect">
            <a:avLst/>
          </a:prstGeom>
          <a:noFill/>
          <a:ln/>
        </p:spPr>
        <p:txBody>
          <a:bodyPr wrap="square" lIns="0" tIns="0" rIns="0" bIns="0" rtlCol="0" anchor="t"/>
          <a:lstStyle/>
          <a:p>
            <a:pPr indent="0" marL="0">
              <a:buNone/>
            </a:pPr>
            <a:r>
              <a:rPr lang="en-US" sz="1100" dirty="0">
                <a:solidFill>
                  <a:srgbClr val="9C9381"/>
                </a:solidFill>
              </a:rPr>
              <a:t>Warm, editorial, timeless.</a:t>
            </a:r>
            <a:endParaRPr lang="en-US" sz="1100" dirty="0"/>
          </a:p>
        </p:txBody>
      </p:sp>
      <p:sp>
        <p:nvSpPr>
          <p:cNvPr id="8" name="Piney Woods card"/>
          <p:cNvSpPr/>
          <p:nvPr/>
        </p:nvSpPr>
        <p:spPr>
          <a:xfrm>
            <a:off x="3010753" y="2423160"/>
            <a:ext cx="1922617" cy="1280160"/>
          </a:xfrm>
          <a:prstGeom prst="roundRect">
            <a:avLst>
              <a:gd name="adj" fmla="val 5714"/>
            </a:avLst>
          </a:prstGeom>
          <a:solidFill>
            <a:srgbClr val="2A2116">
              <a:alpha val="60000"/>
            </a:srgbClr>
          </a:solidFill>
          <a:ln w="9525">
            <a:solidFill>
              <a:srgbClr val="3A3226"/>
            </a:solidFill>
            <a:prstDash val="solid"/>
          </a:ln>
        </p:spPr>
      </p:sp>
      <p:sp>
        <p:nvSpPr>
          <p:cNvPr id="9" name="Text 7"/>
          <p:cNvSpPr txBox="1"/>
          <p:nvPr/>
        </p:nvSpPr>
        <p:spPr>
          <a:xfrm>
            <a:off x="3193633" y="2587752"/>
            <a:ext cx="1556857"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02</a:t>
            </a:r>
            <a:endParaRPr lang="en-US" sz="1000" dirty="0"/>
          </a:p>
        </p:txBody>
      </p:sp>
      <p:sp>
        <p:nvSpPr>
          <p:cNvPr id="10" name="Text 8"/>
          <p:cNvSpPr txBox="1"/>
          <p:nvPr/>
        </p:nvSpPr>
        <p:spPr>
          <a:xfrm>
            <a:off x="3193633" y="2834640"/>
            <a:ext cx="1556857" cy="365760"/>
          </a:xfrm>
          <a:prstGeom prst="rect">
            <a:avLst/>
          </a:prstGeom>
          <a:noFill/>
          <a:ln/>
        </p:spPr>
        <p:txBody>
          <a:bodyPr wrap="square" lIns="0" tIns="0" rIns="0" bIns="0" rtlCol="0" anchor="t">
            <a:normAutofit/>
          </a:bodyPr>
          <a:lstStyle/>
          <a:p>
            <a:pPr indent="0" marL="0">
              <a:buNone/>
            </a:pPr>
            <a:r>
              <a:rPr lang="en-US" sz="1700" b="1" dirty="0">
                <a:solidFill>
                  <a:schemeClr val="bg2"/>
                </a:solidFill>
                <a:latin typeface="Cambria" pitchFamily="34" charset="0"/>
                <a:ea typeface="Cambria" pitchFamily="34" charset="-122"/>
                <a:cs typeface="Cambria" pitchFamily="34" charset="-120"/>
              </a:rPr>
              <a:t>Piney Woods</a:t>
            </a:r>
            <a:endParaRPr lang="en-US" sz="1700" dirty="0"/>
          </a:p>
        </p:txBody>
      </p:sp>
      <p:sp>
        <p:nvSpPr>
          <p:cNvPr id="11" name="Text 9"/>
          <p:cNvSpPr txBox="1"/>
          <p:nvPr/>
        </p:nvSpPr>
        <p:spPr>
          <a:xfrm>
            <a:off x="3193633" y="3191256"/>
            <a:ext cx="1556857" cy="384048"/>
          </a:xfrm>
          <a:prstGeom prst="rect">
            <a:avLst/>
          </a:prstGeom>
          <a:noFill/>
          <a:ln/>
        </p:spPr>
        <p:txBody>
          <a:bodyPr wrap="square" lIns="0" tIns="0" rIns="0" bIns="0" rtlCol="0" anchor="t"/>
          <a:lstStyle/>
          <a:p>
            <a:pPr indent="0" marL="0">
              <a:buNone/>
            </a:pPr>
            <a:r>
              <a:rPr lang="en-US" sz="1100" dirty="0">
                <a:solidFill>
                  <a:srgbClr val="9C9381"/>
                </a:solidFill>
              </a:rPr>
              <a:t>Rooted, calm, organic.</a:t>
            </a:r>
            <a:endParaRPr lang="en-US" sz="1100" dirty="0"/>
          </a:p>
        </p:txBody>
      </p:sp>
      <p:sp>
        <p:nvSpPr>
          <p:cNvPr id="12" name="Open Water card"/>
          <p:cNvSpPr/>
          <p:nvPr/>
        </p:nvSpPr>
        <p:spPr>
          <a:xfrm>
            <a:off x="5134539" y="2423160"/>
            <a:ext cx="1922617" cy="1280160"/>
          </a:xfrm>
          <a:prstGeom prst="roundRect">
            <a:avLst>
              <a:gd name="adj" fmla="val 5714"/>
            </a:avLst>
          </a:prstGeom>
          <a:solidFill>
            <a:srgbClr val="2A2116">
              <a:alpha val="60000"/>
            </a:srgbClr>
          </a:solidFill>
          <a:ln w="9525">
            <a:solidFill>
              <a:srgbClr val="3A3226"/>
            </a:solidFill>
            <a:prstDash val="solid"/>
          </a:ln>
        </p:spPr>
      </p:sp>
      <p:sp>
        <p:nvSpPr>
          <p:cNvPr id="13" name="Text 11"/>
          <p:cNvSpPr txBox="1"/>
          <p:nvPr/>
        </p:nvSpPr>
        <p:spPr>
          <a:xfrm>
            <a:off x="5317419" y="2587752"/>
            <a:ext cx="1556857"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03</a:t>
            </a:r>
            <a:endParaRPr lang="en-US" sz="1000" dirty="0"/>
          </a:p>
        </p:txBody>
      </p:sp>
      <p:sp>
        <p:nvSpPr>
          <p:cNvPr id="14" name="Text 12"/>
          <p:cNvSpPr txBox="1"/>
          <p:nvPr/>
        </p:nvSpPr>
        <p:spPr>
          <a:xfrm>
            <a:off x="5317419" y="2834640"/>
            <a:ext cx="1556857" cy="365760"/>
          </a:xfrm>
          <a:prstGeom prst="rect">
            <a:avLst/>
          </a:prstGeom>
          <a:noFill/>
          <a:ln/>
        </p:spPr>
        <p:txBody>
          <a:bodyPr wrap="square" lIns="0" tIns="0" rIns="0" bIns="0" rtlCol="0" anchor="t">
            <a:normAutofit/>
          </a:bodyPr>
          <a:lstStyle/>
          <a:p>
            <a:pPr indent="0" marL="0">
              <a:buNone/>
            </a:pPr>
            <a:r>
              <a:rPr lang="en-US" sz="1700" b="1" dirty="0">
                <a:solidFill>
                  <a:schemeClr val="bg2"/>
                </a:solidFill>
                <a:latin typeface="Cambria" pitchFamily="34" charset="0"/>
                <a:ea typeface="Cambria" pitchFamily="34" charset="-122"/>
                <a:cs typeface="Cambria" pitchFamily="34" charset="-120"/>
              </a:rPr>
              <a:t>Open Water</a:t>
            </a:r>
            <a:endParaRPr lang="en-US" sz="1700" dirty="0"/>
          </a:p>
        </p:txBody>
      </p:sp>
      <p:sp>
        <p:nvSpPr>
          <p:cNvPr id="15" name="Text 13"/>
          <p:cNvSpPr txBox="1"/>
          <p:nvPr/>
        </p:nvSpPr>
        <p:spPr>
          <a:xfrm>
            <a:off x="5317419" y="3191256"/>
            <a:ext cx="1556857" cy="384048"/>
          </a:xfrm>
          <a:prstGeom prst="rect">
            <a:avLst/>
          </a:prstGeom>
          <a:noFill/>
          <a:ln/>
        </p:spPr>
        <p:txBody>
          <a:bodyPr wrap="square" lIns="0" tIns="0" rIns="0" bIns="0" rtlCol="0" anchor="t"/>
          <a:lstStyle/>
          <a:p>
            <a:pPr indent="0" marL="0">
              <a:buNone/>
            </a:pPr>
            <a:r>
              <a:rPr lang="en-US" sz="1100" dirty="0">
                <a:solidFill>
                  <a:srgbClr val="9C9381"/>
                </a:solidFill>
              </a:rPr>
              <a:t>Crisp, corporate, confident.</a:t>
            </a:r>
            <a:endParaRPr lang="en-US" sz="1100" dirty="0"/>
          </a:p>
        </p:txBody>
      </p:sp>
      <p:sp>
        <p:nvSpPr>
          <p:cNvPr id="16" name="Heartland Steel card"/>
          <p:cNvSpPr/>
          <p:nvPr/>
        </p:nvSpPr>
        <p:spPr>
          <a:xfrm>
            <a:off x="7258324" y="2423160"/>
            <a:ext cx="1922617" cy="1280160"/>
          </a:xfrm>
          <a:prstGeom prst="roundRect">
            <a:avLst>
              <a:gd name="adj" fmla="val 5714"/>
            </a:avLst>
          </a:prstGeom>
          <a:solidFill>
            <a:srgbClr val="2A2116"/>
          </a:solidFill>
          <a:ln w="15875">
            <a:solidFill>
              <a:srgbClr val="D6A64A"/>
            </a:solidFill>
            <a:prstDash val="solid"/>
          </a:ln>
        </p:spPr>
      </p:sp>
      <p:sp>
        <p:nvSpPr>
          <p:cNvPr id="17" name="Text 15"/>
          <p:cNvSpPr txBox="1"/>
          <p:nvPr/>
        </p:nvSpPr>
        <p:spPr>
          <a:xfrm>
            <a:off x="7441204" y="2587752"/>
            <a:ext cx="1556857"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04</a:t>
            </a:r>
            <a:endParaRPr lang="en-US" sz="1000" dirty="0"/>
          </a:p>
        </p:txBody>
      </p:sp>
      <p:sp>
        <p:nvSpPr>
          <p:cNvPr id="18" name="Text 16"/>
          <p:cNvSpPr txBox="1"/>
          <p:nvPr/>
        </p:nvSpPr>
        <p:spPr>
          <a:xfrm>
            <a:off x="7441204" y="2834640"/>
            <a:ext cx="1556857" cy="365760"/>
          </a:xfrm>
          <a:prstGeom prst="rect">
            <a:avLst/>
          </a:prstGeom>
          <a:noFill/>
          <a:ln/>
        </p:spPr>
        <p:txBody>
          <a:bodyPr wrap="square" lIns="0" tIns="0" rIns="0" bIns="0" rtlCol="0" anchor="t">
            <a:normAutofit/>
          </a:bodyPr>
          <a:lstStyle/>
          <a:p>
            <a:pPr indent="0" marL="0">
              <a:buNone/>
            </a:pPr>
            <a:r>
              <a:rPr lang="en-US" sz="1700" b="1" dirty="0">
                <a:solidFill>
                  <a:schemeClr val="bg2"/>
                </a:solidFill>
                <a:latin typeface="Cambria" pitchFamily="34" charset="0"/>
                <a:ea typeface="Cambria" pitchFamily="34" charset="-122"/>
                <a:cs typeface="Cambria" pitchFamily="34" charset="-120"/>
              </a:rPr>
              <a:t>Heartland Steel</a:t>
            </a:r>
            <a:endParaRPr lang="en-US" sz="1700" dirty="0"/>
          </a:p>
        </p:txBody>
      </p:sp>
      <p:sp>
        <p:nvSpPr>
          <p:cNvPr id="19" name="Text 17"/>
          <p:cNvSpPr txBox="1"/>
          <p:nvPr/>
        </p:nvSpPr>
        <p:spPr>
          <a:xfrm>
            <a:off x="7441204" y="3191256"/>
            <a:ext cx="1556857" cy="384048"/>
          </a:xfrm>
          <a:prstGeom prst="rect">
            <a:avLst/>
          </a:prstGeom>
          <a:noFill/>
          <a:ln/>
        </p:spPr>
        <p:txBody>
          <a:bodyPr wrap="square" lIns="0" tIns="0" rIns="0" bIns="0" rtlCol="0" anchor="t"/>
          <a:lstStyle/>
          <a:p>
            <a:pPr indent="0" marL="0">
              <a:buNone/>
            </a:pPr>
            <a:r>
              <a:rPr lang="en-US" sz="1100" dirty="0">
                <a:solidFill>
                  <a:srgbClr val="9C9381"/>
                </a:solidFill>
              </a:rPr>
              <a:t>Bold, cinematic, industrial.</a:t>
            </a:r>
            <a:endParaRPr lang="en-US" sz="1100" dirty="0"/>
          </a:p>
        </p:txBody>
      </p:sp>
      <p:sp>
        <p:nvSpPr>
          <p:cNvPr id="20" name="Hill Country card"/>
          <p:cNvSpPr/>
          <p:nvPr/>
        </p:nvSpPr>
        <p:spPr>
          <a:xfrm>
            <a:off x="9382110" y="2423160"/>
            <a:ext cx="1922617" cy="1280160"/>
          </a:xfrm>
          <a:prstGeom prst="roundRect">
            <a:avLst>
              <a:gd name="adj" fmla="val 5714"/>
            </a:avLst>
          </a:prstGeom>
          <a:solidFill>
            <a:srgbClr val="2A2116">
              <a:alpha val="60000"/>
            </a:srgbClr>
          </a:solidFill>
          <a:ln w="9525">
            <a:solidFill>
              <a:srgbClr val="3A3226"/>
            </a:solidFill>
            <a:prstDash val="solid"/>
          </a:ln>
        </p:spPr>
      </p:sp>
      <p:sp>
        <p:nvSpPr>
          <p:cNvPr id="21" name="Text 19"/>
          <p:cNvSpPr txBox="1"/>
          <p:nvPr/>
        </p:nvSpPr>
        <p:spPr>
          <a:xfrm>
            <a:off x="9564990" y="2587752"/>
            <a:ext cx="1556857"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05</a:t>
            </a:r>
            <a:endParaRPr lang="en-US" sz="1000" dirty="0"/>
          </a:p>
        </p:txBody>
      </p:sp>
      <p:sp>
        <p:nvSpPr>
          <p:cNvPr id="22" name="Text 20"/>
          <p:cNvSpPr txBox="1"/>
          <p:nvPr/>
        </p:nvSpPr>
        <p:spPr>
          <a:xfrm>
            <a:off x="9564990" y="2834640"/>
            <a:ext cx="1556857" cy="365760"/>
          </a:xfrm>
          <a:prstGeom prst="rect">
            <a:avLst/>
          </a:prstGeom>
          <a:noFill/>
          <a:ln/>
        </p:spPr>
        <p:txBody>
          <a:bodyPr wrap="square" lIns="0" tIns="0" rIns="0" bIns="0" rtlCol="0" anchor="t">
            <a:normAutofit/>
          </a:bodyPr>
          <a:lstStyle/>
          <a:p>
            <a:pPr indent="0" marL="0">
              <a:buNone/>
            </a:pPr>
            <a:r>
              <a:rPr lang="en-US" sz="1700" b="1" dirty="0">
                <a:solidFill>
                  <a:schemeClr val="bg2"/>
                </a:solidFill>
                <a:latin typeface="Cambria" pitchFamily="34" charset="0"/>
                <a:ea typeface="Cambria" pitchFamily="34" charset="-122"/>
                <a:cs typeface="Cambria" pitchFamily="34" charset="-120"/>
              </a:rPr>
              <a:t>Hill Country</a:t>
            </a:r>
            <a:endParaRPr lang="en-US" sz="1700" dirty="0"/>
          </a:p>
        </p:txBody>
      </p:sp>
      <p:sp>
        <p:nvSpPr>
          <p:cNvPr id="23" name="Text 21"/>
          <p:cNvSpPr txBox="1"/>
          <p:nvPr/>
        </p:nvSpPr>
        <p:spPr>
          <a:xfrm>
            <a:off x="9564990" y="3191256"/>
            <a:ext cx="1556857" cy="384048"/>
          </a:xfrm>
          <a:prstGeom prst="rect">
            <a:avLst/>
          </a:prstGeom>
          <a:noFill/>
          <a:ln/>
        </p:spPr>
        <p:txBody>
          <a:bodyPr wrap="square" lIns="0" tIns="0" rIns="0" bIns="0" rtlCol="0" anchor="t"/>
          <a:lstStyle/>
          <a:p>
            <a:pPr indent="0" marL="0">
              <a:buNone/>
            </a:pPr>
            <a:r>
              <a:rPr lang="en-US" sz="1100" dirty="0">
                <a:solidFill>
                  <a:srgbClr val="9C9381"/>
                </a:solidFill>
              </a:rPr>
              <a:t>Warm, friendly, welcoming.</a:t>
            </a:r>
            <a:endParaRPr lang="en-US" sz="1100" dirty="0"/>
          </a:p>
        </p:txBody>
      </p:sp>
      <p:sp>
        <p:nvSpPr>
          <p:cNvPr id="24" name="Text 22"/>
          <p:cNvSpPr txBox="1"/>
          <p:nvPr/>
        </p:nvSpPr>
        <p:spPr>
          <a:xfrm>
            <a:off x="886968" y="4114800"/>
            <a:ext cx="9509760" cy="731520"/>
          </a:xfrm>
          <a:prstGeom prst="rect">
            <a:avLst/>
          </a:prstGeom>
          <a:noFill/>
          <a:ln/>
        </p:spPr>
        <p:txBody>
          <a:bodyPr wrap="square" lIns="0" tIns="0" rIns="0" bIns="0" rtlCol="0" anchor="t"/>
          <a:lstStyle/>
          <a:p>
            <a:pPr indent="0" marL="0">
              <a:buNone/>
            </a:pPr>
            <a:r>
              <a:rPr lang="en-US" sz="1800" dirty="0">
                <a:solidFill>
                  <a:srgbClr val="BDB4A2"/>
                </a:solidFill>
              </a:rPr>
              <a:t>If we can’t land on one, we land on two, and name who makes the final call by when.</a:t>
            </a:r>
            <a:endParaRPr lang="en-US" sz="1800" dirty="0"/>
          </a:p>
        </p:txBody>
      </p:sp>
      <p:sp>
        <p:nvSpPr>
          <p:cNvPr id="25" name="rock marker"/>
          <p:cNvSpPr txBox="1"/>
          <p:nvPr/>
        </p:nvSpPr>
        <p:spPr>
          <a:xfrm>
            <a:off x="886968" y="6291072"/>
            <a:ext cx="3396996" cy="292608"/>
          </a:xfrm>
          <a:prstGeom prst="roundRect">
            <a:avLst>
              <a:gd name="adj" fmla="val 50000"/>
            </a:avLst>
          </a:prstGeom>
          <a:solidFill>
            <a:srgbClr val="D6A64A"/>
          </a:solidFill>
          <a:ln w="9525">
            <a:solidFill>
              <a:srgbClr val="D6A64A"/>
            </a:solidFill>
          </a:ln>
        </p:spPr>
        <p:txBody>
          <a:bodyPr wrap="square" lIns="0" tIns="0" rIns="0" bIns="0" rtlCol="0" anchor="ctr"/>
          <a:lstStyle/>
          <a:p>
            <a:pPr algn="ctr" indent="0" marL="0">
              <a:buNone/>
            </a:pPr>
            <a:r>
              <a:rPr lang="en-US" sz="900" b="1" spc="150" kern="0" dirty="0">
                <a:solidFill>
                  <a:schemeClr val="tx2"/>
                </a:solidFill>
              </a:rPr>
              <a:t>WEBSITE ROCK · MILESTONE 2 OF 4 · TODAY</a:t>
            </a:r>
            <a:endParaRPr lang="en-US" sz="9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2"/>
                </a:solidFill>
              </a:rPr>
              <a:t>PART 3 · COMMIT</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The website Rocks</a:t>
            </a:r>
            <a:endParaRPr lang="en-US" sz="4400" dirty="0"/>
          </a:p>
        </p:txBody>
      </p:sp>
      <p:graphicFrame>
        <p:nvGraphicFramePr>
          <p:cNvPr id="18" name="rocks table"/>
          <p:cNvGraphicFramePr>
            <a:graphicFrameLocks noGrp="1"/>
          </p:cNvGraphicFramePr>
          <p:nvPr>
            <p:extLst>
              <p:ext uri="{D42A27DB-BD31-4B8C-83A1-F6EECF244321}">
                <p14:modId xmlns:p14="http://schemas.microsoft.com/office/powerpoint/2010/main" val="1579011935"/>
              </p:ext>
            </p:extLst>
          </p:nvPr>
        </p:nvGraphicFramePr>
        <p:xfrm>
          <a:off x="886968" y="2286000"/>
          <a:ext cx="10417759" cy="914400"/>
        </p:xfrm>
        <a:graphic>
          <a:graphicData uri="http://schemas.openxmlformats.org/drawingml/2006/table">
            <a:tbl>
              <a:tblPr/>
              <a:tblGrid>
                <a:gridCol w="6035040"/>
                <a:gridCol w="2377440"/>
                <a:gridCol w="2002536"/>
              </a:tblGrid>
              <a:tr h="365760">
                <a:tc>
                  <a:txBody>
                    <a:bodyPr/>
                    <a:lstStyle/>
                    <a:p>
                      <a:pPr indent="0" marL="0">
                        <a:buNone/>
                      </a:pPr>
                      <a:r>
                        <a:rPr lang="en-US" sz="1000" b="1" spc="200" kern="0" dirty="0">
                          <a:solidFill>
                            <a:schemeClr val="accent2"/>
                          </a:solidFill>
                        </a:rPr>
                        <a:t>ROCK · DONE WHEN</a:t>
                      </a:r>
                      <a:endParaRPr lang="en-US" sz="1000" dirty="0"/>
                    </a:p>
                  </a:txBody>
                  <a:tcPr marL="0"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000" b="1" spc="200" kern="0" dirty="0">
                          <a:solidFill>
                            <a:schemeClr val="accent2"/>
                          </a:solidFill>
                        </a:rPr>
                        <a:t>OWNER</a:t>
                      </a:r>
                      <a:endParaRPr lang="en-US" sz="1000" dirty="0"/>
                    </a:p>
                  </a:txBody>
                  <a:tcPr marL="0"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000" b="1" spc="200" kern="0" dirty="0">
                          <a:solidFill>
                            <a:schemeClr val="accent2"/>
                          </a:solidFill>
                        </a:rPr>
                        <a:t>DUE</a:t>
                      </a:r>
                      <a:endParaRPr lang="en-US" sz="1000" dirty="0"/>
                    </a:p>
                  </a:txBody>
                  <a:tcPr marL="0"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868680">
                <a:tc>
                  <a:txBody>
                    <a:bodyPr/>
                    <a:lstStyle/>
                    <a:p>
                      <a:pPr indent="0" marL="0">
                        <a:buNone/>
                      </a:pPr>
                      <a:r>
                        <a:rPr lang="en-US" sz="1800" dirty="0">
                          <a:solidFill>
                            <a:schemeClr val="tx1"/>
                          </a:solidFill>
                        </a:rPr>
                        <a:t>Launch the site in the chosen direction</a:t>
                      </a:r>
                      <a:endParaRPr lang="en-US" sz="1200" dirty="0"/>
                    </a:p>
                    <a:p>
                      <a:pPr indent="0" marL="0">
                        <a:buNone/>
                      </a:pPr>
                      <a:r>
                        <a:rPr lang="en-US" sz="1300" dirty="0">
                          <a:solidFill>
                            <a:schemeClr val="accent3"/>
                          </a:solidFill>
                        </a:rPr>
                        <a:t>Live on the domain, checked on phones, real photos.</a:t>
                      </a:r>
                      <a:endParaRPr lang="en-US" sz="12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8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8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868680">
                <a:tc>
                  <a:txBody>
                    <a:bodyPr/>
                    <a:lstStyle/>
                    <a:p>
                      <a:pPr indent="0" marL="0">
                        <a:buNone/>
                      </a:pPr>
                      <a:r>
                        <a:rPr lang="en-US" sz="1800" dirty="0">
                          <a:solidFill>
                            <a:schemeClr val="tx1"/>
                          </a:solidFill>
                        </a:rPr>
                        <a:t>Booking flow taking real requests</a:t>
                      </a:r>
                      <a:endParaRPr lang="en-US" sz="1200" dirty="0"/>
                    </a:p>
                    <a:p>
                      <a:pPr indent="0" marL="0">
                        <a:buNone/>
                      </a:pPr>
                      <a:r>
                        <a:rPr lang="en-US" sz="1300" dirty="0">
                          <a:solidFill>
                            <a:schemeClr val="accent3"/>
                          </a:solidFill>
                        </a:rPr>
                        <a:t>Matrix live, requests landing with whoever confirms delivery windows.</a:t>
                      </a:r>
                      <a:endParaRPr lang="en-US" sz="12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8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8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868680">
                <a:tc>
                  <a:txBody>
                    <a:bodyPr/>
                    <a:lstStyle/>
                    <a:p>
                      <a:pPr indent="0" marL="0">
                        <a:buNone/>
                      </a:pPr>
                      <a:r>
                        <a:rPr lang="en-US" sz="1800" dirty="0">
                          <a:solidFill>
                            <a:schemeClr val="tx1"/>
                          </a:solidFill>
                        </a:rPr>
                        <a:t>Content &amp; photos approved</a:t>
                      </a:r>
                      <a:endParaRPr lang="en-US" sz="1200" dirty="0"/>
                    </a:p>
                    <a:p>
                      <a:pPr indent="0" marL="0">
                        <a:buNone/>
                      </a:pPr>
                      <a:r>
                        <a:rPr lang="en-US" sz="1300" dirty="0">
                          <a:solidFill>
                            <a:schemeClr val="accent3"/>
                          </a:solidFill>
                        </a:rPr>
                        <a:t>Services, coverage and contact: written, approved, published.</a:t>
                      </a:r>
                      <a:endParaRPr lang="en-US" sz="12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8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8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886968" y="10515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2"/>
                </a:solidFill>
              </a:rPr>
              <a:t>PART 3 · THIS WEEK</a:t>
            </a:r>
            <a:endParaRPr lang="en-US" sz="1100" dirty="0"/>
          </a:p>
        </p:txBody>
      </p:sp>
      <p:sp>
        <p:nvSpPr>
          <p:cNvPr id="3" name="Text 0"/>
          <p:cNvSpPr/>
          <p:nvPr>
            <p:ph idx="102" type="title" hasCustomPrompt="1"/>
          </p:nvPr>
        </p:nvSpPr>
        <p:spPr>
          <a:xfrm>
            <a:off x="886968" y="1371600"/>
            <a:ext cx="10417759" cy="1371600"/>
          </a:xfrm>
          <a:prstGeom prst="rect">
            <a:avLst/>
          </a:prstGeom>
          <a:noFill/>
          <a:ln/>
        </p:spPr>
        <p:txBody>
          <a:bodyPr wrap="square" lIns="0" tIns="0" rIns="0" bIns="0" rtlCol="0" anchor="t"/>
          <a:lstStyle/>
          <a:p>
            <a:pPr algn="l" indent="0" marL="0">
              <a:buNone/>
            </a:pPr>
            <a:r>
              <a:rPr lang="en-US" sz="4400" b="1" dirty="0">
                <a:solidFill>
                  <a:schemeClr val="tx1"/>
                </a:solidFill>
                <a:latin typeface="Cambria" pitchFamily="34" charset="0"/>
                <a:ea typeface="Cambria" pitchFamily="34" charset="-122"/>
                <a:cs typeface="Cambria" pitchFamily="34" charset="-120"/>
              </a:rPr>
              <a:t>This week’s To-Dos</a:t>
            </a:r>
            <a:endParaRPr lang="en-US" sz="4400" dirty="0"/>
          </a:p>
        </p:txBody>
      </p:sp>
      <p:graphicFrame>
        <p:nvGraphicFramePr>
          <p:cNvPr id="19" name="todo table"/>
          <p:cNvGraphicFramePr>
            <a:graphicFrameLocks noGrp="1"/>
          </p:cNvGraphicFramePr>
          <p:nvPr>
            <p:extLst>
              <p:ext uri="{D42A27DB-BD31-4B8C-83A1-F6EECF244321}">
                <p14:modId xmlns:p14="http://schemas.microsoft.com/office/powerpoint/2010/main" val="1579011935"/>
              </p:ext>
            </p:extLst>
          </p:nvPr>
        </p:nvGraphicFramePr>
        <p:xfrm>
          <a:off x="886968" y="2286000"/>
          <a:ext cx="10417759" cy="914400"/>
        </p:xfrm>
        <a:graphic>
          <a:graphicData uri="http://schemas.openxmlformats.org/drawingml/2006/table">
            <a:tbl>
              <a:tblPr/>
              <a:tblGrid>
                <a:gridCol w="6035040"/>
                <a:gridCol w="2377440"/>
                <a:gridCol w="2002536"/>
              </a:tblGrid>
              <a:tr h="365760">
                <a:tc>
                  <a:txBody>
                    <a:bodyPr/>
                    <a:lstStyle/>
                    <a:p>
                      <a:pPr indent="0" marL="0">
                        <a:buNone/>
                      </a:pPr>
                      <a:r>
                        <a:rPr lang="en-US" sz="1000" b="1" spc="200" kern="0" dirty="0">
                          <a:solidFill>
                            <a:schemeClr val="accent2"/>
                          </a:solidFill>
                        </a:rPr>
                        <a:t>TO-DO</a:t>
                      </a:r>
                      <a:endParaRPr lang="en-US" sz="1000" dirty="0"/>
                    </a:p>
                  </a:txBody>
                  <a:tcPr marL="0"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000" b="1" spc="200" kern="0" dirty="0">
                          <a:solidFill>
                            <a:schemeClr val="accent2"/>
                          </a:solidFill>
                        </a:rPr>
                        <a:t>OWNER</a:t>
                      </a:r>
                      <a:endParaRPr lang="en-US" sz="1000" dirty="0"/>
                    </a:p>
                  </a:txBody>
                  <a:tcPr marL="0"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r>
                        <a:rPr lang="en-US" sz="1000" b="1" spc="200" kern="0" dirty="0">
                          <a:solidFill>
                            <a:schemeClr val="accent2"/>
                          </a:solidFill>
                        </a:rPr>
                        <a:t>DUE</a:t>
                      </a:r>
                      <a:endParaRPr lang="en-US" sz="1000" dirty="0"/>
                    </a:p>
                  </a:txBody>
                  <a:tcPr marL="0" marR="109728" marT="54864" marB="54864">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640080">
                <a:tc>
                  <a:txBody>
                    <a:bodyPr/>
                    <a:lstStyle/>
                    <a:p>
                      <a:pPr indent="0" marL="0">
                        <a:buNone/>
                      </a:pPr>
                      <a:r>
                        <a:rPr lang="en-US" sz="1700" dirty="0">
                          <a:solidFill>
                            <a:schemeClr val="tx1"/>
                          </a:solidFill>
                        </a:rPr>
                        <a:t>Confirm the chosen direction in writing</a:t>
                      </a:r>
                      <a:endParaRPr lang="en-US" sz="17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7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7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640080">
                <a:tc>
                  <a:txBody>
                    <a:bodyPr/>
                    <a:lstStyle/>
                    <a:p>
                      <a:pPr indent="0" marL="0">
                        <a:buNone/>
                      </a:pPr>
                      <a:r>
                        <a:rPr lang="en-US" sz="1700" dirty="0">
                          <a:solidFill>
                            <a:schemeClr val="tx1"/>
                          </a:solidFill>
                        </a:rPr>
                        <a:t>Kick off the build in that direction</a:t>
                      </a:r>
                      <a:endParaRPr lang="en-US" sz="17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7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7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640080">
                <a:tc>
                  <a:txBody>
                    <a:bodyPr/>
                    <a:lstStyle/>
                    <a:p>
                      <a:pPr indent="0" marL="0">
                        <a:buNone/>
                      </a:pPr>
                      <a:r>
                        <a:rPr lang="en-US" sz="1700" dirty="0">
                          <a:solidFill>
                            <a:schemeClr val="tx1"/>
                          </a:solidFill>
                        </a:rPr>
                        <a:t>Send the content &amp; photo list to owners</a:t>
                      </a:r>
                      <a:endParaRPr lang="en-US" sz="17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7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7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r h="640080">
                <a:tc>
                  <a:txBody>
                    <a:bodyPr/>
                    <a:lstStyle/>
                    <a:p>
                      <a:pPr indent="0" marL="0">
                        <a:buNone/>
                      </a:pPr>
                      <a:r>
                        <a:rPr lang="en-US" sz="1700" dirty="0">
                          <a:solidFill>
                            <a:schemeClr val="tx1"/>
                          </a:solidFill>
                        </a:rPr>
                        <a:t>Return photos &amp; copy</a:t>
                      </a:r>
                      <a:endParaRPr lang="en-US" sz="17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700" dirty="0">
                        <a:latin typeface="Cambria" charset="0"/>
                        <a:ea typeface="Cambria" charset="0"/>
                        <a:cs typeface="Cambria" charset="0"/>
                      </a:endParaRPr>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c>
                  <a:txBody>
                    <a:bodyPr/>
                    <a:lstStyle/>
                    <a:p>
                      <a:pPr indent="0" marL="0">
                        <a:buNone/>
                      </a:pPr>
                      <a:endParaRPr lang="en-US" sz="1700" dirty="0"/>
                    </a:p>
                  </a:txBody>
                  <a:tcPr marL="0" marR="109728" marT="54864" marB="54864" anchor="ctr">
                    <a:lnL w="0" cap="flat" cmpd="sng" algn="ctr">
                      <a:noFill/>
                    </a:lnL>
                    <a:lnR w="0" cap="flat" cmpd="sng" algn="ctr">
                      <a:noFill/>
                    </a:lnR>
                    <a:lnT w="0" cap="flat" cmpd="sng" algn="ctr">
                      <a:noFill/>
                    </a:lnT>
                    <a:lnB w="9525" cap="flat" cmpd="sng" algn="ctr">
                      <a:solidFill>
                        <a:srgbClr val="E2D6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AE9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close logo" descr="A.C.E. Distribution">    </p:cNvPr>
          <p:cNvPicPr>
            <a:picLocks noChangeAspect="1"/>
          </p:cNvPicPr>
          <p:nvPr/>
        </p:nvPicPr>
        <p:blipFill>
          <a:blip r:embed="rId1"/>
          <a:stretch>
            <a:fillRect/>
          </a:stretch>
        </p:blipFill>
        <p:spPr>
          <a:xfrm>
            <a:off x="886968" y="777240"/>
            <a:ext cx="3012141" cy="640080"/>
          </a:xfrm>
          <a:prstGeom prst="rect">
            <a:avLst/>
          </a:prstGeom>
        </p:spPr>
      </p:pic>
      <p:sp>
        <p:nvSpPr>
          <p:cNvPr id="3" name="Text 0"/>
          <p:cNvSpPr txBox="1"/>
          <p:nvPr/>
        </p:nvSpPr>
        <p:spPr>
          <a:xfrm>
            <a:off x="886968" y="1783080"/>
            <a:ext cx="10417759" cy="2011680"/>
          </a:xfrm>
          <a:prstGeom prst="rect">
            <a:avLst/>
          </a:prstGeom>
          <a:noFill/>
          <a:ln/>
        </p:spPr>
        <p:txBody>
          <a:bodyPr wrap="square" lIns="0" tIns="0" rIns="0" bIns="0" rtlCol="0" anchor="t"/>
          <a:lstStyle/>
          <a:p>
            <a:pPr indent="0" marL="0">
              <a:lnSpc>
                <a:spcPct val="95000"/>
              </a:lnSpc>
              <a:buNone/>
            </a:pPr>
            <a:r>
              <a:rPr lang="en-US" sz="6000" b="1" dirty="0">
                <a:solidFill>
                  <a:schemeClr val="bg2"/>
                </a:solidFill>
                <a:latin typeface="Cambria" pitchFamily="34" charset="0"/>
                <a:ea typeface="Cambria" pitchFamily="34" charset="-122"/>
                <a:cs typeface="Cambria" pitchFamily="34" charset="-120"/>
              </a:rPr>
              <a:t>Own it.</a:t>
            </a:r>
            <a:endParaRPr lang="en-US" sz="6000" dirty="0"/>
          </a:p>
          <a:p>
            <a:pPr indent="0" marL="0">
              <a:lnSpc>
                <a:spcPct val="95000"/>
              </a:lnSpc>
              <a:buNone/>
            </a:pPr>
            <a:r>
              <a:rPr lang="en-US" sz="6000" b="1" i="1" dirty="0">
                <a:solidFill>
                  <a:schemeClr val="accent1"/>
                </a:solidFill>
                <a:latin typeface="Cambria" pitchFamily="34" charset="0"/>
                <a:ea typeface="Cambria" pitchFamily="34" charset="-122"/>
                <a:cs typeface="Cambria" pitchFamily="34" charset="-120"/>
              </a:rPr>
              <a:t>Finish it.</a:t>
            </a:r>
            <a:endParaRPr lang="en-US" sz="6000" dirty="0"/>
          </a:p>
        </p:txBody>
      </p:sp>
      <p:sp>
        <p:nvSpPr>
          <p:cNvPr id="4" name="Text 1"/>
          <p:cNvSpPr txBox="1"/>
          <p:nvPr/>
        </p:nvSpPr>
        <p:spPr>
          <a:xfrm>
            <a:off x="886968" y="3749040"/>
            <a:ext cx="8229600" cy="457200"/>
          </a:xfrm>
          <a:prstGeom prst="rect">
            <a:avLst/>
          </a:prstGeom>
          <a:noFill/>
          <a:ln/>
        </p:spPr>
        <p:txBody>
          <a:bodyPr wrap="square" lIns="0" tIns="0" rIns="0" bIns="0" rtlCol="0" anchor="t"/>
          <a:lstStyle/>
          <a:p>
            <a:pPr indent="0" marL="0">
              <a:buNone/>
            </a:pPr>
            <a:r>
              <a:rPr lang="en-US" sz="1800" dirty="0">
                <a:solidFill>
                  <a:srgbClr val="BDB4A2"/>
                </a:solidFill>
              </a:rPr>
              <a:t>Rocks set. Owners named. Every week in L10, we’ll hear where they stand.</a:t>
            </a:r>
            <a:endParaRPr lang="en-US" sz="1800" dirty="0"/>
          </a:p>
        </p:txBody>
      </p:sp>
      <p:sp>
        <p:nvSpPr>
          <p:cNvPr id="5" name="milestone line 1"/>
          <p:cNvSpPr/>
          <p:nvPr/>
        </p:nvSpPr>
        <p:spPr>
          <a:xfrm>
            <a:off x="1078992" y="4764024"/>
            <a:ext cx="1965960" cy="0"/>
          </a:xfrm>
          <a:prstGeom prst="line">
            <a:avLst/>
          </a:prstGeom>
          <a:noFill/>
          <a:ln w="28575">
            <a:solidFill>
              <a:srgbClr val="D6A64A"/>
            </a:solidFill>
            <a:prstDash val="solid"/>
          </a:ln>
        </p:spPr>
      </p:sp>
      <p:sp>
        <p:nvSpPr>
          <p:cNvPr id="6" name="milestone line 2"/>
          <p:cNvSpPr/>
          <p:nvPr/>
        </p:nvSpPr>
        <p:spPr>
          <a:xfrm>
            <a:off x="3044952" y="4764024"/>
            <a:ext cx="1965960" cy="0"/>
          </a:xfrm>
          <a:prstGeom prst="line">
            <a:avLst/>
          </a:prstGeom>
          <a:noFill/>
          <a:ln w="28575">
            <a:solidFill>
              <a:srgbClr val="D6A64A"/>
            </a:solidFill>
            <a:prstDash val="solid"/>
          </a:ln>
        </p:spPr>
      </p:sp>
      <p:sp>
        <p:nvSpPr>
          <p:cNvPr id="7" name="milestone line 3"/>
          <p:cNvSpPr/>
          <p:nvPr/>
        </p:nvSpPr>
        <p:spPr>
          <a:xfrm>
            <a:off x="5010912" y="4764024"/>
            <a:ext cx="1965960" cy="0"/>
          </a:xfrm>
          <a:prstGeom prst="line">
            <a:avLst/>
          </a:prstGeom>
          <a:noFill/>
          <a:ln w="28575">
            <a:solidFill>
              <a:srgbClr val="4A4134"/>
            </a:solidFill>
            <a:prstDash val="solid"/>
          </a:ln>
        </p:spPr>
      </p:sp>
      <p:sp>
        <p:nvSpPr>
          <p:cNvPr id="8" name="milestone 1"/>
          <p:cNvSpPr txBox="1"/>
          <p:nvPr/>
        </p:nvSpPr>
        <p:spPr>
          <a:xfrm>
            <a:off x="886968" y="4572000"/>
            <a:ext cx="384048" cy="384048"/>
          </a:xfrm>
          <a:prstGeom prst="ellipse">
            <a:avLst/>
          </a:prstGeom>
          <a:solidFill>
            <a:srgbClr val="D6A64A"/>
          </a:solidFill>
          <a:ln w="25400">
            <a:solidFill>
              <a:srgbClr val="D6A64A"/>
            </a:solid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9" name="Text 6"/>
          <p:cNvSpPr txBox="1"/>
          <p:nvPr/>
        </p:nvSpPr>
        <p:spPr>
          <a:xfrm>
            <a:off x="886968" y="5120640"/>
            <a:ext cx="1737360" cy="548640"/>
          </a:xfrm>
          <a:prstGeom prst="rect">
            <a:avLst/>
          </a:prstGeom>
          <a:noFill/>
          <a:ln/>
        </p:spPr>
        <p:txBody>
          <a:bodyPr wrap="square" lIns="0" tIns="0" rIns="0" bIns="0" rtlCol="0" anchor="t"/>
          <a:lstStyle/>
          <a:p>
            <a:pPr indent="0" marL="0">
              <a:buNone/>
            </a:pPr>
            <a:r>
              <a:rPr lang="en-US" sz="1600" b="1" dirty="0">
                <a:solidFill>
                  <a:schemeClr val="bg2"/>
                </a:solidFill>
                <a:latin typeface="Cambria" pitchFamily="34" charset="0"/>
                <a:ea typeface="Cambria" pitchFamily="34" charset="-122"/>
                <a:cs typeface="Cambria" pitchFamily="34" charset="-120"/>
              </a:rPr>
              <a:t>Five directions built</a:t>
            </a:r>
            <a:endParaRPr lang="en-US" sz="1600" dirty="0"/>
          </a:p>
        </p:txBody>
      </p:sp>
      <p:sp>
        <p:nvSpPr>
          <p:cNvPr id="10" name="Text 7"/>
          <p:cNvSpPr txBox="1"/>
          <p:nvPr/>
        </p:nvSpPr>
        <p:spPr>
          <a:xfrm>
            <a:off x="886968" y="5687568"/>
            <a:ext cx="173736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DONE</a:t>
            </a:r>
            <a:endParaRPr lang="en-US" sz="1000" dirty="0"/>
          </a:p>
        </p:txBody>
      </p:sp>
      <p:sp>
        <p:nvSpPr>
          <p:cNvPr id="11" name="milestone 2"/>
          <p:cNvSpPr txBox="1"/>
          <p:nvPr/>
        </p:nvSpPr>
        <p:spPr>
          <a:xfrm>
            <a:off x="2852928" y="4572000"/>
            <a:ext cx="384048" cy="384048"/>
          </a:xfrm>
          <a:prstGeom prst="ellipse">
            <a:avLst/>
          </a:prstGeom>
          <a:solidFill>
            <a:srgbClr val="D6A64A"/>
          </a:solidFill>
          <a:ln w="25400">
            <a:solidFill>
              <a:srgbClr val="D6A64A"/>
            </a:solid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12" name="Text 9"/>
          <p:cNvSpPr txBox="1"/>
          <p:nvPr/>
        </p:nvSpPr>
        <p:spPr>
          <a:xfrm>
            <a:off x="2852928" y="5120640"/>
            <a:ext cx="1737360" cy="548640"/>
          </a:xfrm>
          <a:prstGeom prst="rect">
            <a:avLst/>
          </a:prstGeom>
          <a:noFill/>
          <a:ln/>
        </p:spPr>
        <p:txBody>
          <a:bodyPr wrap="square" lIns="0" tIns="0" rIns="0" bIns="0" rtlCol="0" anchor="t"/>
          <a:lstStyle/>
          <a:p>
            <a:pPr indent="0" marL="0">
              <a:buNone/>
            </a:pPr>
            <a:r>
              <a:rPr lang="en-US" sz="1600" b="1" dirty="0">
                <a:solidFill>
                  <a:schemeClr val="bg2"/>
                </a:solidFill>
                <a:latin typeface="Cambria" pitchFamily="34" charset="0"/>
                <a:ea typeface="Cambria" pitchFamily="34" charset="-122"/>
                <a:cs typeface="Cambria" pitchFamily="34" charset="-120"/>
              </a:rPr>
              <a:t>Choose the direction</a:t>
            </a:r>
            <a:endParaRPr lang="en-US" sz="1600" dirty="0"/>
          </a:p>
        </p:txBody>
      </p:sp>
      <p:sp>
        <p:nvSpPr>
          <p:cNvPr id="13" name="Text 10"/>
          <p:cNvSpPr txBox="1"/>
          <p:nvPr/>
        </p:nvSpPr>
        <p:spPr>
          <a:xfrm>
            <a:off x="2852928" y="5687568"/>
            <a:ext cx="173736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DONE</a:t>
            </a:r>
            <a:endParaRPr lang="en-US" sz="1000" dirty="0"/>
          </a:p>
        </p:txBody>
      </p:sp>
      <p:sp>
        <p:nvSpPr>
          <p:cNvPr id="14" name="milestone 3"/>
          <p:cNvSpPr txBox="1"/>
          <p:nvPr/>
        </p:nvSpPr>
        <p:spPr>
          <a:xfrm>
            <a:off x="4818888" y="4572000"/>
            <a:ext cx="384048" cy="384048"/>
          </a:xfrm>
          <a:prstGeom prst="ellipse">
            <a:avLst/>
          </a:prstGeom>
          <a:solidFill>
            <a:srgbClr val="15110B"/>
          </a:solidFill>
          <a:ln w="25400">
            <a:solidFill>
              <a:srgbClr val="D6A64A"/>
            </a:solid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5" name="Text 12"/>
          <p:cNvSpPr txBox="1"/>
          <p:nvPr/>
        </p:nvSpPr>
        <p:spPr>
          <a:xfrm>
            <a:off x="4818888" y="5120640"/>
            <a:ext cx="1737360" cy="548640"/>
          </a:xfrm>
          <a:prstGeom prst="rect">
            <a:avLst/>
          </a:prstGeom>
          <a:noFill/>
          <a:ln/>
        </p:spPr>
        <p:txBody>
          <a:bodyPr wrap="square" lIns="0" tIns="0" rIns="0" bIns="0" rtlCol="0" anchor="t"/>
          <a:lstStyle/>
          <a:p>
            <a:pPr indent="0" marL="0">
              <a:buNone/>
            </a:pPr>
            <a:r>
              <a:rPr lang="en-US" sz="1600" b="1" dirty="0">
                <a:solidFill>
                  <a:schemeClr val="bg2"/>
                </a:solidFill>
                <a:latin typeface="Cambria" pitchFamily="34" charset="0"/>
                <a:ea typeface="Cambria" pitchFamily="34" charset="-122"/>
                <a:cs typeface="Cambria" pitchFamily="34" charset="-120"/>
              </a:rPr>
              <a:t>Build + booking live</a:t>
            </a:r>
            <a:endParaRPr lang="en-US" sz="1600" dirty="0"/>
          </a:p>
        </p:txBody>
      </p:sp>
      <p:sp>
        <p:nvSpPr>
          <p:cNvPr id="16" name="Text 13"/>
          <p:cNvSpPr txBox="1"/>
          <p:nvPr/>
        </p:nvSpPr>
        <p:spPr>
          <a:xfrm>
            <a:off x="4818888" y="5687568"/>
            <a:ext cx="173736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IN PROGRESS</a:t>
            </a:r>
            <a:endParaRPr lang="en-US" sz="1000" dirty="0"/>
          </a:p>
        </p:txBody>
      </p:sp>
      <p:sp>
        <p:nvSpPr>
          <p:cNvPr id="17" name="milestone 4"/>
          <p:cNvSpPr txBox="1"/>
          <p:nvPr/>
        </p:nvSpPr>
        <p:spPr>
          <a:xfrm>
            <a:off x="6784848" y="4572000"/>
            <a:ext cx="384048" cy="384048"/>
          </a:xfrm>
          <a:prstGeom prst="ellipse">
            <a:avLst/>
          </a:prstGeom>
          <a:solidFill>
            <a:srgbClr val="15110B"/>
          </a:solidFill>
          <a:ln w="25400">
            <a:solidFill>
              <a:srgbClr val="4A4134"/>
            </a:solidFill>
          </a:ln>
        </p:spPr>
        <p:txBody>
          <a:bodyPr wrap="square" lIns="0" tIns="0" rIns="0" bIns="0" rtlCol="0" anchor="ctr"/>
          <a:lstStyle/>
          <a:p>
            <a:pPr algn="ctr" indent="0" marL="0">
              <a:buNone/>
            </a:pPr>
            <a:r>
              <a:rPr lang="en-US" sz="1400" b="1" dirty="0">
                <a:solidFill>
                  <a:srgbClr val="9C9381"/>
                </a:solidFill>
              </a:rPr>
              <a:t>4</a:t>
            </a:r>
            <a:endParaRPr lang="en-US" sz="1400" dirty="0"/>
          </a:p>
        </p:txBody>
      </p:sp>
      <p:sp>
        <p:nvSpPr>
          <p:cNvPr id="18" name="Text 15"/>
          <p:cNvSpPr txBox="1"/>
          <p:nvPr/>
        </p:nvSpPr>
        <p:spPr>
          <a:xfrm>
            <a:off x="6784848" y="5120640"/>
            <a:ext cx="1737360" cy="548640"/>
          </a:xfrm>
          <a:prstGeom prst="rect">
            <a:avLst/>
          </a:prstGeom>
          <a:noFill/>
          <a:ln/>
        </p:spPr>
        <p:txBody>
          <a:bodyPr wrap="square" lIns="0" tIns="0" rIns="0" bIns="0" rtlCol="0" anchor="t"/>
          <a:lstStyle/>
          <a:p>
            <a:pPr indent="0" marL="0">
              <a:buNone/>
            </a:pPr>
            <a:r>
              <a:rPr lang="en-US" sz="1600" b="1" dirty="0">
                <a:solidFill>
                  <a:schemeClr val="bg2"/>
                </a:solidFill>
                <a:latin typeface="Cambria" pitchFamily="34" charset="0"/>
                <a:ea typeface="Cambria" pitchFamily="34" charset="-122"/>
                <a:cs typeface="Cambria" pitchFamily="34" charset="-120"/>
              </a:rPr>
              <a:t>Launch</a:t>
            </a:r>
            <a:endParaRPr lang="en-US" sz="1600" dirty="0"/>
          </a:p>
        </p:txBody>
      </p:sp>
      <p:sp>
        <p:nvSpPr>
          <p:cNvPr id="19" name="Text 16"/>
          <p:cNvSpPr txBox="1"/>
          <p:nvPr/>
        </p:nvSpPr>
        <p:spPr>
          <a:xfrm>
            <a:off x="6784848" y="5687568"/>
            <a:ext cx="1737360" cy="228600"/>
          </a:xfrm>
          <a:prstGeom prst="rect">
            <a:avLst/>
          </a:prstGeom>
          <a:noFill/>
          <a:ln/>
        </p:spPr>
        <p:txBody>
          <a:bodyPr wrap="square" lIns="0" tIns="0" rIns="0" bIns="0" rtlCol="0" anchor="t"/>
          <a:lstStyle/>
          <a:p>
            <a:pPr indent="0" marL="0">
              <a:buNone/>
            </a:pPr>
            <a:r>
              <a:rPr lang="en-US" sz="1000" b="1" spc="200" kern="0" dirty="0">
                <a:solidFill>
                  <a:srgbClr val="8C826F"/>
                </a:solidFill>
              </a:rPr>
              <a:t>DONE WHEN LIVE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886968" y="1965960"/>
            <a:ext cx="10417759" cy="32004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a:t>
            </a:r>
            <a:endParaRPr lang="en-US" sz="1100" dirty="0"/>
          </a:p>
        </p:txBody>
      </p:sp>
      <p:sp>
        <p:nvSpPr>
          <p:cNvPr id="3" name="Text 0"/>
          <p:cNvSpPr/>
          <p:nvPr>
            <p:ph idx="102" type="title" hasCustomPrompt="1"/>
          </p:nvPr>
        </p:nvSpPr>
        <p:spPr>
          <a:xfrm>
            <a:off x="886968" y="2331720"/>
            <a:ext cx="8778240" cy="2103120"/>
          </a:xfrm>
          <a:prstGeom prst="rect">
            <a:avLst/>
          </a:prstGeom>
          <a:noFill/>
          <a:ln/>
        </p:spPr>
        <p:txBody>
          <a:bodyPr wrap="square" lIns="0" tIns="0" rIns="0" bIns="0" rtlCol="0" anchor="t"/>
          <a:lstStyle/>
          <a:p>
            <a:pPr algn="l" indent="0" marL="0">
              <a:buNone/>
            </a:pPr>
            <a:r>
              <a:rPr lang="en-US" sz="5800" b="1" dirty="0">
                <a:solidFill>
                  <a:schemeClr val="bg2"/>
                </a:solidFill>
                <a:latin typeface="Cambria" pitchFamily="34" charset="0"/>
                <a:ea typeface="Cambria" pitchFamily="34" charset="-122"/>
                <a:cs typeface="Cambria" pitchFamily="34" charset="-120"/>
              </a:rPr>
              <a:t>The alternates,</a:t>
            </a:r>
            <a:endParaRPr lang="en-US" sz="5800" dirty="0"/>
          </a:p>
          <a:p>
            <a:pPr algn="l" indent="0" marL="0">
              <a:buNone/>
            </a:pPr>
            <a:r>
              <a:rPr lang="en-US" sz="5800" b="1" dirty="0">
                <a:solidFill>
                  <a:schemeClr val="bg2"/>
                </a:solidFill>
                <a:latin typeface="Cambria" pitchFamily="34" charset="0"/>
                <a:ea typeface="Cambria" pitchFamily="34" charset="-122"/>
                <a:cs typeface="Cambria" pitchFamily="34" charset="-120"/>
              </a:rPr>
              <a:t>full size</a:t>
            </a:r>
            <a:endParaRPr lang="en-US" sz="5800" dirty="0"/>
          </a:p>
        </p:txBody>
      </p:sp>
      <p:sp>
        <p:nvSpPr>
          <p:cNvPr id="4" name="Text 0"/>
          <p:cNvSpPr/>
          <p:nvPr>
            <p:ph idx="103" type="body" hasCustomPrompt="1"/>
          </p:nvPr>
        </p:nvSpPr>
        <p:spPr>
          <a:xfrm>
            <a:off x="886968" y="4572000"/>
            <a:ext cx="8961120" cy="914400"/>
          </a:xfrm>
          <a:prstGeom prst="rect">
            <a:avLst/>
          </a:prstGeom>
          <a:noFill/>
          <a:ln/>
        </p:spPr>
        <p:txBody>
          <a:bodyPr wrap="square" lIns="0" tIns="0" rIns="0" bIns="0" rtlCol="0" anchor="t"/>
          <a:lstStyle/>
          <a:p>
            <a:pPr algn="l" indent="0" marL="0">
              <a:buNone/>
            </a:pPr>
            <a:r>
              <a:rPr lang="en-US" sz="1800" dirty="0">
                <a:solidFill>
                  <a:srgbClr val="BDB4A2"/>
                </a:solidFill>
              </a:rPr>
              <a:t>Swap any of these into the final two if the room is pulling for it. Each one opens live.</a:t>
            </a:r>
            <a:endParaRPr lang="en-US" sz="1800" dirty="0"/>
          </a:p>
        </p:txBody>
      </p:sp>
      <p:sp>
        <p:nvSpPr>
          <p:cNvPr id="25" name="Slide Number Placeholder 0"/>
          <p:cNvSpPr>
            <a:spLocks noGrp="1"/>
          </p:cNvSpPr>
          <p:nvPr>
            <p:ph type="sldNum" sz="quarter" idx="4294967295"/>
          </p:nvPr>
        </p:nvSpPr>
        <p:spPr>
          <a:xfrm>
            <a:off x="10390327"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826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Piney Woods frame"/>
          <p:cNvSpPr/>
          <p:nvPr/>
        </p:nvSpPr>
        <p:spPr>
          <a:xfrm>
            <a:off x="1706728" y="384048"/>
            <a:ext cx="8778240" cy="5358717"/>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3" name="Piney Woods dot 1"/>
          <p:cNvSpPr/>
          <p:nvPr/>
        </p:nvSpPr>
        <p:spPr>
          <a:xfrm>
            <a:off x="1805483" y="458663"/>
            <a:ext cx="70226" cy="70226"/>
          </a:xfrm>
          <a:prstGeom prst="ellipse">
            <a:avLst/>
          </a:prstGeom>
          <a:solidFill>
            <a:srgbClr val="3B342A"/>
          </a:solidFill>
          <a:ln w="12700">
            <a:solidFill>
              <a:srgbClr val="3B342A"/>
            </a:solidFill>
            <a:prstDash val="solid"/>
          </a:ln>
        </p:spPr>
      </p:sp>
      <p:sp>
        <p:nvSpPr>
          <p:cNvPr id="4" name="Piney Woods dot 2"/>
          <p:cNvSpPr/>
          <p:nvPr/>
        </p:nvSpPr>
        <p:spPr>
          <a:xfrm>
            <a:off x="1924867" y="458663"/>
            <a:ext cx="70226" cy="70226"/>
          </a:xfrm>
          <a:prstGeom prst="ellipse">
            <a:avLst/>
          </a:prstGeom>
          <a:solidFill>
            <a:srgbClr val="3B342A"/>
          </a:solidFill>
          <a:ln w="12700">
            <a:solidFill>
              <a:srgbClr val="3B342A"/>
            </a:solidFill>
            <a:prstDash val="solid"/>
          </a:ln>
        </p:spPr>
      </p:sp>
      <p:sp>
        <p:nvSpPr>
          <p:cNvPr id="5" name="Piney Woods dot 3"/>
          <p:cNvSpPr/>
          <p:nvPr/>
        </p:nvSpPr>
        <p:spPr>
          <a:xfrm>
            <a:off x="2044251" y="458663"/>
            <a:ext cx="70226" cy="70226"/>
          </a:xfrm>
          <a:prstGeom prst="ellipse">
            <a:avLst/>
          </a:prstGeom>
          <a:solidFill>
            <a:srgbClr val="3B342A"/>
          </a:solidFill>
          <a:ln w="12700">
            <a:solidFill>
              <a:srgbClr val="3B342A"/>
            </a:solidFill>
            <a:prstDash val="solid"/>
          </a:ln>
        </p:spPr>
      </p:sp>
      <p:pic>
        <p:nvPicPr>
          <p:cNvPr id="6" name="Piney Woods screenshot" descr="Piney Woods homepage concept">    </p:cNvPr>
          <p:cNvPicPr>
            <a:picLocks noChangeAspect="1"/>
          </p:cNvPicPr>
          <p:nvPr/>
        </p:nvPicPr>
        <p:blipFill>
          <a:blip r:embed="rId1"/>
          <a:stretch>
            <a:fillRect/>
          </a:stretch>
        </p:blipFill>
        <p:spPr>
          <a:xfrm>
            <a:off x="1706728" y="603504"/>
            <a:ext cx="8778240" cy="5139261"/>
          </a:xfrm>
          <a:prstGeom prst="rect">
            <a:avLst/>
          </a:prstGeom>
        </p:spPr>
      </p:pic>
      <p:sp>
        <p:nvSpPr>
          <p:cNvPr id="7" name="Text 4"/>
          <p:cNvSpPr txBox="1"/>
          <p:nvPr/>
        </p:nvSpPr>
        <p:spPr>
          <a:xfrm>
            <a:off x="1706728" y="6090237"/>
            <a:ext cx="457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02</a:t>
            </a:r>
            <a:endParaRPr lang="en-US" sz="1200" dirty="0"/>
          </a:p>
        </p:txBody>
      </p:sp>
      <p:sp>
        <p:nvSpPr>
          <p:cNvPr id="8" name="Text 5"/>
          <p:cNvSpPr txBox="1"/>
          <p:nvPr/>
        </p:nvSpPr>
        <p:spPr>
          <a:xfrm>
            <a:off x="2209648" y="5998797"/>
            <a:ext cx="2606040" cy="457200"/>
          </a:xfrm>
          <a:prstGeom prst="rect">
            <a:avLst/>
          </a:prstGeom>
          <a:noFill/>
          <a:ln/>
        </p:spPr>
        <p:txBody>
          <a:bodyPr wrap="square" lIns="0" tIns="0" rIns="0" bIns="0" rtlCol="0" anchor="t"/>
          <a:lstStyle/>
          <a:p>
            <a:pPr indent="0" marL="0">
              <a:buNone/>
            </a:pPr>
            <a:r>
              <a:rPr lang="en-US" sz="2600" b="1" dirty="0">
                <a:solidFill>
                  <a:schemeClr val="bg2"/>
                </a:solidFill>
                <a:latin typeface="Cambria" pitchFamily="34" charset="0"/>
                <a:ea typeface="Cambria" pitchFamily="34" charset="-122"/>
                <a:cs typeface="Cambria" pitchFamily="34" charset="-120"/>
              </a:rPr>
              <a:t>Piney Woods</a:t>
            </a:r>
            <a:endParaRPr lang="en-US" sz="2600" dirty="0"/>
          </a:p>
        </p:txBody>
      </p:sp>
      <p:sp>
        <p:nvSpPr>
          <p:cNvPr id="9" name="Text 6"/>
          <p:cNvSpPr txBox="1"/>
          <p:nvPr/>
        </p:nvSpPr>
        <p:spPr>
          <a:xfrm>
            <a:off x="4861408" y="6053661"/>
            <a:ext cx="2560320" cy="365760"/>
          </a:xfrm>
          <a:prstGeom prst="rect">
            <a:avLst/>
          </a:prstGeom>
          <a:noFill/>
          <a:ln/>
        </p:spPr>
        <p:txBody>
          <a:bodyPr wrap="square" lIns="0" tIns="0" rIns="0" bIns="0" rtlCol="0" anchor="t"/>
          <a:lstStyle/>
          <a:p>
            <a:pPr indent="0" marL="0">
              <a:buNone/>
            </a:pPr>
            <a:r>
              <a:rPr lang="en-US" sz="1500" dirty="0">
                <a:solidFill>
                  <a:srgbClr val="BDB4A2"/>
                </a:solidFill>
              </a:rPr>
              <a:t>Rooted, calm, organic.</a:t>
            </a:r>
            <a:endParaRPr lang="en-US" sz="1500" dirty="0"/>
          </a:p>
        </p:txBody>
      </p:sp>
      <p:sp>
        <p:nvSpPr>
          <p:cNvPr id="10" name="Piney Woods live link"/>
          <p:cNvSpPr txBox="1"/>
          <p:nvPr/>
        </p:nvSpPr>
        <p:spPr>
          <a:xfrm>
            <a:off x="9159088" y="6035373"/>
            <a:ext cx="1325880" cy="329184"/>
          </a:xfrm>
          <a:prstGeom prst="rect">
            <a:avLst/>
          </a:prstGeom>
          <a:solidFill>
            <a:schemeClr val="accent1"/>
          </a:solidFill>
          <a:ln/>
        </p:spPr>
        <p:txBody>
          <a:bodyPr wrap="square" lIns="0" tIns="0" rIns="0" bIns="0" rtlCol="0" anchor="ctr"/>
          <a:lstStyle/>
          <a:p>
            <a:pPr algn="ctr" indent="0" marL="0">
              <a:buNone/>
            </a:pPr>
            <a:r>
              <a:rPr lang="en-US" sz="1000" b="1" u="sng" spc="200" kern="0" dirty="0">
                <a:solidFill>
                  <a:schemeClr val="tx2"/>
                </a:solidFill>
                <a:hlinkClick r:id="rId2" invalidUrl="" action="" tgtFrame="" tooltip="Open the Piney Woods live site" history="1" highlightClick="0" endSnd="0">
                  <a:extLst>
                    <a:ext uri="{A12FA001-AC4F-418D-AE19-62706E023703}">
                      <ahyp:hlinkClr xmlns:ahyp="http://schemas.microsoft.com/office/drawing/2018/hyperlinkcolor" val="tx"/>
                    </a:ext>
                  </a:extLst>
                </a:hlinkClick>
              </a:rPr>
              <a:t>OPEN LIVE ↗</a:t>
            </a:r>
            <a:endParaRPr lang="en-US" sz="1000" dirty="0"/>
          </a:p>
        </p:txBody>
      </p:sp>
      <p:sp>
        <p:nvSpPr>
          <p:cNvPr id="11" name="Text 8"/>
          <p:cNvSpPr txBox="1"/>
          <p:nvPr/>
        </p:nvSpPr>
        <p:spPr>
          <a:xfrm>
            <a:off x="7513168" y="6035373"/>
            <a:ext cx="1508760" cy="329184"/>
          </a:xfrm>
          <a:prstGeom prst="rect">
            <a:avLst/>
          </a:prstGeom>
          <a:noFill/>
          <a:ln w="9525">
            <a:solidFill>
              <a:schemeClr val="accent2"/>
            </a:solidFill>
          </a:ln>
        </p:spPr>
        <p:txBody>
          <a:bodyPr wrap="square" lIns="0" tIns="0" rIns="0" bIns="0" rtlCol="0" anchor="ctr"/>
          <a:lstStyle/>
          <a:p>
            <a:pPr algn="ctr" indent="0" marL="0">
              <a:buNone/>
            </a:pPr>
            <a:r>
              <a:rPr lang="en-US" sz="1000" b="1" spc="200" kern="0" dirty="0">
                <a:solidFill>
                  <a:schemeClr val="accent1"/>
                </a:solidFill>
              </a:rPr>
              <a:t>ALTERNATE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pen Water frame"/>
          <p:cNvSpPr/>
          <p:nvPr/>
        </p:nvSpPr>
        <p:spPr>
          <a:xfrm>
            <a:off x="1706728" y="384048"/>
            <a:ext cx="8778240" cy="5358717"/>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3" name="Open Water dot 1"/>
          <p:cNvSpPr/>
          <p:nvPr/>
        </p:nvSpPr>
        <p:spPr>
          <a:xfrm>
            <a:off x="1805483" y="458663"/>
            <a:ext cx="70226" cy="70226"/>
          </a:xfrm>
          <a:prstGeom prst="ellipse">
            <a:avLst/>
          </a:prstGeom>
          <a:solidFill>
            <a:srgbClr val="3B342A"/>
          </a:solidFill>
          <a:ln w="12700">
            <a:solidFill>
              <a:srgbClr val="3B342A"/>
            </a:solidFill>
            <a:prstDash val="solid"/>
          </a:ln>
        </p:spPr>
      </p:sp>
      <p:sp>
        <p:nvSpPr>
          <p:cNvPr id="4" name="Open Water dot 2"/>
          <p:cNvSpPr/>
          <p:nvPr/>
        </p:nvSpPr>
        <p:spPr>
          <a:xfrm>
            <a:off x="1924867" y="458663"/>
            <a:ext cx="70226" cy="70226"/>
          </a:xfrm>
          <a:prstGeom prst="ellipse">
            <a:avLst/>
          </a:prstGeom>
          <a:solidFill>
            <a:srgbClr val="3B342A"/>
          </a:solidFill>
          <a:ln w="12700">
            <a:solidFill>
              <a:srgbClr val="3B342A"/>
            </a:solidFill>
            <a:prstDash val="solid"/>
          </a:ln>
        </p:spPr>
      </p:sp>
      <p:sp>
        <p:nvSpPr>
          <p:cNvPr id="5" name="Open Water dot 3"/>
          <p:cNvSpPr/>
          <p:nvPr/>
        </p:nvSpPr>
        <p:spPr>
          <a:xfrm>
            <a:off x="2044251" y="458663"/>
            <a:ext cx="70226" cy="70226"/>
          </a:xfrm>
          <a:prstGeom prst="ellipse">
            <a:avLst/>
          </a:prstGeom>
          <a:solidFill>
            <a:srgbClr val="3B342A"/>
          </a:solidFill>
          <a:ln w="12700">
            <a:solidFill>
              <a:srgbClr val="3B342A"/>
            </a:solidFill>
            <a:prstDash val="solid"/>
          </a:ln>
        </p:spPr>
      </p:sp>
      <p:pic>
        <p:nvPicPr>
          <p:cNvPr id="6" name="Open Water screenshot" descr="Open Water homepage concept">    </p:cNvPr>
          <p:cNvPicPr>
            <a:picLocks noChangeAspect="1"/>
          </p:cNvPicPr>
          <p:nvPr/>
        </p:nvPicPr>
        <p:blipFill>
          <a:blip r:embed="rId1"/>
          <a:stretch>
            <a:fillRect/>
          </a:stretch>
        </p:blipFill>
        <p:spPr>
          <a:xfrm>
            <a:off x="1706728" y="603504"/>
            <a:ext cx="8778240" cy="5139261"/>
          </a:xfrm>
          <a:prstGeom prst="rect">
            <a:avLst/>
          </a:prstGeom>
        </p:spPr>
      </p:pic>
      <p:sp>
        <p:nvSpPr>
          <p:cNvPr id="7" name="Text 4"/>
          <p:cNvSpPr txBox="1"/>
          <p:nvPr/>
        </p:nvSpPr>
        <p:spPr>
          <a:xfrm>
            <a:off x="1706728" y="6090237"/>
            <a:ext cx="457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03</a:t>
            </a:r>
            <a:endParaRPr lang="en-US" sz="1200" dirty="0"/>
          </a:p>
        </p:txBody>
      </p:sp>
      <p:sp>
        <p:nvSpPr>
          <p:cNvPr id="8" name="Text 5"/>
          <p:cNvSpPr txBox="1"/>
          <p:nvPr/>
        </p:nvSpPr>
        <p:spPr>
          <a:xfrm>
            <a:off x="2209648" y="5998797"/>
            <a:ext cx="2606040" cy="457200"/>
          </a:xfrm>
          <a:prstGeom prst="rect">
            <a:avLst/>
          </a:prstGeom>
          <a:noFill/>
          <a:ln/>
        </p:spPr>
        <p:txBody>
          <a:bodyPr wrap="square" lIns="0" tIns="0" rIns="0" bIns="0" rtlCol="0" anchor="t"/>
          <a:lstStyle/>
          <a:p>
            <a:pPr indent="0" marL="0">
              <a:buNone/>
            </a:pPr>
            <a:r>
              <a:rPr lang="en-US" sz="2600" b="1" dirty="0">
                <a:solidFill>
                  <a:schemeClr val="bg2"/>
                </a:solidFill>
                <a:latin typeface="Cambria" pitchFamily="34" charset="0"/>
                <a:ea typeface="Cambria" pitchFamily="34" charset="-122"/>
                <a:cs typeface="Cambria" pitchFamily="34" charset="-120"/>
              </a:rPr>
              <a:t>Open Water</a:t>
            </a:r>
            <a:endParaRPr lang="en-US" sz="2600" dirty="0"/>
          </a:p>
        </p:txBody>
      </p:sp>
      <p:sp>
        <p:nvSpPr>
          <p:cNvPr id="9" name="Text 6"/>
          <p:cNvSpPr txBox="1"/>
          <p:nvPr/>
        </p:nvSpPr>
        <p:spPr>
          <a:xfrm>
            <a:off x="4861408" y="6053661"/>
            <a:ext cx="2560320" cy="365760"/>
          </a:xfrm>
          <a:prstGeom prst="rect">
            <a:avLst/>
          </a:prstGeom>
          <a:noFill/>
          <a:ln/>
        </p:spPr>
        <p:txBody>
          <a:bodyPr wrap="square" lIns="0" tIns="0" rIns="0" bIns="0" rtlCol="0" anchor="t"/>
          <a:lstStyle/>
          <a:p>
            <a:pPr indent="0" marL="0">
              <a:buNone/>
            </a:pPr>
            <a:r>
              <a:rPr lang="en-US" sz="1500" dirty="0">
                <a:solidFill>
                  <a:srgbClr val="BDB4A2"/>
                </a:solidFill>
              </a:rPr>
              <a:t>Crisp, corporate, confident.</a:t>
            </a:r>
            <a:endParaRPr lang="en-US" sz="1500" dirty="0"/>
          </a:p>
        </p:txBody>
      </p:sp>
      <p:sp>
        <p:nvSpPr>
          <p:cNvPr id="10" name="Open Water live link"/>
          <p:cNvSpPr txBox="1"/>
          <p:nvPr/>
        </p:nvSpPr>
        <p:spPr>
          <a:xfrm>
            <a:off x="9159088" y="6035373"/>
            <a:ext cx="1325880" cy="329184"/>
          </a:xfrm>
          <a:prstGeom prst="rect">
            <a:avLst/>
          </a:prstGeom>
          <a:solidFill>
            <a:schemeClr val="accent1"/>
          </a:solidFill>
          <a:ln/>
        </p:spPr>
        <p:txBody>
          <a:bodyPr wrap="square" lIns="0" tIns="0" rIns="0" bIns="0" rtlCol="0" anchor="ctr"/>
          <a:lstStyle/>
          <a:p>
            <a:pPr algn="ctr" indent="0" marL="0">
              <a:buNone/>
            </a:pPr>
            <a:r>
              <a:rPr lang="en-US" sz="1000" b="1" u="sng" spc="200" kern="0" dirty="0">
                <a:solidFill>
                  <a:schemeClr val="tx2"/>
                </a:solidFill>
                <a:hlinkClick r:id="rId2" invalidUrl="" action="" tgtFrame="" tooltip="Open the Open Water live site" history="1" highlightClick="0" endSnd="0">
                  <a:extLst>
                    <a:ext uri="{A12FA001-AC4F-418D-AE19-62706E023703}">
                      <ahyp:hlinkClr xmlns:ahyp="http://schemas.microsoft.com/office/drawing/2018/hyperlinkcolor" val="tx"/>
                    </a:ext>
                  </a:extLst>
                </a:hlinkClick>
              </a:rPr>
              <a:t>OPEN LIVE ↗</a:t>
            </a:r>
            <a:endParaRPr lang="en-US" sz="1000" dirty="0"/>
          </a:p>
        </p:txBody>
      </p:sp>
      <p:sp>
        <p:nvSpPr>
          <p:cNvPr id="11" name="Text 8"/>
          <p:cNvSpPr txBox="1"/>
          <p:nvPr/>
        </p:nvSpPr>
        <p:spPr>
          <a:xfrm>
            <a:off x="7513168" y="6035373"/>
            <a:ext cx="1508760" cy="329184"/>
          </a:xfrm>
          <a:prstGeom prst="rect">
            <a:avLst/>
          </a:prstGeom>
          <a:noFill/>
          <a:ln w="9525">
            <a:solidFill>
              <a:schemeClr val="accent2"/>
            </a:solidFill>
          </a:ln>
        </p:spPr>
        <p:txBody>
          <a:bodyPr wrap="square" lIns="0" tIns="0" rIns="0" bIns="0" rtlCol="0" anchor="ctr"/>
          <a:lstStyle/>
          <a:p>
            <a:pPr algn="ctr" indent="0" marL="0">
              <a:buNone/>
            </a:pPr>
            <a:r>
              <a:rPr lang="en-US" sz="1000" b="1" spc="200" kern="0" dirty="0">
                <a:solidFill>
                  <a:schemeClr val="accent1"/>
                </a:solidFill>
              </a:rPr>
              <a:t>ALTERNATE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Hill Country frame"/>
          <p:cNvSpPr/>
          <p:nvPr/>
        </p:nvSpPr>
        <p:spPr>
          <a:xfrm>
            <a:off x="1706728" y="384048"/>
            <a:ext cx="8778240" cy="5358717"/>
          </a:xfrm>
          <a:prstGeom prst="rect">
            <a:avLst/>
          </a:prstGeom>
          <a:solidFill>
            <a:srgbClr val="1F1A14"/>
          </a:solidFill>
          <a:ln w="12700">
            <a:solidFill>
              <a:srgbClr val="1F1A14"/>
            </a:solidFill>
            <a:prstDash val="solid"/>
          </a:ln>
          <a:effectLst>
            <a:outerShdw sx="100000" sy="100000" kx="0" ky="0" algn="bl" rotWithShape="0" blurRad="228600" dist="76200" dir="5400000">
              <a:srgbClr val="000000">
                <a:alpha val="45000"/>
              </a:srgbClr>
            </a:outerShdw>
          </a:effectLst>
        </p:spPr>
      </p:sp>
      <p:sp>
        <p:nvSpPr>
          <p:cNvPr id="3" name="Hill Country dot 1"/>
          <p:cNvSpPr/>
          <p:nvPr/>
        </p:nvSpPr>
        <p:spPr>
          <a:xfrm>
            <a:off x="1805483" y="458663"/>
            <a:ext cx="70226" cy="70226"/>
          </a:xfrm>
          <a:prstGeom prst="ellipse">
            <a:avLst/>
          </a:prstGeom>
          <a:solidFill>
            <a:srgbClr val="3B342A"/>
          </a:solidFill>
          <a:ln w="12700">
            <a:solidFill>
              <a:srgbClr val="3B342A"/>
            </a:solidFill>
            <a:prstDash val="solid"/>
          </a:ln>
        </p:spPr>
      </p:sp>
      <p:sp>
        <p:nvSpPr>
          <p:cNvPr id="4" name="Hill Country dot 2"/>
          <p:cNvSpPr/>
          <p:nvPr/>
        </p:nvSpPr>
        <p:spPr>
          <a:xfrm>
            <a:off x="1924867" y="458663"/>
            <a:ext cx="70226" cy="70226"/>
          </a:xfrm>
          <a:prstGeom prst="ellipse">
            <a:avLst/>
          </a:prstGeom>
          <a:solidFill>
            <a:srgbClr val="3B342A"/>
          </a:solidFill>
          <a:ln w="12700">
            <a:solidFill>
              <a:srgbClr val="3B342A"/>
            </a:solidFill>
            <a:prstDash val="solid"/>
          </a:ln>
        </p:spPr>
      </p:sp>
      <p:sp>
        <p:nvSpPr>
          <p:cNvPr id="5" name="Hill Country dot 3"/>
          <p:cNvSpPr/>
          <p:nvPr/>
        </p:nvSpPr>
        <p:spPr>
          <a:xfrm>
            <a:off x="2044251" y="458663"/>
            <a:ext cx="70226" cy="70226"/>
          </a:xfrm>
          <a:prstGeom prst="ellipse">
            <a:avLst/>
          </a:prstGeom>
          <a:solidFill>
            <a:srgbClr val="3B342A"/>
          </a:solidFill>
          <a:ln w="12700">
            <a:solidFill>
              <a:srgbClr val="3B342A"/>
            </a:solidFill>
            <a:prstDash val="solid"/>
          </a:ln>
        </p:spPr>
      </p:sp>
      <p:pic>
        <p:nvPicPr>
          <p:cNvPr id="6" name="Hill Country screenshot" descr="Hill Country homepage concept">    </p:cNvPr>
          <p:cNvPicPr>
            <a:picLocks noChangeAspect="1"/>
          </p:cNvPicPr>
          <p:nvPr/>
        </p:nvPicPr>
        <p:blipFill>
          <a:blip r:embed="rId1"/>
          <a:stretch>
            <a:fillRect/>
          </a:stretch>
        </p:blipFill>
        <p:spPr>
          <a:xfrm>
            <a:off x="1706728" y="603504"/>
            <a:ext cx="8778240" cy="5139261"/>
          </a:xfrm>
          <a:prstGeom prst="rect">
            <a:avLst/>
          </a:prstGeom>
        </p:spPr>
      </p:pic>
      <p:sp>
        <p:nvSpPr>
          <p:cNvPr id="7" name="Text 4"/>
          <p:cNvSpPr txBox="1"/>
          <p:nvPr/>
        </p:nvSpPr>
        <p:spPr>
          <a:xfrm>
            <a:off x="1706728" y="6090237"/>
            <a:ext cx="457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05</a:t>
            </a:r>
            <a:endParaRPr lang="en-US" sz="1200" dirty="0"/>
          </a:p>
        </p:txBody>
      </p:sp>
      <p:sp>
        <p:nvSpPr>
          <p:cNvPr id="8" name="Text 5"/>
          <p:cNvSpPr txBox="1"/>
          <p:nvPr/>
        </p:nvSpPr>
        <p:spPr>
          <a:xfrm>
            <a:off x="2209648" y="5998797"/>
            <a:ext cx="2606040" cy="457200"/>
          </a:xfrm>
          <a:prstGeom prst="rect">
            <a:avLst/>
          </a:prstGeom>
          <a:noFill/>
          <a:ln/>
        </p:spPr>
        <p:txBody>
          <a:bodyPr wrap="square" lIns="0" tIns="0" rIns="0" bIns="0" rtlCol="0" anchor="t"/>
          <a:lstStyle/>
          <a:p>
            <a:pPr indent="0" marL="0">
              <a:buNone/>
            </a:pPr>
            <a:r>
              <a:rPr lang="en-US" sz="2600" b="1" dirty="0">
                <a:solidFill>
                  <a:schemeClr val="bg2"/>
                </a:solidFill>
                <a:latin typeface="Cambria" pitchFamily="34" charset="0"/>
                <a:ea typeface="Cambria" pitchFamily="34" charset="-122"/>
                <a:cs typeface="Cambria" pitchFamily="34" charset="-120"/>
              </a:rPr>
              <a:t>Hill Country</a:t>
            </a:r>
            <a:endParaRPr lang="en-US" sz="2600" dirty="0"/>
          </a:p>
        </p:txBody>
      </p:sp>
      <p:sp>
        <p:nvSpPr>
          <p:cNvPr id="9" name="Text 6"/>
          <p:cNvSpPr txBox="1"/>
          <p:nvPr/>
        </p:nvSpPr>
        <p:spPr>
          <a:xfrm>
            <a:off x="4861408" y="6053661"/>
            <a:ext cx="2560320" cy="365760"/>
          </a:xfrm>
          <a:prstGeom prst="rect">
            <a:avLst/>
          </a:prstGeom>
          <a:noFill/>
          <a:ln/>
        </p:spPr>
        <p:txBody>
          <a:bodyPr wrap="square" lIns="0" tIns="0" rIns="0" bIns="0" rtlCol="0" anchor="t"/>
          <a:lstStyle/>
          <a:p>
            <a:pPr indent="0" marL="0">
              <a:buNone/>
            </a:pPr>
            <a:r>
              <a:rPr lang="en-US" sz="1500" dirty="0">
                <a:solidFill>
                  <a:srgbClr val="BDB4A2"/>
                </a:solidFill>
              </a:rPr>
              <a:t>Warm, friendly, welcoming.</a:t>
            </a:r>
            <a:endParaRPr lang="en-US" sz="1500" dirty="0"/>
          </a:p>
        </p:txBody>
      </p:sp>
      <p:sp>
        <p:nvSpPr>
          <p:cNvPr id="10" name="Hill Country live link"/>
          <p:cNvSpPr txBox="1"/>
          <p:nvPr/>
        </p:nvSpPr>
        <p:spPr>
          <a:xfrm>
            <a:off x="9159088" y="6035373"/>
            <a:ext cx="1325880" cy="329184"/>
          </a:xfrm>
          <a:prstGeom prst="rect">
            <a:avLst/>
          </a:prstGeom>
          <a:solidFill>
            <a:schemeClr val="accent1"/>
          </a:solidFill>
          <a:ln/>
        </p:spPr>
        <p:txBody>
          <a:bodyPr wrap="square" lIns="0" tIns="0" rIns="0" bIns="0" rtlCol="0" anchor="ctr"/>
          <a:lstStyle/>
          <a:p>
            <a:pPr algn="ctr" indent="0" marL="0">
              <a:buNone/>
            </a:pPr>
            <a:r>
              <a:rPr lang="en-US" sz="1000" b="1" u="sng" spc="200" kern="0" dirty="0">
                <a:solidFill>
                  <a:schemeClr val="tx2"/>
                </a:solidFill>
                <a:hlinkClick r:id="rId2" invalidUrl="" action="" tgtFrame="" tooltip="Open the Hill Country live site" history="1" highlightClick="0" endSnd="0">
                  <a:extLst>
                    <a:ext uri="{A12FA001-AC4F-418D-AE19-62706E023703}">
                      <ahyp:hlinkClr xmlns:ahyp="http://schemas.microsoft.com/office/drawing/2018/hyperlinkcolor" val="tx"/>
                    </a:ext>
                  </a:extLst>
                </a:hlinkClick>
              </a:rPr>
              <a:t>OPEN LIVE ↗</a:t>
            </a:r>
            <a:endParaRPr lang="en-US" sz="1000" dirty="0"/>
          </a:p>
        </p:txBody>
      </p:sp>
      <p:sp>
        <p:nvSpPr>
          <p:cNvPr id="11" name="Text 8"/>
          <p:cNvSpPr txBox="1"/>
          <p:nvPr/>
        </p:nvSpPr>
        <p:spPr>
          <a:xfrm>
            <a:off x="7513168" y="6035373"/>
            <a:ext cx="1508760" cy="329184"/>
          </a:xfrm>
          <a:prstGeom prst="rect">
            <a:avLst/>
          </a:prstGeom>
          <a:noFill/>
          <a:ln w="9525">
            <a:solidFill>
              <a:schemeClr val="accent2"/>
            </a:solidFill>
          </a:ln>
        </p:spPr>
        <p:txBody>
          <a:bodyPr wrap="square" lIns="0" tIns="0" rIns="0" bIns="0" rtlCol="0" anchor="ctr"/>
          <a:lstStyle/>
          <a:p>
            <a:pPr algn="ctr" indent="0" marL="0">
              <a:buNone/>
            </a:pPr>
            <a:r>
              <a:rPr lang="en-US" sz="1000" b="1" spc="200" kern="0" dirty="0">
                <a:solidFill>
                  <a:schemeClr val="accent1"/>
                </a:solidFill>
              </a:rPr>
              <a:t>ALTERNATE</a:t>
            </a:r>
            <a:endParaRPr lang="en-US" sz="1000" dirty="0"/>
          </a:p>
        </p:txBody>
      </p:sp>
    </p:spTree>
  </p:cSld>
  <p:clrMapOvr>
    <a:masterClrMapping/>
  </p:clrMapOvr>
</p:sld>
</file>

<file path=ppt/theme/theme1.xml><?xml version="1.0" encoding="utf-8"?>
<a:theme xmlns:a="http://schemas.openxmlformats.org/drawingml/2006/main" name="ACE Gold">
  <a:themeElements>
    <a:clrScheme name="ACE Gold">
      <a:dk1>
        <a:srgbClr val="1D1810"/>
      </a:dk1>
      <a:lt1>
        <a:srgbClr val="FAF6EE"/>
      </a:lt1>
      <a:dk2>
        <a:srgbClr val="15110B"/>
      </a:dk2>
      <a:lt2>
        <a:srgbClr val="F5EFE3"/>
      </a:lt2>
      <a:accent1>
        <a:srgbClr val="D6A64A"/>
      </a:accent1>
      <a:accent2>
        <a:srgbClr val="A9792A"/>
      </a:accent2>
      <a:accent3>
        <a:srgbClr val="6B604C"/>
      </a:accent3>
      <a:accent4>
        <a:srgbClr val="E2D6BF"/>
      </a:accent4>
      <a:accent5>
        <a:srgbClr val="B9AE98"/>
      </a:accent5>
      <a:accent6>
        <a:srgbClr val="2A2116"/>
      </a:accent6>
      <a:hlink>
        <a:srgbClr val="A9792A"/>
      </a:hlink>
      <a:folHlink>
        <a:srgbClr val="6B604C"/>
      </a:folHlink>
    </a:clrScheme>
    <a:fontScheme name="ACE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A.C.E. Distribution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ACE Design Review</dc:title>
  <dc:subject>PptxGenJS Presentation</dc:subject>
  <dc:creator>PptxGenJS</dc:creator>
  <cp:lastModifiedBy>PptxGenJS</cp:lastModifiedBy>
  <cp:revision>1</cp:revision>
  <dcterms:created xsi:type="dcterms:W3CDTF">2026-10-17T02:18:05Z</dcterms:created>
  <dcterms:modified xsi:type="dcterms:W3CDTF">2026-10-17T02:18:05Z</dcterms:modified>
</cp:coreProperties>
</file>