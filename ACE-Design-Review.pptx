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ock" id="{eb03668c-dbae-3813-97bd-2f7b73df254c}">
          <p14:sldIdLst>
            <p14:sldId id="256"/>
            <p14:sldId id="257"/>
            <p14:sldId id="258"/>
            <p14:sldId id="259"/>
          </p14:sldIdLst>
        </p14:section>
        <p14:section name="Milestone 1 · Designs" id="{70fbbbcf-9f15-bc63-7daa-211ed9b1bc04}">
          <p14:sldIdLst>
            <p14:sldId id="260"/>
            <p14:sldId id="261"/>
            <p14:sldId id="262"/>
            <p14:sldId id="263"/>
            <p14:sldId id="264"/>
            <p14:sldId id="265"/>
            <p14:sldId id="266"/>
            <p14:sldId id="267"/>
          </p14:sldIdLst>
        </p14:section>
        <p14:section name="Milestone 2 · Decision" id="{acb8dbd2-ce1a-1c98-d0f2-3f919d14359b}">
          <p14:sldIdLst>
            <p14:sldId id="268"/>
          </p14:sldIdLst>
        </p14:section>
        <p14:section name="Driving it to done" id="{07b5b3c4-bb5d-fb77-6806-7c6dc2ef9ca0}">
          <p14:sldIdLst>
            <p14:sldId id="269"/>
            <p14:sldId id="270"/>
            <p14:sldId id="271"/>
            <p14:sldId id="272"/>
            <p14:sldId id="273"/>
            <p14:sldId id="274"/>
          </p14:sldIdLst>
        </p14:section>
        <p14:section name="Appendix" id="{c0dc5f49-21a1-6248-8b46-05df5da621f0}">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took the website on as my Rock. This isn’t a mockup tour; it’s a check-in on something I own.
Four parts: what I took on, what I’ve delivered, the one decision I need from you, and how I’ll finish it.
Keep it short. The room knows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If we leave with a direction but no commitments, the meeting didn’t do its job.
The site is the first thing a new fleet manager or farm buyer sees before they ever call Pleasanton. That’s why it deserves a real decision and a real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If everyone owns it, no one owns it, and that’s how a website stalls for years.
So I’m putting my name on this one, in front of you. Hold me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Rock: one owner, measurable, done by the end of the quarter. Type your name in the Owner line before the meeting.
Four milestones. The first is done: five directions, fully built. The second happens in this room, today.
Every week in our L10 I’ll call it on track or off track. No surprises.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one is done. Five directions, built end to end: homepage, services, booking. Not mood boards. Every one is live, and I can open any of them right now.
The two highlighted are the ones I want us to sit with. The other three are real alternates.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throwaways. Each one is complete and any of them could ship.
If someone in the room is pulling for one of these, say so now and we’ll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to watch for.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Whichever direction we choose, the booking matrix already matches it.
It turns a visit into a scheduled delivery window. That’s what makes the site work for ACE, not just look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direction do we build?
If the room splits, land on two and name who makes the final call by when. That’s a To-Do, not a maybe.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Choosing a direction is milestone two of four. The rest is ownership.
In EOS every seat has one person accountable. The Accountability Chart names who owns which outcome, not who reports to whom. For the website, that’s me.
Accountability isn’t blame. It’s clarity,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Rocks for the quarter. Few, important, measurable.
Each one has a “done when”, so there’s no arguing later about whether it’s finished.
They’re mine. I’m giving them to myself, in front of you. Fill the due dates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90-day commitments. I’ll call mine on track or off track every week in L10.
To-Dos are seven-day promises. Done, or flagged early.
Same standard for what I give myself as for what I give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To-Dos, seven days.
Three are mine. One is the team’s: photos and copy. Put a name on it before we stand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You’re accountable for the things you give yourself.
Ambition without ownership is noise. Everyone in this room has had a “we should redo the website” moment. You don’t get credit for the intention.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To-Do names back.
Then: you’ll hear this Rock’s status every week until it’s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4" Type="http://schemas.openxmlformats.org/officeDocument/2006/relationships/hyperlink" Target="https://jpzllkfl.github.io/ace-design-presentation/designs/piney.html" TargetMode="External"/><Relationship Id="rId6" Type="http://schemas.openxmlformats.org/officeDocument/2006/relationships/hyperlink" Target="https://jpzllkfl.github.io/ace-design-presentation/designs/openwater.html" TargetMode="External"/><Relationship Id="rId8" Type="http://schemas.openxmlformats.org/officeDocument/2006/relationships/hyperlink" Target="https://jpzllkfl.github.io/ace-design-presentation/designs/heartland.html" TargetMode="External"/><Relationship Id="rId10" Type="http://schemas.openxmlformats.org/officeDocument/2006/relationships/hyperlink" Target="https://jpzllkfl.github.io/ace-design-presentation/designs/hill.html" TargetMode="External"/><Relationship Id="rId1" Type="http://schemas.openxmlformats.org/officeDocument/2006/relationships/image" Target="../media/image-5-1.jpg"/><Relationship Id="rId3" Type="http://schemas.openxmlformats.org/officeDocument/2006/relationships/image" Target="../media/image-5-2.jpg"/><Relationship Id="rId5" Type="http://schemas.openxmlformats.org/officeDocument/2006/relationships/image" Target="../media/image-5-3.jpg"/><Relationship Id="rId7" Type="http://schemas.openxmlformats.org/officeDocument/2006/relationships/image" Target="../media/image-5-4.jpg"/><Relationship Id="rId9" Type="http://schemas.openxmlformats.org/officeDocument/2006/relationships/image" Target="../media/image-5-5.jp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1" Type="http://schemas.openxmlformats.org/officeDocument/2006/relationships/image" Target="../media/image-6-1.jp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jpzllkfl.github.io/ace-design-presentation/designs/bigsky.html" TargetMode="External"/><Relationship Id="rId1" Type="http://schemas.openxmlformats.org/officeDocument/2006/relationships/image" Target="../media/image-7-1.jpg"/><Relationship Id="rId3" Type="http://schemas.openxmlformats.org/officeDocument/2006/relationships/slideLayout" Target="../slideLayouts/slideLayout5.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jpzllkfl.github.io/ace-design-presentation/designs/heartland.html" TargetMode="External"/><Relationship Id="rId1" Type="http://schemas.openxmlformats.org/officeDocument/2006/relationships/image" Target="../media/image-8-1.jpg"/><Relationship Id="rId3" Type="http://schemas.openxmlformats.org/officeDocument/2006/relationships/slideLayout" Target="../slideLayouts/slideLayout7.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jpzllkfl.github.io/ace-design-presentation/designs/heartland.html" TargetMode="External"/><Relationship Id="rId1" Type="http://schemas.openxmlformats.org/officeDocument/2006/relationships/image" Target="../media/image-9-1.jpg"/><Relationship Id="rId3" Type="http://schemas.openxmlformats.org/officeDocument/2006/relationships/slideLayout" Target="../slideLayouts/slideLayout5.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jpzllkfl.github.io/ace-design-presentation/designs/piney.html" TargetMode="External"/><Relationship Id="rId1" Type="http://schemas.openxmlformats.org/officeDocument/2006/relationships/image" Target="../media/image-21-1.jpg"/><Relationship Id="rId3" Type="http://schemas.openxmlformats.org/officeDocument/2006/relationships/slideLayout" Target="../slideLayouts/slideLayout7.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jpzllkfl.github.io/ace-design-presentation/designs/openwater.html" TargetMode="External"/><Relationship Id="rId1" Type="http://schemas.openxmlformats.org/officeDocument/2006/relationships/image" Target="../media/image-22-1.jp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jpzllkfl.github.io/ace-design-presentation/designs/hill.html" TargetMode="External"/><Relationship Id="rId1" Type="http://schemas.openxmlformats.org/officeDocument/2006/relationships/image" Target="../media/image-23-1.jpg"/><Relationship Id="rId3" Type="http://schemas.openxmlformats.org/officeDocument/2006/relationships/slideLayout" Target="../slideLayouts/slideLayout7.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 · ROCK CHECK-IN</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000" b="1" dirty="0">
                <a:solidFill>
                  <a:schemeClr val="bg2"/>
                </a:solidFill>
                <a:latin typeface="Cambria" pitchFamily="34" charset="0"/>
                <a:ea typeface="Cambria" pitchFamily="34" charset="-122"/>
                <a:cs typeface="Cambria" pitchFamily="34" charset="-120"/>
              </a:rPr>
              <a:t>The new ACE website.</a:t>
            </a:r>
            <a:endParaRPr lang="en-US" sz="6000" dirty="0"/>
          </a:p>
          <a:p>
            <a:pPr indent="0" marL="0">
              <a:lnSpc>
                <a:spcPct val="95000"/>
              </a:lnSpc>
              <a:buNone/>
            </a:pPr>
            <a:r>
              <a:rPr lang="en-US" sz="6000" b="1" i="1" dirty="0">
                <a:solidFill>
                  <a:schemeClr val="accent1"/>
                </a:solidFill>
                <a:latin typeface="Cambria" pitchFamily="34" charset="0"/>
                <a:ea typeface="Cambria" pitchFamily="34" charset="-122"/>
                <a:cs typeface="Cambria" pitchFamily="34" charset="-120"/>
              </a:rPr>
              <a:t>My Rock.</a:t>
            </a:r>
            <a:endParaRPr lang="en-US" sz="6000" dirty="0"/>
          </a:p>
        </p:txBody>
      </p:sp>
      <p:sp>
        <p:nvSpPr>
          <p:cNvPr id="5" name="Text 2"/>
          <p:cNvSpPr txBox="1"/>
          <p:nvPr/>
        </p:nvSpPr>
        <p:spPr>
          <a:xfrm>
            <a:off x="886968" y="5166360"/>
            <a:ext cx="7680960" cy="731520"/>
          </a:xfrm>
          <a:prstGeom prst="rect">
            <a:avLst/>
          </a:prstGeom>
          <a:noFill/>
          <a:ln/>
        </p:spPr>
        <p:txBody>
          <a:bodyPr wrap="square" lIns="0" tIns="0" rIns="0" bIns="0" rtlCol="0" anchor="t"/>
          <a:lstStyle/>
          <a:p>
            <a:pPr indent="0" marL="0">
              <a:buNone/>
            </a:pPr>
            <a:r>
              <a:rPr lang="en-US" sz="1800" dirty="0">
                <a:solidFill>
                  <a:srgbClr val="BDB4A2"/>
                </a:solidFill>
              </a:rPr>
              <a:t>What I took on, what’s done, the one decision I need from this room, and how I’ll drive it to launch.</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A Rock check-in, </a:t>
            </a:r>
            <a:pPr algn="l" indent="0" marL="0">
              <a:buNone/>
            </a:pPr>
            <a:r>
              <a:rPr lang="en-US" sz="4400" b="1" i="1" dirty="0">
                <a:solidFill>
                  <a:schemeClr val="tx1"/>
                </a:solidFill>
                <a:latin typeface="Cambria" pitchFamily="34" charset="0"/>
                <a:ea typeface="Cambria" pitchFamily="34" charset="-122"/>
                <a:cs typeface="Cambria" pitchFamily="34" charset="-120"/>
              </a:rPr>
              <a:t>not</a:t>
            </a:r>
            <a:pPr algn="l" indent="0" marL="0">
              <a:buNone/>
            </a:pPr>
            <a:r>
              <a:rPr lang="en-US" sz="4400" b="1" dirty="0">
                <a:solidFill>
                  <a:schemeClr val="tx1"/>
                </a:solidFill>
                <a:latin typeface="Cambria" pitchFamily="34" charset="0"/>
                <a:ea typeface="Cambria" pitchFamily="34" charset="-122"/>
                <a:cs typeface="Cambria" pitchFamily="34" charset="-120"/>
              </a:rPr>
              <a:t> a mockup tour</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Show what’s done</a:t>
            </a:r>
            <a:endParaRPr lang="en-US" sz="2100" dirty="0"/>
          </a:p>
          <a:p>
            <a:pPr indent="0" marL="0">
              <a:buNone/>
            </a:pPr>
            <a:r>
              <a:rPr lang="en-US" sz="1400" dirty="0">
                <a:solidFill>
                  <a:schemeClr val="accent3"/>
                </a:solidFill>
              </a:rPr>
              <a:t>Five website directions, built and live to click through.</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Make one decision together</a:t>
            </a:r>
            <a:endParaRPr lang="en-US" sz="2100" dirty="0"/>
          </a:p>
          <a:p>
            <a:pPr indent="0" marL="0">
              <a:buNone/>
            </a:pPr>
            <a:r>
              <a:rPr lang="en-US" sz="1400" dirty="0">
                <a:solidFill>
                  <a:schemeClr val="accent3"/>
                </a:solidFill>
              </a:rPr>
              <a:t>Which direction we build. Two featured, all five on the table.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Commit to the finish</a:t>
            </a:r>
            <a:endParaRPr lang="en-US" sz="2100" dirty="0"/>
          </a:p>
          <a:p>
            <a:pPr indent="0" marL="0">
              <a:buNone/>
            </a:pPr>
            <a:r>
              <a:rPr lang="en-US" sz="1400" dirty="0">
                <a:solidFill>
                  <a:schemeClr val="accent3"/>
                </a:solidFill>
              </a:rPr>
              <a:t>My Rocks and this week’s To-Dos, 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 EOS ACCOUNTABILITY</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This one has mine. Accountability isn’t blame. It’s clarity, ownership and follow-through, out loud.</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MY ROCK · THIS QUARTER</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Launch the new ACE website</a:t>
            </a:r>
            <a:endParaRPr lang="en-US" sz="4400" dirty="0"/>
          </a:p>
        </p:txBody>
      </p:sp>
      <p:sp>
        <p:nvSpPr>
          <p:cNvPr id="4" name="Text 2"/>
          <p:cNvSpPr txBox="1"/>
          <p:nvPr/>
        </p:nvSpPr>
        <p:spPr>
          <a:xfrm>
            <a:off x="886968" y="2331720"/>
            <a:ext cx="2377440" cy="228600"/>
          </a:xfrm>
          <a:prstGeom prst="rect">
            <a:avLst/>
          </a:prstGeom>
          <a:noFill/>
          <a:ln/>
        </p:spPr>
        <p:txBody>
          <a:bodyPr wrap="square" lIns="0" tIns="0" rIns="0" bIns="0" rtlCol="0" anchor="t"/>
          <a:lstStyle/>
          <a:p>
            <a:pPr indent="0" marL="0">
              <a:buNone/>
            </a:pPr>
            <a:r>
              <a:rPr lang="en-US" sz="1000" b="1" spc="300" kern="0" dirty="0">
                <a:solidFill>
                  <a:schemeClr val="accent2"/>
                </a:solidFill>
              </a:rPr>
              <a:t>OWNER</a:t>
            </a:r>
            <a:endParaRPr lang="en-US" sz="1000" dirty="0"/>
          </a:p>
        </p:txBody>
      </p:sp>
      <p:sp>
        <p:nvSpPr>
          <p:cNvPr id="5" name="Text 3"/>
          <p:cNvSpPr txBox="1"/>
          <p:nvPr/>
        </p:nvSpPr>
        <p:spPr>
          <a:xfrm>
            <a:off x="3904488" y="2331720"/>
            <a:ext cx="2377440" cy="228600"/>
          </a:xfrm>
          <a:prstGeom prst="rect">
            <a:avLst/>
          </a:prstGeom>
          <a:noFill/>
          <a:ln/>
        </p:spPr>
        <p:txBody>
          <a:bodyPr wrap="square" lIns="0" tIns="0" rIns="0" bIns="0" rtlCol="0" anchor="t"/>
          <a:lstStyle/>
          <a:p>
            <a:pPr indent="0" marL="0">
              <a:buNone/>
            </a:pPr>
            <a:r>
              <a:rPr lang="en-US" sz="1000" b="1" spc="300" kern="0" dirty="0">
                <a:solidFill>
                  <a:schemeClr val="accent2"/>
                </a:solidFill>
              </a:rPr>
              <a:t>DONE BY</a:t>
            </a:r>
            <a:endParaRPr lang="en-US" sz="1000" dirty="0"/>
          </a:p>
        </p:txBody>
      </p:sp>
      <p:sp>
        <p:nvSpPr>
          <p:cNvPr id="6" name="Text 4"/>
          <p:cNvSpPr txBox="1"/>
          <p:nvPr/>
        </p:nvSpPr>
        <p:spPr>
          <a:xfrm>
            <a:off x="6739128" y="2331720"/>
            <a:ext cx="2377440" cy="228600"/>
          </a:xfrm>
          <a:prstGeom prst="rect">
            <a:avLst/>
          </a:prstGeom>
          <a:noFill/>
          <a:ln/>
        </p:spPr>
        <p:txBody>
          <a:bodyPr wrap="square" lIns="0" tIns="0" rIns="0" bIns="0" rtlCol="0" anchor="t"/>
          <a:lstStyle/>
          <a:p>
            <a:pPr indent="0" marL="0">
              <a:buNone/>
            </a:pPr>
            <a:r>
              <a:rPr lang="en-US" sz="1000" b="1" spc="300" kern="0" dirty="0">
                <a:solidFill>
                  <a:schemeClr val="accent2"/>
                </a:solidFill>
              </a:rPr>
              <a:t>STATUS</a:t>
            </a:r>
            <a:endParaRPr lang="en-US" sz="1000" dirty="0"/>
          </a:p>
        </p:txBody>
      </p:sp>
      <p:sp>
        <p:nvSpPr>
          <p:cNvPr id="7" name="owner (type your name)"/>
          <p:cNvSpPr txBox="1"/>
          <p:nvPr/>
        </p:nvSpPr>
        <p:spPr>
          <a:xfrm>
            <a:off x="886968" y="2679192"/>
            <a:ext cx="2377440" cy="384048"/>
          </a:xfrm>
          <a:prstGeom prst="rect">
            <a:avLst/>
          </a:prstGeom>
          <a:noFill/>
          <a:ln/>
        </p:spPr>
        <p:txBody>
          <a:bodyPr wrap="square" lIns="0" tIns="0" rIns="0" bIns="0" rtlCol="0" anchor="t"/>
          <a:lstStyle/>
          <a:p>
            <a:pPr indent="0" marL="0">
              <a:buNone/>
            </a:pPr>
            <a:endParaRPr lang="en-US" sz="1800" dirty="0"/>
          </a:p>
        </p:txBody>
      </p:sp>
      <p:sp>
        <p:nvSpPr>
          <p:cNvPr id="8" name="owner line"/>
          <p:cNvSpPr/>
          <p:nvPr/>
        </p:nvSpPr>
        <p:spPr>
          <a:xfrm>
            <a:off x="886968" y="3081528"/>
            <a:ext cx="2377440" cy="0"/>
          </a:xfrm>
          <a:prstGeom prst="line">
            <a:avLst/>
          </a:prstGeom>
          <a:noFill/>
          <a:ln w="9525">
            <a:solidFill>
              <a:schemeClr val="accent4"/>
            </a:solidFill>
            <a:prstDash val="solid"/>
          </a:ln>
        </p:spPr>
      </p:sp>
      <p:sp>
        <p:nvSpPr>
          <p:cNvPr id="9" name="done by"/>
          <p:cNvSpPr txBox="1"/>
          <p:nvPr/>
        </p:nvSpPr>
        <p:spPr>
          <a:xfrm>
            <a:off x="3904488" y="2679192"/>
            <a:ext cx="2377440" cy="384048"/>
          </a:xfrm>
          <a:prstGeom prst="rect">
            <a:avLst/>
          </a:prstGeom>
          <a:noFill/>
          <a:ln/>
        </p:spPr>
        <p:txBody>
          <a:bodyPr wrap="square" lIns="0" tIns="0" rIns="0" bIns="0" rtlCol="0" anchor="t"/>
          <a:lstStyle/>
          <a:p>
            <a:pPr indent="0" marL="0">
              <a:buNone/>
            </a:pPr>
            <a:r>
              <a:rPr lang="en-US" sz="1800" dirty="0">
                <a:solidFill>
                  <a:schemeClr val="tx1"/>
                </a:solidFill>
                <a:latin typeface="Cambria" pitchFamily="34" charset="0"/>
                <a:ea typeface="Cambria" pitchFamily="34" charset="-122"/>
                <a:cs typeface="Cambria" pitchFamily="34" charset="-120"/>
              </a:rPr>
              <a:t>End of quarter</a:t>
            </a:r>
            <a:endParaRPr lang="en-US" sz="1800" dirty="0"/>
          </a:p>
        </p:txBody>
      </p:sp>
      <p:sp>
        <p:nvSpPr>
          <p:cNvPr id="10" name="done by line"/>
          <p:cNvSpPr/>
          <p:nvPr/>
        </p:nvSpPr>
        <p:spPr>
          <a:xfrm>
            <a:off x="3904488" y="3081528"/>
            <a:ext cx="2377440" cy="0"/>
          </a:xfrm>
          <a:prstGeom prst="line">
            <a:avLst/>
          </a:prstGeom>
          <a:noFill/>
          <a:ln w="9525">
            <a:solidFill>
              <a:schemeClr val="accent4"/>
            </a:solidFill>
            <a:prstDash val="solid"/>
          </a:ln>
        </p:spPr>
      </p:sp>
      <p:sp>
        <p:nvSpPr>
          <p:cNvPr id="11" name="status"/>
          <p:cNvSpPr txBox="1"/>
          <p:nvPr/>
        </p:nvSpPr>
        <p:spPr>
          <a:xfrm>
            <a:off x="6739128" y="2660904"/>
            <a:ext cx="1325880" cy="384048"/>
          </a:xfrm>
          <a:prstGeom prst="roundRect">
            <a:avLst>
              <a:gd name="adj" fmla="val 47619"/>
            </a:avLst>
          </a:prstGeom>
          <a:solidFill>
            <a:srgbClr val="E4EBDD"/>
          </a:solidFill>
          <a:ln w="9525">
            <a:solidFill>
              <a:srgbClr val="A9C4A6"/>
            </a:solidFill>
          </a:ln>
        </p:spPr>
        <p:txBody>
          <a:bodyPr wrap="square" lIns="0" tIns="0" rIns="0" bIns="0" rtlCol="0" anchor="ctr"/>
          <a:lstStyle/>
          <a:p>
            <a:pPr algn="ctr" indent="0" marL="0">
              <a:buNone/>
            </a:pPr>
            <a:r>
              <a:rPr lang="en-US" sz="1500" b="1" dirty="0">
                <a:solidFill>
                  <a:srgbClr val="2F6B3A"/>
                </a:solidFill>
              </a:rPr>
              <a:t>On track</a:t>
            </a:r>
            <a:endParaRPr lang="en-US" sz="1500" dirty="0"/>
          </a:p>
        </p:txBody>
      </p:sp>
      <p:sp>
        <p:nvSpPr>
          <p:cNvPr id="12" name="milestone line 1"/>
          <p:cNvSpPr/>
          <p:nvPr/>
        </p:nvSpPr>
        <p:spPr>
          <a:xfrm>
            <a:off x="1078992" y="4169664"/>
            <a:ext cx="2604440" cy="0"/>
          </a:xfrm>
          <a:prstGeom prst="line">
            <a:avLst/>
          </a:prstGeom>
          <a:noFill/>
          <a:ln w="28575">
            <a:solidFill>
              <a:srgbClr val="D6A64A"/>
            </a:solidFill>
            <a:prstDash val="solid"/>
          </a:ln>
        </p:spPr>
      </p:sp>
      <p:sp>
        <p:nvSpPr>
          <p:cNvPr id="13" name="milestone line 2"/>
          <p:cNvSpPr/>
          <p:nvPr/>
        </p:nvSpPr>
        <p:spPr>
          <a:xfrm>
            <a:off x="3683432" y="4169664"/>
            <a:ext cx="2604440" cy="0"/>
          </a:xfrm>
          <a:prstGeom prst="line">
            <a:avLst/>
          </a:prstGeom>
          <a:noFill/>
          <a:ln w="28575">
            <a:solidFill>
              <a:srgbClr val="E2D6BF"/>
            </a:solidFill>
            <a:prstDash val="solid"/>
          </a:ln>
        </p:spPr>
      </p:sp>
      <p:sp>
        <p:nvSpPr>
          <p:cNvPr id="14" name="milestone line 3"/>
          <p:cNvSpPr/>
          <p:nvPr/>
        </p:nvSpPr>
        <p:spPr>
          <a:xfrm>
            <a:off x="6287872" y="4169664"/>
            <a:ext cx="2604440" cy="0"/>
          </a:xfrm>
          <a:prstGeom prst="line">
            <a:avLst/>
          </a:prstGeom>
          <a:noFill/>
          <a:ln w="28575">
            <a:solidFill>
              <a:srgbClr val="E2D6BF"/>
            </a:solidFill>
            <a:prstDash val="solid"/>
          </a:ln>
        </p:spPr>
      </p:sp>
      <p:sp>
        <p:nvSpPr>
          <p:cNvPr id="15" name="milestone 1"/>
          <p:cNvSpPr txBox="1"/>
          <p:nvPr/>
        </p:nvSpPr>
        <p:spPr>
          <a:xfrm>
            <a:off x="886968" y="3977640"/>
            <a:ext cx="384048" cy="384048"/>
          </a:xfrm>
          <a:prstGeom prst="ellipse">
            <a:avLst/>
          </a:prstGeom>
          <a:solidFill>
            <a:srgbClr val="D6A64A"/>
          </a:solidFill>
          <a:ln w="25400">
            <a:solidFill>
              <a:srgbClr val="D6A64A"/>
            </a:solid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6" name="Text 14"/>
          <p:cNvSpPr txBox="1"/>
          <p:nvPr/>
        </p:nvSpPr>
        <p:spPr>
          <a:xfrm>
            <a:off x="886968" y="4526280"/>
            <a:ext cx="237584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Five directions built</a:t>
            </a:r>
            <a:endParaRPr lang="en-US" sz="1600" dirty="0"/>
          </a:p>
        </p:txBody>
      </p:sp>
      <p:sp>
        <p:nvSpPr>
          <p:cNvPr id="17" name="Text 15"/>
          <p:cNvSpPr txBox="1"/>
          <p:nvPr/>
        </p:nvSpPr>
        <p:spPr>
          <a:xfrm>
            <a:off x="886968" y="4873752"/>
            <a:ext cx="237584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DONE</a:t>
            </a:r>
            <a:endParaRPr lang="en-US" sz="1000" dirty="0"/>
          </a:p>
        </p:txBody>
      </p:sp>
      <p:sp>
        <p:nvSpPr>
          <p:cNvPr id="18" name="milestone 2"/>
          <p:cNvSpPr txBox="1"/>
          <p:nvPr/>
        </p:nvSpPr>
        <p:spPr>
          <a:xfrm>
            <a:off x="3491408" y="3977640"/>
            <a:ext cx="384048" cy="384048"/>
          </a:xfrm>
          <a:prstGeom prst="ellipse">
            <a:avLst/>
          </a:prstGeom>
          <a:solidFill>
            <a:srgbClr val="FAF6EE"/>
          </a:solidFill>
          <a:ln w="25400">
            <a:solidFill>
              <a:srgbClr val="D6A64A"/>
            </a:solid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19" name="Text 17"/>
          <p:cNvSpPr txBox="1"/>
          <p:nvPr/>
        </p:nvSpPr>
        <p:spPr>
          <a:xfrm>
            <a:off x="3491408" y="4526280"/>
            <a:ext cx="237584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Choose the direction</a:t>
            </a:r>
            <a:endParaRPr lang="en-US" sz="1600" dirty="0"/>
          </a:p>
        </p:txBody>
      </p:sp>
      <p:sp>
        <p:nvSpPr>
          <p:cNvPr id="20" name="Text 18"/>
          <p:cNvSpPr txBox="1"/>
          <p:nvPr/>
        </p:nvSpPr>
        <p:spPr>
          <a:xfrm>
            <a:off x="3491408" y="4873752"/>
            <a:ext cx="2375840"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TODAY</a:t>
            </a:r>
            <a:endParaRPr lang="en-US" sz="1000" dirty="0"/>
          </a:p>
        </p:txBody>
      </p:sp>
      <p:sp>
        <p:nvSpPr>
          <p:cNvPr id="21" name="milestone 3"/>
          <p:cNvSpPr txBox="1"/>
          <p:nvPr/>
        </p:nvSpPr>
        <p:spPr>
          <a:xfrm>
            <a:off x="6095848" y="3977640"/>
            <a:ext cx="384048" cy="384048"/>
          </a:xfrm>
          <a:prstGeom prst="ellipse">
            <a:avLst/>
          </a:prstGeom>
          <a:solidFill>
            <a:srgbClr val="FAF6EE"/>
          </a:solidFill>
          <a:ln w="25400">
            <a:solidFill>
              <a:srgbClr val="E2D6BF"/>
            </a:solidFill>
          </a:ln>
        </p:spPr>
        <p:txBody>
          <a:bodyPr wrap="square" lIns="0" tIns="0" rIns="0" bIns="0" rtlCol="0" anchor="ctr"/>
          <a:lstStyle/>
          <a:p>
            <a:pPr algn="ctr" indent="0" marL="0">
              <a:buNone/>
            </a:pPr>
            <a:r>
              <a:rPr lang="en-US" sz="1400" b="1" dirty="0">
                <a:solidFill>
                  <a:schemeClr val="accent3"/>
                </a:solidFill>
              </a:rPr>
              <a:t>3</a:t>
            </a:r>
            <a:endParaRPr lang="en-US" sz="1400" dirty="0"/>
          </a:p>
        </p:txBody>
      </p:sp>
      <p:sp>
        <p:nvSpPr>
          <p:cNvPr id="22" name="Text 20"/>
          <p:cNvSpPr txBox="1"/>
          <p:nvPr/>
        </p:nvSpPr>
        <p:spPr>
          <a:xfrm>
            <a:off x="6095848" y="4526280"/>
            <a:ext cx="237584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Build + booking live</a:t>
            </a:r>
            <a:endParaRPr lang="en-US" sz="1600" dirty="0"/>
          </a:p>
        </p:txBody>
      </p:sp>
      <p:sp>
        <p:nvSpPr>
          <p:cNvPr id="23" name="Text 21"/>
          <p:cNvSpPr txBox="1"/>
          <p:nvPr/>
        </p:nvSpPr>
        <p:spPr>
          <a:xfrm>
            <a:off x="6095848" y="4873752"/>
            <a:ext cx="2375840"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NEXT</a:t>
            </a:r>
            <a:endParaRPr lang="en-US" sz="1000" dirty="0"/>
          </a:p>
        </p:txBody>
      </p:sp>
      <p:sp>
        <p:nvSpPr>
          <p:cNvPr id="24" name="milestone 4"/>
          <p:cNvSpPr txBox="1"/>
          <p:nvPr/>
        </p:nvSpPr>
        <p:spPr>
          <a:xfrm>
            <a:off x="8700287" y="3977640"/>
            <a:ext cx="384048" cy="384048"/>
          </a:xfrm>
          <a:prstGeom prst="ellipse">
            <a:avLst/>
          </a:prstGeom>
          <a:solidFill>
            <a:srgbClr val="FAF6EE"/>
          </a:solidFill>
          <a:ln w="25400">
            <a:solidFill>
              <a:srgbClr val="E2D6BF"/>
            </a:solidFill>
          </a:ln>
        </p:spPr>
        <p:txBody>
          <a:bodyPr wrap="square" lIns="0" tIns="0" rIns="0" bIns="0" rtlCol="0" anchor="ctr"/>
          <a:lstStyle/>
          <a:p>
            <a:pPr algn="ctr" indent="0" marL="0">
              <a:buNone/>
            </a:pPr>
            <a:r>
              <a:rPr lang="en-US" sz="1400" b="1" dirty="0">
                <a:solidFill>
                  <a:schemeClr val="accent3"/>
                </a:solidFill>
              </a:rPr>
              <a:t>4</a:t>
            </a:r>
            <a:endParaRPr lang="en-US" sz="1400" dirty="0"/>
          </a:p>
        </p:txBody>
      </p:sp>
      <p:sp>
        <p:nvSpPr>
          <p:cNvPr id="25" name="Text 23"/>
          <p:cNvSpPr txBox="1"/>
          <p:nvPr/>
        </p:nvSpPr>
        <p:spPr>
          <a:xfrm>
            <a:off x="8700287" y="4526280"/>
            <a:ext cx="2375840" cy="5486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Launch</a:t>
            </a:r>
            <a:endParaRPr lang="en-US" sz="1600" dirty="0"/>
          </a:p>
        </p:txBody>
      </p:sp>
      <p:sp>
        <p:nvSpPr>
          <p:cNvPr id="26" name="Text 24"/>
          <p:cNvSpPr txBox="1"/>
          <p:nvPr/>
        </p:nvSpPr>
        <p:spPr>
          <a:xfrm>
            <a:off x="8700287" y="4873752"/>
            <a:ext cx="2375840"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DONE WHEN LIVE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MILESTONE 1 · DELIVERED</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built.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a:hlinkClick r:id="rId2" tooltip="Open the Big Sky live site"/>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a:hlinkClick r:id="rId4" tooltip="Open the Piney Woods live site"/>
          </p:cNvPr>
          <p:cNvPicPr>
            <a:picLocks noChangeAspect="1"/>
          </p:cNvPicPr>
          <p:nvPr/>
        </p:nvPicPr>
        <p:blipFill>
          <a:blip r:embed="rId3">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a:hlinkClick r:id="rId6" tooltip="Open the Open Water live site"/>
          </p:cNvPr>
          <p:cNvPicPr>
            <a:picLocks noChangeAspect="1"/>
          </p:cNvPicPr>
          <p:nvPr/>
        </p:nvPicPr>
        <p:blipFill>
          <a:blip r:embed="rId5">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a:hlinkClick r:id="rId8" tooltip="Open the Heartland Steel live site"/>
          </p:cNvPr>
          <p:cNvPicPr>
            <a:picLocks noChangeAspect="1"/>
          </p:cNvPicPr>
          <p:nvPr/>
        </p:nvPicPr>
        <p:blipFill>
          <a:blip r:embed="rId7"/>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a:hlinkClick r:id="rId10" tooltip="Open the Hill Country live site"/>
          </p:cNvPr>
          <p:cNvPicPr>
            <a:picLocks noChangeAspect="1"/>
          </p:cNvPicPr>
          <p:nvPr/>
        </p:nvPicPr>
        <p:blipFill>
          <a:blip r:embed="rId9">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6" name="rock marker"/>
          <p:cNvSpPr txBox="1"/>
          <p:nvPr/>
        </p:nvSpPr>
        <p:spPr>
          <a:xfrm>
            <a:off x="886968" y="6291072"/>
            <a:ext cx="2542032" cy="292608"/>
          </a:xfrm>
          <a:prstGeom prst="roundRect">
            <a:avLst>
              <a:gd name="adj" fmla="val 50000"/>
            </a:avLst>
          </a:prstGeom>
          <a:noFill/>
          <a:ln w="9525">
            <a:solidFill>
              <a:srgbClr val="A9792A"/>
            </a:solidFill>
          </a:ln>
        </p:spPr>
        <p:txBody>
          <a:bodyPr wrap="square" lIns="0" tIns="0" rIns="0" bIns="0" rtlCol="0" anchor="ctr"/>
          <a:lstStyle/>
          <a:p>
            <a:pPr algn="ctr" indent="0" marL="0">
              <a:buNone/>
            </a:pPr>
            <a:r>
              <a:rPr lang="en-US" sz="900" b="1" spc="150" kern="0" dirty="0">
                <a:solidFill>
                  <a:schemeClr val="accent1"/>
                </a:solidFill>
              </a:rPr>
              <a:t>MY ROCK · MILESTONE 1 OF 4 ✓</a:t>
            </a:r>
            <a:endParaRPr lang="en-US" sz="9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Big Sk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Big Sky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2"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Heartland Steel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Heartland Steel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2"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DELIVERED</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8" name="rock marker"/>
          <p:cNvSpPr txBox="1"/>
          <p:nvPr/>
        </p:nvSpPr>
        <p:spPr>
          <a:xfrm>
            <a:off x="886968" y="6291072"/>
            <a:ext cx="2542032" cy="292608"/>
          </a:xfrm>
          <a:prstGeom prst="roundRect">
            <a:avLst>
              <a:gd name="adj" fmla="val 50000"/>
            </a:avLst>
          </a:prstGeom>
          <a:noFill/>
          <a:ln w="9525">
            <a:solidFill>
              <a:srgbClr val="CDB68A"/>
            </a:solidFill>
          </a:ln>
        </p:spPr>
        <p:txBody>
          <a:bodyPr wrap="square" lIns="0" tIns="0" rIns="0" bIns="0" rtlCol="0" anchor="ctr"/>
          <a:lstStyle/>
          <a:p>
            <a:pPr algn="ctr" indent="0" marL="0">
              <a:buNone/>
            </a:pPr>
            <a:r>
              <a:rPr lang="en-US" sz="900" b="1" spc="150" kern="0" dirty="0">
                <a:solidFill>
                  <a:schemeClr val="accent2"/>
                </a:solidFill>
              </a:rPr>
              <a:t>MY ROCK · MILESTONE 1 OF 4 ✓</a:t>
            </a:r>
            <a:endParaRPr lang="en-US" sz="9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2"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9939528" y="5989320"/>
            <a:ext cx="1362456" cy="228600"/>
          </a:xfrm>
          <a:prstGeom prst="rect">
            <a:avLst/>
          </a:prstGeom>
          <a:noFill/>
          <a:ln/>
        </p:spPr>
        <p:txBody>
          <a:bodyPr wrap="square" lIns="0" tIns="0" rIns="0" bIns="0" rtlCol="0" anchor="t"/>
          <a:lstStyle/>
          <a:p>
            <a:pPr algn="r" indent="0" marL="0">
              <a:buNone/>
            </a:pPr>
            <a:r>
              <a:rPr lang="en-US" sz="1100" dirty="0">
                <a:solidFill>
                  <a:schemeClr val="accent3"/>
                </a:solidFill>
              </a:rPr>
              <a:t>★ featured pair</a:t>
            </a:r>
            <a:endParaRPr lang="en-US" sz="1100" dirty="0"/>
          </a:p>
        </p:txBody>
      </p:sp>
      <p:sp>
        <p:nvSpPr>
          <p:cNvPr id="6" name="rock marker"/>
          <p:cNvSpPr txBox="1"/>
          <p:nvPr/>
        </p:nvSpPr>
        <p:spPr>
          <a:xfrm>
            <a:off x="886968" y="6291072"/>
            <a:ext cx="2542032" cy="292608"/>
          </a:xfrm>
          <a:prstGeom prst="roundRect">
            <a:avLst>
              <a:gd name="adj" fmla="val 50000"/>
            </a:avLst>
          </a:prstGeom>
          <a:noFill/>
          <a:ln w="9525">
            <a:solidFill>
              <a:srgbClr val="CDB68A"/>
            </a:solidFill>
          </a:ln>
        </p:spPr>
        <p:txBody>
          <a:bodyPr wrap="square" lIns="0" tIns="0" rIns="0" bIns="0" rtlCol="0" anchor="ctr"/>
          <a:lstStyle/>
          <a:p>
            <a:pPr algn="ctr" indent="0" marL="0">
              <a:buNone/>
            </a:pPr>
            <a:r>
              <a:rPr lang="en-US" sz="900" b="1" spc="150" kern="0" dirty="0">
                <a:solidFill>
                  <a:schemeClr val="accent2"/>
                </a:solidFill>
              </a:rPr>
              <a:t>MY ROCK · MILESTONE 1 OF 4 ✓</a:t>
            </a:r>
            <a:endParaRPr lang="en-US" sz="9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BUILT IN, NOT BOLTED 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Every direction books deliveries, in its own colors</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14" name="rock marker"/>
          <p:cNvSpPr txBox="1"/>
          <p:nvPr/>
        </p:nvSpPr>
        <p:spPr>
          <a:xfrm>
            <a:off x="886968" y="6291072"/>
            <a:ext cx="2542032" cy="292608"/>
          </a:xfrm>
          <a:prstGeom prst="roundRect">
            <a:avLst>
              <a:gd name="adj" fmla="val 50000"/>
            </a:avLst>
          </a:prstGeom>
          <a:noFill/>
          <a:ln w="9525">
            <a:solidFill>
              <a:srgbClr val="CDB68A"/>
            </a:solidFill>
          </a:ln>
        </p:spPr>
        <p:txBody>
          <a:bodyPr wrap="square" lIns="0" tIns="0" rIns="0" bIns="0" rtlCol="0" anchor="ctr"/>
          <a:lstStyle/>
          <a:p>
            <a:pPr algn="ctr" indent="0" marL="0">
              <a:buNone/>
            </a:pPr>
            <a:r>
              <a:rPr lang="en-US" sz="900" b="1" spc="150" kern="0" dirty="0">
                <a:solidFill>
                  <a:schemeClr val="accent2"/>
                </a:solidFill>
              </a:rPr>
              <a:t>MY ROCK · MILESTONE 1 OF 4 ✓</a:t>
            </a:r>
            <a:endParaRPr lang="en-US" sz="9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MILESTONE 2 · TODAY</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direction do we build?</a:t>
            </a:r>
            <a:endParaRPr lang="en-US" sz="4400" dirty="0"/>
          </a:p>
        </p:txBody>
      </p:sp>
      <p:sp>
        <p:nvSpPr>
          <p:cNvPr id="4" name="Big Sky card"/>
          <p:cNvSpPr/>
          <p:nvPr/>
        </p:nvSpPr>
        <p:spPr>
          <a:xfrm>
            <a:off x="886968" y="242316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58775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83464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17296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42316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58775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83464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17296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42316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58775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83464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17296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42316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58775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83464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17296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42316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58775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83464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17296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sp>
        <p:nvSpPr>
          <p:cNvPr id="24" name="Text 22"/>
          <p:cNvSpPr txBox="1"/>
          <p:nvPr/>
        </p:nvSpPr>
        <p:spPr>
          <a:xfrm>
            <a:off x="886968" y="3977640"/>
            <a:ext cx="7498080" cy="731520"/>
          </a:xfrm>
          <a:prstGeom prst="rect">
            <a:avLst/>
          </a:prstGeom>
          <a:noFill/>
          <a:ln/>
        </p:spPr>
        <p:txBody>
          <a:bodyPr wrap="square" lIns="0" tIns="0" rIns="0" bIns="0" rtlCol="0" anchor="t"/>
          <a:lstStyle/>
          <a:p>
            <a:pPr indent="0" marL="0">
              <a:buNone/>
            </a:pPr>
            <a:r>
              <a:rPr lang="en-US" sz="1800" dirty="0">
                <a:solidFill>
                  <a:srgbClr val="BDB4A2"/>
                </a:solidFill>
              </a:rPr>
              <a:t>If we can’t land on one, we land on two, and name who makes the final call by when.</a:t>
            </a:r>
            <a:endParaRPr lang="en-US" sz="1800" dirty="0"/>
          </a:p>
        </p:txBody>
      </p:sp>
      <p:sp>
        <p:nvSpPr>
          <p:cNvPr id="25" name="rock marker"/>
          <p:cNvSpPr txBox="1"/>
          <p:nvPr/>
        </p:nvSpPr>
        <p:spPr>
          <a:xfrm>
            <a:off x="886968" y="6291072"/>
            <a:ext cx="3008376" cy="292608"/>
          </a:xfrm>
          <a:prstGeom prst="roundRect">
            <a:avLst>
              <a:gd name="adj" fmla="val 50000"/>
            </a:avLst>
          </a:prstGeom>
          <a:solidFill>
            <a:srgbClr val="D6A64A"/>
          </a:solidFill>
          <a:ln w="9525">
            <a:solidFill>
              <a:srgbClr val="D6A64A"/>
            </a:solidFill>
          </a:ln>
        </p:spPr>
        <p:txBody>
          <a:bodyPr wrap="square" lIns="0" tIns="0" rIns="0" bIns="0" rtlCol="0" anchor="ctr"/>
          <a:lstStyle/>
          <a:p>
            <a:pPr algn="ctr" indent="0" marL="0">
              <a:buNone/>
            </a:pPr>
            <a:r>
              <a:rPr lang="en-US" sz="900" b="1" spc="150" kern="0" dirty="0">
                <a:solidFill>
                  <a:schemeClr val="tx2"/>
                </a:solidFill>
              </a:rPr>
              <a:t>MY ROCK · MILESTONE 2 OF 4 · TODAY</a:t>
            </a:r>
            <a:endParaRPr lang="en-US" sz="9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FROM CHOOSING TO FINISHING</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06324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06324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06324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04495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063240"/>
            <a:ext cx="210312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 mine</a:t>
            </a:r>
            <a:endParaRPr lang="en-US" sz="1500" dirty="0"/>
          </a:p>
        </p:txBody>
      </p:sp>
      <p:sp>
        <p:nvSpPr>
          <p:cNvPr id="9" name="Text 7"/>
          <p:cNvSpPr txBox="1"/>
          <p:nvPr/>
        </p:nvSpPr>
        <p:spPr>
          <a:xfrm>
            <a:off x="886968" y="434340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MY SEAT</a:t>
            </a:r>
            <a:endParaRPr lang="en-US" sz="1100" dirty="0"/>
          </a:p>
        </p:txBody>
      </p:sp>
      <p:sp>
        <p:nvSpPr>
          <p:cNvPr id="10" name="Text 8"/>
          <p:cNvSpPr txBox="1"/>
          <p:nvPr/>
        </p:nvSpPr>
        <p:spPr>
          <a:xfrm>
            <a:off x="886968" y="4709160"/>
            <a:ext cx="4843120" cy="1097280"/>
          </a:xfrm>
          <a:prstGeom prst="rect">
            <a:avLst/>
          </a:prstGeom>
          <a:noFill/>
          <a:ln/>
        </p:spPr>
        <p:txBody>
          <a:bodyPr wrap="square" lIns="0" tIns="0" rIns="0" bIns="0" rtlCol="0" anchor="t"/>
          <a:lstStyle/>
          <a:p>
            <a:pPr indent="0" marL="0">
              <a:buNone/>
            </a:pPr>
            <a:r>
              <a:rPr lang="en-US" sz="1700" dirty="0">
                <a:solidFill>
                  <a:srgbClr val="BDB4A2"/>
                </a:solidFill>
              </a:rPr>
              <a:t>I own the website Rock: the build, the booking flow, the launch. One name, so nobody wonders who’s driving.</a:t>
            </a:r>
            <a:endParaRPr lang="en-US" sz="1700" dirty="0"/>
          </a:p>
        </p:txBody>
      </p:sp>
      <p:sp>
        <p:nvSpPr>
          <p:cNvPr id="11" name="Text 9"/>
          <p:cNvSpPr txBox="1"/>
          <p:nvPr/>
        </p:nvSpPr>
        <p:spPr>
          <a:xfrm>
            <a:off x="6461608" y="434340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WHAT I NEED FROM YOU</a:t>
            </a:r>
            <a:endParaRPr lang="en-US" sz="1100" dirty="0"/>
          </a:p>
        </p:txBody>
      </p:sp>
      <p:sp>
        <p:nvSpPr>
          <p:cNvPr id="12" name="Text 10"/>
          <p:cNvSpPr txBox="1"/>
          <p:nvPr/>
        </p:nvSpPr>
        <p:spPr>
          <a:xfrm>
            <a:off x="6461608" y="4709160"/>
            <a:ext cx="4843120" cy="1097280"/>
          </a:xfrm>
          <a:prstGeom prst="rect">
            <a:avLst/>
          </a:prstGeom>
          <a:noFill/>
          <a:ln/>
        </p:spPr>
        <p:txBody>
          <a:bodyPr wrap="square" lIns="0" tIns="0" rIns="0" bIns="0" rtlCol="0" anchor="t"/>
          <a:lstStyle/>
          <a:p>
            <a:pPr indent="0" marL="0">
              <a:buNone/>
            </a:pPr>
            <a:r>
              <a:rPr lang="en-US" sz="1700" dirty="0">
                <a:solidFill>
                  <a:srgbClr val="BDB4A2"/>
                </a:solidFill>
              </a:rPr>
              <a:t>Decisions when I ask, content and photos on time, and straight answers in L10 when I’m off track.</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MILESTONES 3 AND 4 · MY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Three Rocks I’m giving myself</a:t>
            </a:r>
            <a:endParaRPr lang="en-US" sz="4400" dirty="0"/>
          </a:p>
        </p:txBody>
      </p:sp>
      <p:graphicFrame>
        <p:nvGraphicFramePr>
          <p:cNvPr id="16"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766560"/>
                <a:gridCol w="1645920"/>
                <a:gridCol w="2002536"/>
              </a:tblGrid>
              <a:tr h="365760">
                <a:tc>
                  <a:txBody>
                    <a:bodyPr/>
                    <a:lstStyle/>
                    <a:p>
                      <a:pPr indent="0" marL="0">
                        <a:buNone/>
                      </a:pPr>
                      <a:r>
                        <a:rPr lang="en-US" sz="1000" b="1" spc="200" kern="0" dirty="0">
                          <a:solidFill>
                            <a:schemeClr val="accent2"/>
                          </a:solidFill>
                        </a:rPr>
                        <a:t>ROCK · DONE WHEN</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site in the chosen direction</a:t>
                      </a:r>
                      <a:endParaRPr lang="en-US" sz="1200" dirty="0"/>
                    </a:p>
                    <a:p>
                      <a:pPr indent="0" marL="0">
                        <a:buNone/>
                      </a:pPr>
                      <a:r>
                        <a:rPr lang="en-US" sz="1300" dirty="0">
                          <a:solidFill>
                            <a:schemeClr val="accent3"/>
                          </a:solidFill>
                        </a:rPr>
                        <a:t>Live on the domain, checked on phones,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Me</a:t>
                      </a: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delivery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Me</a:t>
                      </a: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approved</a:t>
                      </a:r>
                      <a:endParaRPr lang="en-US" sz="1200" dirty="0"/>
                    </a:p>
                    <a:p>
                      <a:pPr indent="0" marL="0">
                        <a:buNone/>
                      </a:pPr>
                      <a:r>
                        <a:rPr lang="en-US" sz="1300" dirty="0">
                          <a:solidFill>
                            <a:schemeClr val="accent3"/>
                          </a:solidFill>
                        </a:rPr>
                        <a:t>Services, coverage and contact: written, approved, published.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800" dirty="0">
                          <a:solidFill>
                            <a:schemeClr val="tx1"/>
                          </a:solidFill>
                          <a:latin typeface="Cambria" pitchFamily="34" charset="0"/>
                          <a:ea typeface="Cambria" pitchFamily="34" charset="-122"/>
                          <a:cs typeface="Cambria" pitchFamily="34" charset="-120"/>
                        </a:rPr>
                        <a:t>Me</a:t>
                      </a: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HOW I’LL DRIVE IT</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I say, I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MINE · ON TRACK OR OFF</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Reported every week in L10: on track or off track.</a:t>
            </a:r>
            <a:endParaRPr lang="en-US" sz="1800" dirty="0"/>
          </a:p>
          <a:p>
            <a:pPr indent="0" marL="0">
              <a:spcAft>
                <a:spcPts val="800"/>
              </a:spcAft>
              <a:buNone/>
            </a:pPr>
            <a:r>
              <a:rPr lang="en-US" sz="1800" dirty="0">
                <a:solidFill>
                  <a:srgbClr val="BDB4A2"/>
                </a:solidFill>
              </a:rPr>
              <a:t>Off track means I bring the issue, not an excuse.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done in seven days.</a:t>
            </a:r>
            <a:endParaRPr lang="en-US" sz="1800" dirty="0"/>
          </a:p>
          <a:p>
            <a:pPr indent="0" marL="0">
              <a:spcAft>
                <a:spcPts val="800"/>
              </a:spcAft>
              <a:buNone/>
            </a:pPr>
            <a:r>
              <a:rPr lang="en-US" sz="1800" dirty="0">
                <a:solidFill>
                  <a:srgbClr val="BDB4A2"/>
                </a:solidFill>
              </a:rPr>
              <a:t>Or I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AFTER TODAY · TO-DOS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This week</a:t>
            </a:r>
            <a:endParaRPr lang="en-US" sz="44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5852160"/>
                <a:gridCol w="2560320"/>
                <a:gridCol w="2002536"/>
              </a:tblGrid>
              <a:tr h="365760">
                <a:tc>
                  <a:txBody>
                    <a:bodyPr/>
                    <a:lstStyle/>
                    <a:p>
                      <a:pPr indent="0" marL="0">
                        <a:buNone/>
                      </a:pPr>
                      <a:r>
                        <a:rPr lang="en-US" sz="1000" b="1" spc="200" kern="0" dirty="0">
                          <a:solidFill>
                            <a:schemeClr val="accent2"/>
                          </a:solidFill>
                        </a:rPr>
                        <a:t>TO-DO</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40080">
                <a:tc>
                  <a:txBody>
                    <a:bodyPr/>
                    <a:lstStyle/>
                    <a:p>
                      <a:pPr indent="0" marL="0">
                        <a:buNone/>
                      </a:pPr>
                      <a:r>
                        <a:rPr lang="en-US" sz="1700" dirty="0">
                          <a:solidFill>
                            <a:schemeClr val="tx1"/>
                          </a:solidFill>
                        </a:rPr>
                        <a:t>Confirm the chosen direction in writing</a:t>
                      </a: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700" dirty="0">
                          <a:solidFill>
                            <a:schemeClr val="tx1"/>
                          </a:solidFill>
                          <a:latin typeface="Cambria" pitchFamily="34" charset="0"/>
                          <a:ea typeface="Cambria" pitchFamily="34" charset="-122"/>
                          <a:cs typeface="Cambria" pitchFamily="34" charset="-120"/>
                        </a:rPr>
                        <a:t>Me</a:t>
                      </a:r>
                      <a:endParaRPr lang="en-US" sz="17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40080">
                <a:tc>
                  <a:txBody>
                    <a:bodyPr/>
                    <a:lstStyle/>
                    <a:p>
                      <a:pPr indent="0" marL="0">
                        <a:buNone/>
                      </a:pPr>
                      <a:r>
                        <a:rPr lang="en-US" sz="1700" dirty="0">
                          <a:solidFill>
                            <a:schemeClr val="tx1"/>
                          </a:solidFill>
                        </a:rPr>
                        <a:t>Kick off the build in that direction</a:t>
                      </a: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700" dirty="0">
                          <a:solidFill>
                            <a:schemeClr val="tx1"/>
                          </a:solidFill>
                          <a:latin typeface="Cambria" pitchFamily="34" charset="0"/>
                          <a:ea typeface="Cambria" pitchFamily="34" charset="-122"/>
                          <a:cs typeface="Cambria" pitchFamily="34" charset="-120"/>
                        </a:rPr>
                        <a:t>Me</a:t>
                      </a:r>
                      <a:endParaRPr lang="en-US" sz="17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40080">
                <a:tc>
                  <a:txBody>
                    <a:bodyPr/>
                    <a:lstStyle/>
                    <a:p>
                      <a:pPr indent="0" marL="0">
                        <a:buNone/>
                      </a:pPr>
                      <a:r>
                        <a:rPr lang="en-US" sz="1700" dirty="0">
                          <a:solidFill>
                            <a:schemeClr val="tx1"/>
                          </a:solidFill>
                        </a:rPr>
                        <a:t>Send the content &amp; photo list to the team</a:t>
                      </a: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700" dirty="0">
                          <a:solidFill>
                            <a:schemeClr val="tx1"/>
                          </a:solidFill>
                          <a:latin typeface="Cambria" pitchFamily="34" charset="0"/>
                          <a:ea typeface="Cambria" pitchFamily="34" charset="-122"/>
                          <a:cs typeface="Cambria" pitchFamily="34" charset="-120"/>
                        </a:rPr>
                        <a:t>Me</a:t>
                      </a:r>
                      <a:endParaRPr lang="en-US" sz="17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40080">
                <a:tc>
                  <a:txBody>
                    <a:bodyPr/>
                    <a:lstStyle/>
                    <a:p>
                      <a:pPr indent="0" marL="0">
                        <a:buNone/>
                      </a:pPr>
                      <a:r>
                        <a:rPr lang="en-US" sz="1700" dirty="0">
                          <a:solidFill>
                            <a:schemeClr val="tx1"/>
                          </a:solidFill>
                        </a:rPr>
                        <a:t>Get photos &amp; copy back to me</a:t>
                      </a: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7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7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I gave myself this Rock. You’ll hear it called on track or off track every week until it’s live.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777240"/>
            <a:ext cx="3012141" cy="640080"/>
          </a:xfrm>
          <a:prstGeom prst="rect">
            <a:avLst/>
          </a:prstGeom>
        </p:spPr>
      </p:pic>
      <p:sp>
        <p:nvSpPr>
          <p:cNvPr id="3" name="Text 0"/>
          <p:cNvSpPr txBox="1"/>
          <p:nvPr/>
        </p:nvSpPr>
        <p:spPr>
          <a:xfrm>
            <a:off x="886968" y="1783080"/>
            <a:ext cx="10417759" cy="2011680"/>
          </a:xfrm>
          <a:prstGeom prst="rect">
            <a:avLst/>
          </a:prstGeom>
          <a:noFill/>
          <a:ln/>
        </p:spPr>
        <p:txBody>
          <a:bodyPr wrap="square" lIns="0" tIns="0" rIns="0" bIns="0" rtlCol="0" anchor="t"/>
          <a:lstStyle/>
          <a:p>
            <a:pPr indent="0" marL="0">
              <a:lnSpc>
                <a:spcPct val="95000"/>
              </a:lnSpc>
              <a:buNone/>
            </a:pPr>
            <a:r>
              <a:rPr lang="en-US" sz="6000" b="1" dirty="0">
                <a:solidFill>
                  <a:schemeClr val="bg2"/>
                </a:solidFill>
                <a:latin typeface="Cambria" pitchFamily="34" charset="0"/>
                <a:ea typeface="Cambria" pitchFamily="34" charset="-122"/>
                <a:cs typeface="Cambria" pitchFamily="34" charset="-120"/>
              </a:rPr>
              <a:t>Own it.</a:t>
            </a:r>
            <a:endParaRPr lang="en-US" sz="6000" dirty="0"/>
          </a:p>
          <a:p>
            <a:pPr indent="0" marL="0">
              <a:lnSpc>
                <a:spcPct val="95000"/>
              </a:lnSpc>
              <a:buNone/>
            </a:pPr>
            <a:r>
              <a:rPr lang="en-US" sz="6000" b="1" i="1" dirty="0">
                <a:solidFill>
                  <a:schemeClr val="accent1"/>
                </a:solidFill>
                <a:latin typeface="Cambria" pitchFamily="34" charset="0"/>
                <a:ea typeface="Cambria" pitchFamily="34" charset="-122"/>
                <a:cs typeface="Cambria" pitchFamily="34" charset="-120"/>
              </a:rPr>
              <a:t>Finish it.</a:t>
            </a:r>
            <a:endParaRPr lang="en-US" sz="6000" dirty="0"/>
          </a:p>
        </p:txBody>
      </p:sp>
      <p:sp>
        <p:nvSpPr>
          <p:cNvPr id="4" name="Text 1"/>
          <p:cNvSpPr txBox="1"/>
          <p:nvPr/>
        </p:nvSpPr>
        <p:spPr>
          <a:xfrm>
            <a:off x="886968" y="3749040"/>
            <a:ext cx="7315200" cy="457200"/>
          </a:xfrm>
          <a:prstGeom prst="rect">
            <a:avLst/>
          </a:prstGeom>
          <a:noFill/>
          <a:ln/>
        </p:spPr>
        <p:txBody>
          <a:bodyPr wrap="square" lIns="0" tIns="0" rIns="0" bIns="0" rtlCol="0" anchor="t"/>
          <a:lstStyle/>
          <a:p>
            <a:pPr indent="0" marL="0">
              <a:buNone/>
            </a:pPr>
            <a:r>
              <a:rPr lang="en-US" sz="1800" dirty="0">
                <a:solidFill>
                  <a:srgbClr val="BDB4A2"/>
                </a:solidFill>
              </a:rPr>
              <a:t>Direction chosen. Rocks set. Next check-in: our L10.</a:t>
            </a:r>
            <a:endParaRPr lang="en-US" sz="1800" dirty="0"/>
          </a:p>
        </p:txBody>
      </p:sp>
      <p:sp>
        <p:nvSpPr>
          <p:cNvPr id="5" name="milestone line 1"/>
          <p:cNvSpPr/>
          <p:nvPr/>
        </p:nvSpPr>
        <p:spPr>
          <a:xfrm>
            <a:off x="1078992" y="4764024"/>
            <a:ext cx="1965960" cy="0"/>
          </a:xfrm>
          <a:prstGeom prst="line">
            <a:avLst/>
          </a:prstGeom>
          <a:noFill/>
          <a:ln w="28575">
            <a:solidFill>
              <a:srgbClr val="D6A64A"/>
            </a:solidFill>
            <a:prstDash val="solid"/>
          </a:ln>
        </p:spPr>
      </p:sp>
      <p:sp>
        <p:nvSpPr>
          <p:cNvPr id="6" name="milestone line 2"/>
          <p:cNvSpPr/>
          <p:nvPr/>
        </p:nvSpPr>
        <p:spPr>
          <a:xfrm>
            <a:off x="3044952" y="4764024"/>
            <a:ext cx="1965960" cy="0"/>
          </a:xfrm>
          <a:prstGeom prst="line">
            <a:avLst/>
          </a:prstGeom>
          <a:noFill/>
          <a:ln w="28575">
            <a:solidFill>
              <a:srgbClr val="D6A64A"/>
            </a:solidFill>
            <a:prstDash val="solid"/>
          </a:ln>
        </p:spPr>
      </p:sp>
      <p:sp>
        <p:nvSpPr>
          <p:cNvPr id="7" name="milestone line 3"/>
          <p:cNvSpPr/>
          <p:nvPr/>
        </p:nvSpPr>
        <p:spPr>
          <a:xfrm>
            <a:off x="5010912" y="4764024"/>
            <a:ext cx="1965960" cy="0"/>
          </a:xfrm>
          <a:prstGeom prst="line">
            <a:avLst/>
          </a:prstGeom>
          <a:noFill/>
          <a:ln w="28575">
            <a:solidFill>
              <a:srgbClr val="4A4134"/>
            </a:solidFill>
            <a:prstDash val="solid"/>
          </a:ln>
        </p:spPr>
      </p:sp>
      <p:sp>
        <p:nvSpPr>
          <p:cNvPr id="8" name="milestone 1"/>
          <p:cNvSpPr txBox="1"/>
          <p:nvPr/>
        </p:nvSpPr>
        <p:spPr>
          <a:xfrm>
            <a:off x="886968" y="4572000"/>
            <a:ext cx="384048" cy="384048"/>
          </a:xfrm>
          <a:prstGeom prst="ellipse">
            <a:avLst/>
          </a:prstGeom>
          <a:solidFill>
            <a:srgbClr val="D6A64A"/>
          </a:solidFill>
          <a:ln w="25400">
            <a:solidFill>
              <a:srgbClr val="D6A64A"/>
            </a:solid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9" name="Text 6"/>
          <p:cNvSpPr txBox="1"/>
          <p:nvPr/>
        </p:nvSpPr>
        <p:spPr>
          <a:xfrm>
            <a:off x="886968" y="5120640"/>
            <a:ext cx="1737360" cy="548640"/>
          </a:xfrm>
          <a:prstGeom prst="rect">
            <a:avLst/>
          </a:prstGeom>
          <a:noFill/>
          <a:ln/>
        </p:spPr>
        <p:txBody>
          <a:bodyPr wrap="square" lIns="0" tIns="0" rIns="0" bIns="0" rtlCol="0" anchor="t"/>
          <a:lstStyle/>
          <a:p>
            <a:pPr indent="0" marL="0">
              <a:buNone/>
            </a:pPr>
            <a:r>
              <a:rPr lang="en-US" sz="1600" b="1" dirty="0">
                <a:solidFill>
                  <a:schemeClr val="bg2"/>
                </a:solidFill>
                <a:latin typeface="Cambria" pitchFamily="34" charset="0"/>
                <a:ea typeface="Cambria" pitchFamily="34" charset="-122"/>
                <a:cs typeface="Cambria" pitchFamily="34" charset="-120"/>
              </a:rPr>
              <a:t>Five directions built</a:t>
            </a:r>
            <a:endParaRPr lang="en-US" sz="1600" dirty="0"/>
          </a:p>
        </p:txBody>
      </p:sp>
      <p:sp>
        <p:nvSpPr>
          <p:cNvPr id="10" name="Text 7"/>
          <p:cNvSpPr txBox="1"/>
          <p:nvPr/>
        </p:nvSpPr>
        <p:spPr>
          <a:xfrm>
            <a:off x="886968" y="5687568"/>
            <a:ext cx="173736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DONE</a:t>
            </a:r>
            <a:endParaRPr lang="en-US" sz="1000" dirty="0"/>
          </a:p>
        </p:txBody>
      </p:sp>
      <p:sp>
        <p:nvSpPr>
          <p:cNvPr id="11" name="milestone 2"/>
          <p:cNvSpPr txBox="1"/>
          <p:nvPr/>
        </p:nvSpPr>
        <p:spPr>
          <a:xfrm>
            <a:off x="2852928" y="4572000"/>
            <a:ext cx="384048" cy="384048"/>
          </a:xfrm>
          <a:prstGeom prst="ellipse">
            <a:avLst/>
          </a:prstGeom>
          <a:solidFill>
            <a:srgbClr val="D6A64A"/>
          </a:solidFill>
          <a:ln w="25400">
            <a:solidFill>
              <a:srgbClr val="D6A64A"/>
            </a:solid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2" name="Text 9"/>
          <p:cNvSpPr txBox="1"/>
          <p:nvPr/>
        </p:nvSpPr>
        <p:spPr>
          <a:xfrm>
            <a:off x="2852928" y="5120640"/>
            <a:ext cx="1737360" cy="548640"/>
          </a:xfrm>
          <a:prstGeom prst="rect">
            <a:avLst/>
          </a:prstGeom>
          <a:noFill/>
          <a:ln/>
        </p:spPr>
        <p:txBody>
          <a:bodyPr wrap="square" lIns="0" tIns="0" rIns="0" bIns="0" rtlCol="0" anchor="t"/>
          <a:lstStyle/>
          <a:p>
            <a:pPr indent="0" marL="0">
              <a:buNone/>
            </a:pPr>
            <a:r>
              <a:rPr lang="en-US" sz="1600" b="1" dirty="0">
                <a:solidFill>
                  <a:schemeClr val="bg2"/>
                </a:solidFill>
                <a:latin typeface="Cambria" pitchFamily="34" charset="0"/>
                <a:ea typeface="Cambria" pitchFamily="34" charset="-122"/>
                <a:cs typeface="Cambria" pitchFamily="34" charset="-120"/>
              </a:rPr>
              <a:t>Choose the direction</a:t>
            </a:r>
            <a:endParaRPr lang="en-US" sz="1600" dirty="0"/>
          </a:p>
        </p:txBody>
      </p:sp>
      <p:sp>
        <p:nvSpPr>
          <p:cNvPr id="13" name="Text 10"/>
          <p:cNvSpPr txBox="1"/>
          <p:nvPr/>
        </p:nvSpPr>
        <p:spPr>
          <a:xfrm>
            <a:off x="2852928" y="5687568"/>
            <a:ext cx="173736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DONE</a:t>
            </a:r>
            <a:endParaRPr lang="en-US" sz="1000" dirty="0"/>
          </a:p>
        </p:txBody>
      </p:sp>
      <p:sp>
        <p:nvSpPr>
          <p:cNvPr id="14" name="milestone 3"/>
          <p:cNvSpPr txBox="1"/>
          <p:nvPr/>
        </p:nvSpPr>
        <p:spPr>
          <a:xfrm>
            <a:off x="4818888" y="4572000"/>
            <a:ext cx="384048" cy="384048"/>
          </a:xfrm>
          <a:prstGeom prst="ellipse">
            <a:avLst/>
          </a:prstGeom>
          <a:solidFill>
            <a:srgbClr val="15110B"/>
          </a:solidFill>
          <a:ln w="25400">
            <a:solidFill>
              <a:srgbClr val="D6A64A"/>
            </a:solid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5" name="Text 12"/>
          <p:cNvSpPr txBox="1"/>
          <p:nvPr/>
        </p:nvSpPr>
        <p:spPr>
          <a:xfrm>
            <a:off x="4818888" y="5120640"/>
            <a:ext cx="1737360" cy="548640"/>
          </a:xfrm>
          <a:prstGeom prst="rect">
            <a:avLst/>
          </a:prstGeom>
          <a:noFill/>
          <a:ln/>
        </p:spPr>
        <p:txBody>
          <a:bodyPr wrap="square" lIns="0" tIns="0" rIns="0" bIns="0" rtlCol="0" anchor="t"/>
          <a:lstStyle/>
          <a:p>
            <a:pPr indent="0" marL="0">
              <a:buNone/>
            </a:pPr>
            <a:r>
              <a:rPr lang="en-US" sz="1600" b="1" dirty="0">
                <a:solidFill>
                  <a:schemeClr val="bg2"/>
                </a:solidFill>
                <a:latin typeface="Cambria" pitchFamily="34" charset="0"/>
                <a:ea typeface="Cambria" pitchFamily="34" charset="-122"/>
                <a:cs typeface="Cambria" pitchFamily="34" charset="-120"/>
              </a:rPr>
              <a:t>Build + booking live</a:t>
            </a:r>
            <a:endParaRPr lang="en-US" sz="1600" dirty="0"/>
          </a:p>
        </p:txBody>
      </p:sp>
      <p:sp>
        <p:nvSpPr>
          <p:cNvPr id="16" name="Text 13"/>
          <p:cNvSpPr txBox="1"/>
          <p:nvPr/>
        </p:nvSpPr>
        <p:spPr>
          <a:xfrm>
            <a:off x="4818888" y="5687568"/>
            <a:ext cx="1737360"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IN PROGRESS</a:t>
            </a:r>
            <a:endParaRPr lang="en-US" sz="1000" dirty="0"/>
          </a:p>
        </p:txBody>
      </p:sp>
      <p:sp>
        <p:nvSpPr>
          <p:cNvPr id="17" name="milestone 4"/>
          <p:cNvSpPr txBox="1"/>
          <p:nvPr/>
        </p:nvSpPr>
        <p:spPr>
          <a:xfrm>
            <a:off x="6784848" y="4572000"/>
            <a:ext cx="384048" cy="384048"/>
          </a:xfrm>
          <a:prstGeom prst="ellipse">
            <a:avLst/>
          </a:prstGeom>
          <a:solidFill>
            <a:srgbClr val="15110B"/>
          </a:solidFill>
          <a:ln w="25400">
            <a:solidFill>
              <a:srgbClr val="4A4134"/>
            </a:solidFill>
          </a:ln>
        </p:spPr>
        <p:txBody>
          <a:bodyPr wrap="square" lIns="0" tIns="0" rIns="0" bIns="0" rtlCol="0" anchor="ctr"/>
          <a:lstStyle/>
          <a:p>
            <a:pPr algn="ctr" indent="0" marL="0">
              <a:buNone/>
            </a:pPr>
            <a:r>
              <a:rPr lang="en-US" sz="1400" b="1" dirty="0">
                <a:solidFill>
                  <a:srgbClr val="9C9381"/>
                </a:solidFill>
              </a:rPr>
              <a:t>4</a:t>
            </a:r>
            <a:endParaRPr lang="en-US" sz="1400" dirty="0"/>
          </a:p>
        </p:txBody>
      </p:sp>
      <p:sp>
        <p:nvSpPr>
          <p:cNvPr id="18" name="Text 15"/>
          <p:cNvSpPr txBox="1"/>
          <p:nvPr/>
        </p:nvSpPr>
        <p:spPr>
          <a:xfrm>
            <a:off x="6784848" y="5120640"/>
            <a:ext cx="1737360" cy="548640"/>
          </a:xfrm>
          <a:prstGeom prst="rect">
            <a:avLst/>
          </a:prstGeom>
          <a:noFill/>
          <a:ln/>
        </p:spPr>
        <p:txBody>
          <a:bodyPr wrap="square" lIns="0" tIns="0" rIns="0" bIns="0" rtlCol="0" anchor="t"/>
          <a:lstStyle/>
          <a:p>
            <a:pPr indent="0" marL="0">
              <a:buNone/>
            </a:pPr>
            <a:r>
              <a:rPr lang="en-US" sz="1600" b="1" dirty="0">
                <a:solidFill>
                  <a:schemeClr val="bg2"/>
                </a:solidFill>
                <a:latin typeface="Cambria" pitchFamily="34" charset="0"/>
                <a:ea typeface="Cambria" pitchFamily="34" charset="-122"/>
                <a:cs typeface="Cambria" pitchFamily="34" charset="-120"/>
              </a:rPr>
              <a:t>Launch</a:t>
            </a:r>
            <a:endParaRPr lang="en-US" sz="1600" dirty="0"/>
          </a:p>
        </p:txBody>
      </p:sp>
      <p:sp>
        <p:nvSpPr>
          <p:cNvPr id="19" name="Text 16"/>
          <p:cNvSpPr txBox="1"/>
          <p:nvPr/>
        </p:nvSpPr>
        <p:spPr>
          <a:xfrm>
            <a:off x="6784848" y="5687568"/>
            <a:ext cx="1737360" cy="228600"/>
          </a:xfrm>
          <a:prstGeom prst="rect">
            <a:avLst/>
          </a:prstGeom>
          <a:noFill/>
          <a:ln/>
        </p:spPr>
        <p:txBody>
          <a:bodyPr wrap="square" lIns="0" tIns="0" rIns="0" bIns="0" rtlCol="0" anchor="t"/>
          <a:lstStyle/>
          <a:p>
            <a:pPr indent="0" marL="0">
              <a:buNone/>
            </a:pPr>
            <a:r>
              <a:rPr lang="en-US" sz="1000" b="1" spc="200" kern="0" dirty="0">
                <a:solidFill>
                  <a:srgbClr val="8C826F"/>
                </a:solidFill>
              </a:rPr>
              <a:t>DONE WHEN LIVE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 Each one opens live.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Piney Woods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Piney Woods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Open Water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Open Water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Hill Countr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ill Countr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2026-10-17T01:48:34Z</dcterms:created>
  <dcterms:modified xsi:type="dcterms:W3CDTF">2026-10-17T01:48:34Z</dcterms:modified>
</cp:coreProperties>
</file>