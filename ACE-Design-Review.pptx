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63a54c-d85c-ca5c-36ab-8aed509959f5}">
          <p14:sldIdLst>
            <p14:sldId id="256"/>
            <p14:sldId id="257"/>
            <p14:sldId id="258"/>
          </p14:sldIdLst>
        </p14:section>
        <p14:section name="Designs" id="{365f59c0-1f47-0087-03af-723ae55864cf}">
          <p14:sldIdLst>
            <p14:sldId id="259"/>
            <p14:sldId id="260"/>
            <p14:sldId id="261"/>
            <p14:sldId id="262"/>
            <p14:sldId id="263"/>
            <p14:sldId id="264"/>
            <p14:sldId id="265"/>
            <p14:sldId id="266"/>
          </p14:sldIdLst>
        </p14:section>
        <p14:section name="Accountability (EOS)" id="{a4ce24c2-2d6e-95b4-6fbb-faf24a32208b}">
          <p14:sldIdLst>
            <p14:sldId id="267"/>
            <p14:sldId id="268"/>
            <p14:sldId id="269"/>
            <p14:sldId id="270"/>
            <p14:sldId id="271"/>
          </p14:sldIdLst>
        </p14:section>
        <p14:section name="Decision" id="{aefc5e0c-b84a-a911-905a-e72ec3ba8461}">
          <p14:sldIdLst>
            <p14:sldId id="272"/>
            <p14:sldId id="273"/>
          </p14:sldIdLst>
        </p14:section>
        <p14:section name="Appendix" id="{9d87d2b0-b884-39fc-60f8-828a2331d1a9}">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here to admire mockups forever. We’re here to pick a face and own what happens next.
Keep this short. The room knows the business. Say what the next stretch is: look at the work, choose, put names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If we leave with a direction but no owner, we didn’t finish the meeting.
The site is the first thing a new fleet manager or farm buyer sees before they ever call Pleasanton. That’s why it’s worth a real decision, not a vibe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EOS is blunt on purpose: one name on the Rock. That’s how websites actually ship.
Plant the lens now. We’ll come back to it after the designs, when it’s time to assign.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directions were built end to end — homepage, services, booking flow — not just mood boards.
The two highlighted are the ones I want us to sit with. The other three are real alternates; we’ll see them side by side after.
Try this with each one: cover the logo for two seconds. Does it still feel like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feeling in one sentence: a family company that has been doing this right for a long time.
Point out how the gold in the site is the gold in our mark — nothing fights the logo.
Ask the room: cover the logo for two seconds. Still 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The gold is ours. Its palette is the ACE mark — the logo looks native, not placed.
Editorial serif = credibility. Reads established without reading corporate.
“Delivered like family” says the family-company promise without a history lesson.
Watch: Can read soft or lifestyle to hard-nosed fleet buyers.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Heavy-duty product and people who answer the phone. Built for the long haul.
This is the same promise as Big Sky at a different volume.
Fair risk: it is loud, and the orange would move toward our gold in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it works for ACE, one honest risk.
Built for the buyer who runs trucks. Speaks ops, not lifestyle.
Dark stage lets the mark pop. The gold logo has never looked stronger.
Most distinct in the market. Nobody in our space looks like this.
Watch: Loudest option. The orange accent needs tuning toward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throwaways. Each one is a complete direction and any of them could ship.
If someone in the room is pulling for one of these, now is the time to say so — we can swap it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so we’re comparing the same things: feeling, who it speaks to, what it costs us.
The watch-out column is where the real conversation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this — it’s supporting, not the story.
Whichever face we pick, the booking matrix already wears it. The site doesn’t just look good; it turns a visit into a scheduled delivery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gears. The designs are the easy part. This is the part that decides whether the site exists in ninety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EOS every seat has one person accountable. Not two. Not “the team.”
The Accountability Chart isn’t the org chart. It’s who owns which outcome. The website needs a seat and a name in it.
Accountability isn’t blame. It’s clarity — so nobody has to guess who’s driving.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Rocks are the few things that matter this quarter. You take one, you drive it to done.
To-Dos are the weekly promises. You do them — or you raise the flag early, not at the deadline.
Both are commitments to yourself and to the team.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personal one. You are accountable for the things you give yourself.
Ambition without ownership is noise. Everyone in this room has had a “we should redo the website” moment. You don’t get credit for the intention to rebuild the site. You get credit for the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means for ACE this quarter. These are proposed — adjust them in the room.
Type owner names straight into the Owner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plainly: which face ships? If the room can’t land on one, land on two and name who decides by when.
Fill the To-Do owners and dates before anyone stands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commitment, not the design. Read the names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a full view of each alternate, in case the room wants to swap one into the final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handshake you can trust. Calm, rooted.
Honest risk: the green pulls away from our gold, and the forest feels East Texas more than our corridors.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supplier that runs like a serious business. Built for procurement.
Risk: the offshore rig says drilling, not distribution. Imagery would need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up a chair — Texas hospitality.
Risk: it is the most consumer-feeling of the five, and terracotta competes with our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ACE-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ACE-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CE-Light-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ACE-Light-Bare-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ACE-Statement-image-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ACE-Showca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CE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E 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E 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051560"/>
            <a:ext cx="10417759" cy="320040"/>
          </a:xfrm>
          <a:prstGeom prst="rect">
            <a:avLst/>
          </a:prstGeom>
          <a:noFill/>
          <a:ln/>
        </p:spPr>
        <p:txBody>
          <a:bodyPr wrap="square" rtlCol="0"/>
          <a:lstStyle>
            <a:lvl1pPr algn="l" indent="0" marL="0">
              <a:buNone/>
              <a:defRPr lang="en-US" sz="1100" b="1" spc="300" kern="0" dirty="0">
                <a:solidFill>
                  <a:schemeClr val="accent2"/>
                </a:solidFill>
              </a:defRPr>
            </a:lvl1pPr>
          </a:lstStyle>
          <a:p>
            <a:pPr algn="l" indent="0" marL="0">
              <a:buNone/>
            </a:pPr>
            <a:endParaRPr lang="en-US" sz="1100" dirty="0"/>
          </a:p>
        </p:txBody>
      </p:sp>
      <p:sp>
        <p:nvSpPr>
          <p:cNvPr id="4" name="Text 0"/>
          <p:cNvSpPr/>
          <p:nvPr>
            <p:ph idx="102" type="title" hasCustomPrompt="1"/>
          </p:nvPr>
        </p:nvSpPr>
        <p:spPr>
          <a:xfrm>
            <a:off x="886968" y="1371600"/>
            <a:ext cx="10417759" cy="137160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CE Light Ba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pptx/assets/ace-logo-deepgold.png">    </p:cNvPr>
          <p:cNvPicPr>
            <a:picLocks noChangeAspect="1"/>
          </p:cNvPicPr>
          <p:nvPr/>
        </p:nvPicPr>
        <p:blipFill>
          <a:blip r:embed="rId1"/>
          <a:stretch>
            <a:fillRect/>
          </a:stretch>
        </p:blipFill>
        <p:spPr>
          <a:xfrm>
            <a:off x="886968" y="384048"/>
            <a:ext cx="1118795" cy="237744"/>
          </a:xfrm>
          <a:prstGeom prst="rect">
            <a:avLst/>
          </a:prstGeom>
        </p:spPr>
      </p:pic>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user/ace-design-presentation/deck/assets/ace-logo-gold.png">    </p:cNvPr>
          <p:cNvPicPr>
            <a:picLocks noChangeAspect="1"/>
          </p:cNvPicPr>
          <p:nvPr/>
        </p:nvPicPr>
        <p:blipFill>
          <a:blip r:embed="rId1"/>
          <a:stretch>
            <a:fillRect/>
          </a:stretch>
        </p:blipFill>
        <p:spPr>
          <a:xfrm>
            <a:off x="886968" y="384048"/>
            <a:ext cx="1118795" cy="237744"/>
          </a:xfrm>
          <a:prstGeom prst="rect">
            <a:avLst/>
          </a:prstGeom>
        </p:spPr>
      </p:pic>
      <p:sp>
        <p:nvSpPr>
          <p:cNvPr id="3" name="Text 0"/>
          <p:cNvSpPr/>
          <p:nvPr>
            <p:ph idx="101" type="body" hasCustomPrompt="1"/>
          </p:nvPr>
        </p:nvSpPr>
        <p:spPr>
          <a:xfrm>
            <a:off x="886968" y="1965960"/>
            <a:ext cx="10417759" cy="320040"/>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rtlCol="0"/>
          <a:lstStyle>
            <a:lvl1pPr algn="l" indent="0" marL="0">
              <a:buNone/>
              <a:defRPr lang="en-US" sz="5800" b="1" dirty="0">
                <a:solidFill>
                  <a:schemeClr val="bg2"/>
                </a:solidFill>
                <a:latin typeface="Cambria" pitchFamily="34" charset="0"/>
                <a:ea typeface="Cambria" pitchFamily="34" charset="-122"/>
                <a:cs typeface="Cambria" pitchFamily="34" charset="-120"/>
              </a:defRPr>
            </a:lvl1pPr>
          </a:lstStyle>
          <a:p>
            <a:pPr algn="l" indent="0" marL="0">
              <a:buNone/>
            </a:pP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rtlCol="0"/>
          <a:lstStyle>
            <a:lvl1pPr algn="l" indent="0" marL="0">
              <a:buNone/>
              <a:defRPr lang="en-US" sz="1800" dirty="0">
                <a:solidFill>
                  <a:srgbClr val="BDB4A2"/>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CE Showca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aw.githack.com/jpzllkfl/ace-design-presentation/main/designs/bigsky.html" TargetMode="External"/><Relationship Id="rId4" Type="http://schemas.openxmlformats.org/officeDocument/2006/relationships/hyperlink" Target="https://raw.githack.com/jpzllkfl/ace-design-presentation/main/designs/piney.html" TargetMode="External"/><Relationship Id="rId6" Type="http://schemas.openxmlformats.org/officeDocument/2006/relationships/hyperlink" Target="https://raw.githack.com/jpzllkfl/ace-design-presentation/main/designs/openwater.html" TargetMode="External"/><Relationship Id="rId8" Type="http://schemas.openxmlformats.org/officeDocument/2006/relationships/hyperlink" Target="https://raw.githack.com/jpzllkfl/ace-design-presentation/main/designs/heartland.html" TargetMode="External"/><Relationship Id="rId10" Type="http://schemas.openxmlformats.org/officeDocument/2006/relationships/hyperlink" Target="https://raw.githack.com/jpzllkfl/ace-design-presentation/main/designs/hill.html" TargetMode="External"/><Relationship Id="rId1" Type="http://schemas.openxmlformats.org/officeDocument/2006/relationships/image" Target="../media/image-4-1.jpg"/><Relationship Id="rId3" Type="http://schemas.openxmlformats.org/officeDocument/2006/relationships/image" Target="../media/image-4-2.jpg"/><Relationship Id="rId5" Type="http://schemas.openxmlformats.org/officeDocument/2006/relationships/image" Target="../media/image-4-3.jpg"/><Relationship Id="rId7" Type="http://schemas.openxmlformats.org/officeDocument/2006/relationships/image" Target="../media/image-4-4.jpg"/><Relationship Id="rId9" Type="http://schemas.openxmlformats.org/officeDocument/2006/relationships/image" Target="../media/image-4-5.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aw.githack.com/jpzllkfl/ace-design-presentation/main/designs/bigsky.html" TargetMode="External"/><Relationship Id="rId1" Type="http://schemas.openxmlformats.org/officeDocument/2006/relationships/image" Target="../media/image-5-1.jpg"/><Relationship Id="rId3" Type="http://schemas.openxmlformats.org/officeDocument/2006/relationships/slideLayout" Target="../slideLayouts/slideLayout7.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aw.githack.com/jpzllkfl/ace-design-presentation/main/designs/bigsky.html" TargetMode="External"/><Relationship Id="rId1" Type="http://schemas.openxmlformats.org/officeDocument/2006/relationships/image" Target="../media/image-6-1.jpg"/><Relationship Id="rId3" Type="http://schemas.openxmlformats.org/officeDocument/2006/relationships/slideLayout" Target="../slideLayouts/slideLayout5.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aw.githack.com/jpzllkfl/ace-design-presentation/main/designs/heartland.html" TargetMode="External"/><Relationship Id="rId1" Type="http://schemas.openxmlformats.org/officeDocument/2006/relationships/image" Target="../media/image-7-1.jp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aw.githack.com/jpzllkfl/ace-design-presentation/main/designs/heartland.html" TargetMode="External"/><Relationship Id="rId1" Type="http://schemas.openxmlformats.org/officeDocument/2006/relationships/image" Target="../media/image-8-1.jpg"/><Relationship Id="rId3" Type="http://schemas.openxmlformats.org/officeDocument/2006/relationships/slideLayout" Target="../slideLayouts/slideLayout5.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raw.githack.com/jpzllkfl/ace-design-presentation/main/designs/piney.html" TargetMode="External"/><Relationship Id="rId1" Type="http://schemas.openxmlformats.org/officeDocument/2006/relationships/image" Target="../media/image-20-1.jpg"/><Relationship Id="rId3" Type="http://schemas.openxmlformats.org/officeDocument/2006/relationships/slideLayout" Target="../slideLayouts/slideLayout7.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raw.githack.com/jpzllkfl/ace-design-presentation/main/designs/openwater.html" TargetMode="External"/><Relationship Id="rId1" Type="http://schemas.openxmlformats.org/officeDocument/2006/relationships/image" Target="../media/image-21-1.jpg"/><Relationship Id="rId3" Type="http://schemas.openxmlformats.org/officeDocument/2006/relationships/slideLayout" Target="../slideLayouts/slideLayout7.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raw.githack.com/jpzllkfl/ace-design-presentation/main/designs/hill.html" TargetMode="External"/><Relationship Id="rId1" Type="http://schemas.openxmlformats.org/officeDocument/2006/relationships/image" Target="../media/image-22-1.jpg"/><Relationship Id="rId3" Type="http://schemas.openxmlformats.org/officeDocument/2006/relationships/slideLayout" Target="../slideLayouts/slideLayout7.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logo" descr="A.C.E. Distribution">    </p:cNvPr>
          <p:cNvPicPr>
            <a:picLocks noChangeAspect="1"/>
          </p:cNvPicPr>
          <p:nvPr/>
        </p:nvPicPr>
        <p:blipFill>
          <a:blip r:embed="rId1"/>
          <a:stretch>
            <a:fillRect/>
          </a:stretch>
        </p:blipFill>
        <p:spPr>
          <a:xfrm>
            <a:off x="886968" y="960120"/>
            <a:ext cx="4303059" cy="914400"/>
          </a:xfrm>
          <a:prstGeom prst="rect">
            <a:avLst/>
          </a:prstGeom>
        </p:spPr>
      </p:pic>
      <p:sp>
        <p:nvSpPr>
          <p:cNvPr id="3" name="Text 0"/>
          <p:cNvSpPr txBox="1"/>
          <p:nvPr/>
        </p:nvSpPr>
        <p:spPr>
          <a:xfrm>
            <a:off x="886968" y="2697480"/>
            <a:ext cx="10417759" cy="320040"/>
          </a:xfrm>
          <a:prstGeom prst="rect">
            <a:avLst/>
          </a:prstGeom>
          <a:noFill/>
          <a:ln/>
        </p:spPr>
        <p:txBody>
          <a:bodyPr wrap="square" lIns="0" tIns="0" rIns="0" bIns="0" rtlCol="0" anchor="t"/>
          <a:lstStyle/>
          <a:p>
            <a:pPr indent="0" marL="0">
              <a:buNone/>
            </a:pPr>
            <a:r>
              <a:rPr lang="en-US" sz="1200" b="1" spc="300" kern="0" dirty="0">
                <a:solidFill>
                  <a:schemeClr val="accent1"/>
                </a:solidFill>
              </a:rPr>
              <a:t>WEBSITE DESIGN REVIEW</a:t>
            </a:r>
            <a:endParaRPr lang="en-US" sz="1200" dirty="0"/>
          </a:p>
        </p:txBody>
      </p:sp>
      <p:sp>
        <p:nvSpPr>
          <p:cNvPr id="4" name="Text 1"/>
          <p:cNvSpPr txBox="1"/>
          <p:nvPr/>
        </p:nvSpPr>
        <p:spPr>
          <a:xfrm>
            <a:off x="886968" y="3063240"/>
            <a:ext cx="10417759" cy="192024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Picking ACE’s</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public face</a:t>
            </a:r>
            <a:endParaRPr lang="en-US" sz="6600" dirty="0"/>
          </a:p>
        </p:txBody>
      </p:sp>
      <p:sp>
        <p:nvSpPr>
          <p:cNvPr id="5" name="Text 2"/>
          <p:cNvSpPr txBox="1"/>
          <p:nvPr/>
        </p:nvSpPr>
        <p:spPr>
          <a:xfrm>
            <a:off x="886968" y="5166360"/>
            <a:ext cx="7315200" cy="731520"/>
          </a:xfrm>
          <a:prstGeom prst="rect">
            <a:avLst/>
          </a:prstGeom>
          <a:noFill/>
          <a:ln/>
        </p:spPr>
        <p:txBody>
          <a:bodyPr wrap="square" lIns="0" tIns="0" rIns="0" bIns="0" rtlCol="0" anchor="t"/>
          <a:lstStyle/>
          <a:p>
            <a:pPr indent="0" marL="0">
              <a:buNone/>
            </a:pPr>
            <a:r>
              <a:rPr lang="en-US" sz="1800" dirty="0">
                <a:solidFill>
                  <a:srgbClr val="BDB4A2"/>
                </a:solidFill>
              </a:rPr>
              <a:t>Five directions. Two to sit with. One decision — and the names that carry it.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WHY WE’RE HERE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Pick a face. Leave with </a:t>
            </a:r>
            <a:pPr algn="l" indent="0" marL="0">
              <a:buNone/>
            </a:pPr>
            <a:r>
              <a:rPr lang="en-US" sz="4400" b="1" i="1" dirty="0">
                <a:solidFill>
                  <a:schemeClr val="tx1"/>
                </a:solidFill>
                <a:latin typeface="Cambria" pitchFamily="34" charset="0"/>
                <a:ea typeface="Cambria" pitchFamily="34" charset="-122"/>
                <a:cs typeface="Cambria" pitchFamily="34" charset="-120"/>
              </a:rPr>
              <a:t>owners</a:t>
            </a:r>
            <a:pPr algn="l" indent="0" marL="0">
              <a:buNone/>
            </a:pPr>
            <a:r>
              <a:rPr lang="en-US" sz="4400" b="1" dirty="0">
                <a:solidFill>
                  <a:schemeClr val="tx1"/>
                </a:solidFill>
                <a:latin typeface="Cambria" pitchFamily="34" charset="0"/>
                <a:ea typeface="Cambria" pitchFamily="34" charset="-122"/>
                <a:cs typeface="Cambria" pitchFamily="34" charset="-120"/>
              </a:rPr>
              <a:t>, not vibes</a:t>
            </a:r>
            <a:endParaRPr lang="en-US" sz="4400" dirty="0"/>
          </a:p>
        </p:txBody>
      </p:sp>
      <p:sp>
        <p:nvSpPr>
          <p:cNvPr id="4" name="row rule 1"/>
          <p:cNvSpPr/>
          <p:nvPr/>
        </p:nvSpPr>
        <p:spPr>
          <a:xfrm>
            <a:off x="886968" y="2743200"/>
            <a:ext cx="8869680" cy="0"/>
          </a:xfrm>
          <a:prstGeom prst="line">
            <a:avLst/>
          </a:prstGeom>
          <a:noFill/>
          <a:ln w="9525">
            <a:solidFill>
              <a:schemeClr val="accent4"/>
            </a:solidFill>
            <a:prstDash val="solid"/>
          </a:ln>
        </p:spPr>
      </p:sp>
      <p:sp>
        <p:nvSpPr>
          <p:cNvPr id="5" name="Text 3"/>
          <p:cNvSpPr txBox="1"/>
          <p:nvPr/>
        </p:nvSpPr>
        <p:spPr>
          <a:xfrm>
            <a:off x="886968" y="303580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a:t>
            </a:r>
            <a:endParaRPr lang="en-US" sz="1200" dirty="0"/>
          </a:p>
        </p:txBody>
      </p:sp>
      <p:sp>
        <p:nvSpPr>
          <p:cNvPr id="6" name="Text 4"/>
          <p:cNvSpPr txBox="1"/>
          <p:nvPr/>
        </p:nvSpPr>
        <p:spPr>
          <a:xfrm>
            <a:off x="1572768" y="2971800"/>
            <a:ext cx="8138160" cy="731520"/>
          </a:xfrm>
          <a:prstGeom prst="rect">
            <a:avLst/>
          </a:prstGeom>
          <a:noFill/>
          <a:ln/>
        </p:spPr>
        <p:txBody>
          <a:bodyPr wrap="square" lIns="0" tIns="0" rIns="0" bIns="0" rtlCol="0" anchor="t"/>
          <a:lstStyle/>
          <a:p>
            <a:pPr indent="0" marL="0">
              <a:buNone/>
            </a:pPr>
            <a:r>
              <a:rPr lang="en-US" sz="2100" dirty="0">
                <a:solidFill>
                  <a:schemeClr val="tx1"/>
                </a:solidFill>
              </a:rPr>
              <a:t>Choose the direction the website ships in</a:t>
            </a:r>
            <a:endParaRPr lang="en-US" sz="2100" dirty="0"/>
          </a:p>
          <a:p>
            <a:pPr indent="0" marL="0">
              <a:buNone/>
            </a:pPr>
            <a:r>
              <a:rPr lang="en-US" sz="1400" dirty="0">
                <a:solidFill>
                  <a:schemeClr val="accent3"/>
                </a:solidFill>
              </a:rPr>
              <a:t>Five built. Two featured. All on the table.</a:t>
            </a:r>
            <a:endParaRPr lang="en-US" sz="2100" dirty="0"/>
          </a:p>
        </p:txBody>
      </p:sp>
      <p:sp>
        <p:nvSpPr>
          <p:cNvPr id="7" name="row rule 2"/>
          <p:cNvSpPr/>
          <p:nvPr/>
        </p:nvSpPr>
        <p:spPr>
          <a:xfrm>
            <a:off x="886968" y="3794760"/>
            <a:ext cx="8869680" cy="0"/>
          </a:xfrm>
          <a:prstGeom prst="line">
            <a:avLst/>
          </a:prstGeom>
          <a:noFill/>
          <a:ln w="9525">
            <a:solidFill>
              <a:schemeClr val="accent4"/>
            </a:solidFill>
            <a:prstDash val="solid"/>
          </a:ln>
        </p:spPr>
      </p:sp>
      <p:sp>
        <p:nvSpPr>
          <p:cNvPr id="8" name="Text 6"/>
          <p:cNvSpPr txBox="1"/>
          <p:nvPr/>
        </p:nvSpPr>
        <p:spPr>
          <a:xfrm>
            <a:off x="886968" y="408736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a:t>
            </a:r>
            <a:endParaRPr lang="en-US" sz="1200" dirty="0"/>
          </a:p>
        </p:txBody>
      </p:sp>
      <p:sp>
        <p:nvSpPr>
          <p:cNvPr id="9" name="Text 7"/>
          <p:cNvSpPr txBox="1"/>
          <p:nvPr/>
        </p:nvSpPr>
        <p:spPr>
          <a:xfrm>
            <a:off x="1572768" y="4023360"/>
            <a:ext cx="8138160" cy="731520"/>
          </a:xfrm>
          <a:prstGeom prst="rect">
            <a:avLst/>
          </a:prstGeom>
          <a:noFill/>
          <a:ln/>
        </p:spPr>
        <p:txBody>
          <a:bodyPr wrap="square" lIns="0" tIns="0" rIns="0" bIns="0" rtlCol="0" anchor="t"/>
          <a:lstStyle/>
          <a:p>
            <a:pPr indent="0" marL="0">
              <a:buNone/>
            </a:pPr>
            <a:r>
              <a:rPr lang="en-US" sz="2100" dirty="0">
                <a:solidFill>
                  <a:schemeClr val="tx1"/>
                </a:solidFill>
              </a:rPr>
              <a:t>Put one name on the build</a:t>
            </a:r>
            <a:endParaRPr lang="en-US" sz="2100" dirty="0"/>
          </a:p>
          <a:p>
            <a:pPr indent="0" marL="0">
              <a:buNone/>
            </a:pPr>
            <a:r>
              <a:rPr lang="en-US" sz="1400" dirty="0">
                <a:solidFill>
                  <a:schemeClr val="accent3"/>
                </a:solidFill>
              </a:rPr>
              <a:t>One owner, not a committee.</a:t>
            </a:r>
            <a:endParaRPr lang="en-US" sz="2100" dirty="0"/>
          </a:p>
        </p:txBody>
      </p:sp>
      <p:sp>
        <p:nvSpPr>
          <p:cNvPr id="10" name="row rule 3"/>
          <p:cNvSpPr/>
          <p:nvPr/>
        </p:nvSpPr>
        <p:spPr>
          <a:xfrm>
            <a:off x="886968" y="4846320"/>
            <a:ext cx="8869680" cy="0"/>
          </a:xfrm>
          <a:prstGeom prst="line">
            <a:avLst/>
          </a:prstGeom>
          <a:noFill/>
          <a:ln w="9525">
            <a:solidFill>
              <a:schemeClr val="accent4"/>
            </a:solidFill>
            <a:prstDash val="solid"/>
          </a:ln>
        </p:spPr>
      </p:sp>
      <p:sp>
        <p:nvSpPr>
          <p:cNvPr id="11" name="Text 9"/>
          <p:cNvSpPr txBox="1"/>
          <p:nvPr/>
        </p:nvSpPr>
        <p:spPr>
          <a:xfrm>
            <a:off x="886968" y="5138928"/>
            <a:ext cx="54864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a:t>
            </a:r>
            <a:endParaRPr lang="en-US" sz="1200" dirty="0"/>
          </a:p>
        </p:txBody>
      </p:sp>
      <p:sp>
        <p:nvSpPr>
          <p:cNvPr id="12" name="Text 10"/>
          <p:cNvSpPr txBox="1"/>
          <p:nvPr/>
        </p:nvSpPr>
        <p:spPr>
          <a:xfrm>
            <a:off x="1572768" y="5074920"/>
            <a:ext cx="8138160" cy="731520"/>
          </a:xfrm>
          <a:prstGeom prst="rect">
            <a:avLst/>
          </a:prstGeom>
          <a:noFill/>
          <a:ln/>
        </p:spPr>
        <p:txBody>
          <a:bodyPr wrap="square" lIns="0" tIns="0" rIns="0" bIns="0" rtlCol="0" anchor="t"/>
          <a:lstStyle/>
          <a:p>
            <a:pPr indent="0" marL="0">
              <a:buNone/>
            </a:pPr>
            <a:r>
              <a:rPr lang="en-US" sz="2100" dirty="0">
                <a:solidFill>
                  <a:schemeClr val="tx1"/>
                </a:solidFill>
              </a:rPr>
              <a:t>Leave with Rocks and To-Dos</a:t>
            </a:r>
            <a:endParaRPr lang="en-US" sz="2100" dirty="0"/>
          </a:p>
          <a:p>
            <a:pPr indent="0" marL="0">
              <a:buNone/>
            </a:pPr>
            <a:r>
              <a:rPr lang="en-US" sz="1400" dirty="0">
                <a:solidFill>
                  <a:schemeClr val="accent3"/>
                </a:solidFill>
              </a:rPr>
              <a:t>Written down before we stand up.</a:t>
            </a:r>
            <a:endParaRPr lang="en-US" sz="2100" dirty="0"/>
          </a:p>
        </p:txBody>
      </p:sp>
      <p:sp>
        <p:nvSpPr>
          <p:cNvPr id="13" name="row rule end"/>
          <p:cNvSpPr/>
          <p:nvPr/>
        </p:nvSpPr>
        <p:spPr>
          <a:xfrm>
            <a:off x="886968" y="5897880"/>
            <a:ext cx="8869680" cy="0"/>
          </a:xfrm>
          <a:prstGeom prst="line">
            <a:avLst/>
          </a:prstGeom>
          <a:noFill/>
          <a:ln w="9525">
            <a:solidFill>
              <a:schemeClr val="accent4"/>
            </a:solidFill>
            <a:prstDash val="solid"/>
          </a:ln>
        </p:spPr>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LENS FOR TODAY · EOS</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One name on every </a:t>
            </a:r>
            <a:pPr algn="l" indent="0" marL="0">
              <a:buNone/>
            </a:pPr>
            <a:r>
              <a:rPr lang="en-US" sz="5800" b="1" i="1" dirty="0">
                <a:solidFill>
                  <a:schemeClr val="accent1"/>
                </a:solidFill>
                <a:latin typeface="Cambria" pitchFamily="34" charset="0"/>
                <a:ea typeface="Cambria" pitchFamily="34" charset="-122"/>
                <a:cs typeface="Cambria" pitchFamily="34" charset="-120"/>
              </a:rPr>
              <a:t>Rock</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Hold that while we look at the designs. Liking one is easy. Owning it to launch is the job.</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THE WORK</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Five directions. </a:t>
            </a:r>
            <a:pPr algn="l" indent="0" marL="0">
              <a:buNone/>
            </a:pPr>
            <a:r>
              <a:rPr lang="en-US" sz="4400" b="1" i="1" dirty="0">
                <a:solidFill>
                  <a:schemeClr val="accent1"/>
                </a:solidFill>
                <a:latin typeface="Cambria" pitchFamily="34" charset="0"/>
                <a:ea typeface="Cambria" pitchFamily="34" charset="-122"/>
                <a:cs typeface="Cambria" pitchFamily="34" charset="-120"/>
              </a:rPr>
              <a:t>Two</a:t>
            </a:r>
            <a:pPr algn="l" indent="0" marL="0">
              <a:buNone/>
            </a:pPr>
            <a:r>
              <a:rPr lang="en-US" sz="4400" b="1" dirty="0">
                <a:solidFill>
                  <a:schemeClr val="bg2"/>
                </a:solidFill>
                <a:latin typeface="Cambria" pitchFamily="34" charset="0"/>
                <a:ea typeface="Cambria" pitchFamily="34" charset="-122"/>
                <a:cs typeface="Cambria" pitchFamily="34" charset="-120"/>
              </a:rPr>
              <a:t> to sit with</a:t>
            </a:r>
            <a:endParaRPr lang="en-US" sz="4400" dirty="0"/>
          </a:p>
        </p:txBody>
      </p:sp>
      <p:sp>
        <p:nvSpPr>
          <p:cNvPr id="4" name="Big Sky highlight"/>
          <p:cNvSpPr/>
          <p:nvPr/>
        </p:nvSpPr>
        <p:spPr>
          <a:xfrm>
            <a:off x="841248" y="2697480"/>
            <a:ext cx="1955536" cy="1182783"/>
          </a:xfrm>
          <a:prstGeom prst="rect">
            <a:avLst/>
          </a:prstGeom>
          <a:solidFill>
            <a:schemeClr val="accent1"/>
          </a:solidFill>
          <a:ln w="12700">
            <a:solidFill>
              <a:schemeClr val="accent1"/>
            </a:solidFill>
            <a:prstDash val="solid"/>
          </a:ln>
        </p:spPr>
      </p:sp>
      <p:pic>
        <p:nvPicPr>
          <p:cNvPr id="5" name="Big Sky thumb" descr="Big Sky">
            <a:hlinkClick r:id="rId2" tooltip="Open the Big Sky live site"/>
          </p:cNvPr>
          <p:cNvPicPr>
            <a:picLocks noChangeAspect="1"/>
          </p:cNvPicPr>
          <p:nvPr/>
        </p:nvPicPr>
        <p:blipFill>
          <a:blip r:embed="rId1"/>
          <a:stretch>
            <a:fillRect/>
          </a:stretch>
        </p:blipFill>
        <p:spPr>
          <a:xfrm>
            <a:off x="886968" y="2743200"/>
            <a:ext cx="1864096" cy="1091343"/>
          </a:xfrm>
          <a:prstGeom prst="rect">
            <a:avLst/>
          </a:prstGeom>
        </p:spPr>
      </p:pic>
      <p:sp>
        <p:nvSpPr>
          <p:cNvPr id="6" name="Text 3"/>
          <p:cNvSpPr txBox="1"/>
          <p:nvPr/>
        </p:nvSpPr>
        <p:spPr>
          <a:xfrm>
            <a:off x="886968"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 · FEATURED</a:t>
            </a:r>
            <a:endParaRPr lang="en-US" sz="1000" dirty="0"/>
          </a:p>
        </p:txBody>
      </p:sp>
      <p:sp>
        <p:nvSpPr>
          <p:cNvPr id="7" name="Text 4"/>
          <p:cNvSpPr txBox="1"/>
          <p:nvPr/>
        </p:nvSpPr>
        <p:spPr>
          <a:xfrm>
            <a:off x="886968"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Big Sky</a:t>
            </a:r>
            <a:endParaRPr lang="en-US" sz="1800" dirty="0"/>
          </a:p>
        </p:txBody>
      </p:sp>
      <p:sp>
        <p:nvSpPr>
          <p:cNvPr id="8" name="Text 5"/>
          <p:cNvSpPr txBox="1"/>
          <p:nvPr/>
        </p:nvSpPr>
        <p:spPr>
          <a:xfrm>
            <a:off x="886968"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Warm, editorial, timeless.</a:t>
            </a:r>
            <a:endParaRPr lang="en-US" sz="1200" dirty="0"/>
          </a:p>
        </p:txBody>
      </p:sp>
      <p:pic>
        <p:nvPicPr>
          <p:cNvPr id="9" name="Piney Woods thumb" descr="Piney Woods">
            <a:hlinkClick r:id="rId4" tooltip="Open the Piney Woods live site"/>
          </p:cNvPr>
          <p:cNvPicPr>
            <a:picLocks noChangeAspect="1"/>
          </p:cNvPicPr>
          <p:nvPr/>
        </p:nvPicPr>
        <p:blipFill>
          <a:blip r:embed="rId3">
            <a:alphaModFix amt="45000"/>
          </a:blip>
          <a:stretch>
            <a:fillRect/>
          </a:stretch>
        </p:blipFill>
        <p:spPr>
          <a:xfrm>
            <a:off x="3025384" y="2743200"/>
            <a:ext cx="1864096" cy="1091343"/>
          </a:xfrm>
          <a:prstGeom prst="rect">
            <a:avLst/>
          </a:prstGeom>
        </p:spPr>
      </p:pic>
      <p:sp>
        <p:nvSpPr>
          <p:cNvPr id="10" name="Text 6"/>
          <p:cNvSpPr txBox="1"/>
          <p:nvPr/>
        </p:nvSpPr>
        <p:spPr>
          <a:xfrm>
            <a:off x="3025384"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1" name="Text 7"/>
          <p:cNvSpPr txBox="1"/>
          <p:nvPr/>
        </p:nvSpPr>
        <p:spPr>
          <a:xfrm>
            <a:off x="3025384"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Piney Woods</a:t>
            </a:r>
            <a:endParaRPr lang="en-US" sz="1800" dirty="0"/>
          </a:p>
        </p:txBody>
      </p:sp>
      <p:sp>
        <p:nvSpPr>
          <p:cNvPr id="12" name="Text 8"/>
          <p:cNvSpPr txBox="1"/>
          <p:nvPr/>
        </p:nvSpPr>
        <p:spPr>
          <a:xfrm>
            <a:off x="3025384"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Rooted, calm, organic.</a:t>
            </a:r>
            <a:endParaRPr lang="en-US" sz="1200" dirty="0"/>
          </a:p>
        </p:txBody>
      </p:sp>
      <p:pic>
        <p:nvPicPr>
          <p:cNvPr id="13" name="Open Water thumb" descr="Open Water">
            <a:hlinkClick r:id="rId6" tooltip="Open the Open Water live site"/>
          </p:cNvPr>
          <p:cNvPicPr>
            <a:picLocks noChangeAspect="1"/>
          </p:cNvPicPr>
          <p:nvPr/>
        </p:nvPicPr>
        <p:blipFill>
          <a:blip r:embed="rId5">
            <a:alphaModFix amt="45000"/>
          </a:blip>
          <a:stretch>
            <a:fillRect/>
          </a:stretch>
        </p:blipFill>
        <p:spPr>
          <a:xfrm>
            <a:off x="5163800" y="2743200"/>
            <a:ext cx="1864096" cy="1091343"/>
          </a:xfrm>
          <a:prstGeom prst="rect">
            <a:avLst/>
          </a:prstGeom>
        </p:spPr>
      </p:pic>
      <p:sp>
        <p:nvSpPr>
          <p:cNvPr id="14" name="Text 9"/>
          <p:cNvSpPr txBox="1"/>
          <p:nvPr/>
        </p:nvSpPr>
        <p:spPr>
          <a:xfrm>
            <a:off x="5163800"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5" name="Text 10"/>
          <p:cNvSpPr txBox="1"/>
          <p:nvPr/>
        </p:nvSpPr>
        <p:spPr>
          <a:xfrm>
            <a:off x="5163800"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Open Water</a:t>
            </a:r>
            <a:endParaRPr lang="en-US" sz="1800" dirty="0"/>
          </a:p>
        </p:txBody>
      </p:sp>
      <p:sp>
        <p:nvSpPr>
          <p:cNvPr id="16" name="Text 11"/>
          <p:cNvSpPr txBox="1"/>
          <p:nvPr/>
        </p:nvSpPr>
        <p:spPr>
          <a:xfrm>
            <a:off x="5163800"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Crisp, corporate, confident.</a:t>
            </a:r>
            <a:endParaRPr lang="en-US" sz="1200" dirty="0"/>
          </a:p>
        </p:txBody>
      </p:sp>
      <p:sp>
        <p:nvSpPr>
          <p:cNvPr id="17" name="Heartland Steel highlight"/>
          <p:cNvSpPr/>
          <p:nvPr/>
        </p:nvSpPr>
        <p:spPr>
          <a:xfrm>
            <a:off x="7256496" y="2697480"/>
            <a:ext cx="1955536" cy="1182783"/>
          </a:xfrm>
          <a:prstGeom prst="rect">
            <a:avLst/>
          </a:prstGeom>
          <a:solidFill>
            <a:schemeClr val="accent1"/>
          </a:solidFill>
          <a:ln w="12700">
            <a:solidFill>
              <a:schemeClr val="accent1"/>
            </a:solidFill>
            <a:prstDash val="solid"/>
          </a:ln>
        </p:spPr>
      </p:sp>
      <p:pic>
        <p:nvPicPr>
          <p:cNvPr id="18" name="Heartland Steel thumb" descr="Heartland Steel">
            <a:hlinkClick r:id="rId8" tooltip="Open the Heartland Steel live site"/>
          </p:cNvPr>
          <p:cNvPicPr>
            <a:picLocks noChangeAspect="1"/>
          </p:cNvPicPr>
          <p:nvPr/>
        </p:nvPicPr>
        <p:blipFill>
          <a:blip r:embed="rId7"/>
          <a:stretch>
            <a:fillRect/>
          </a:stretch>
        </p:blipFill>
        <p:spPr>
          <a:xfrm>
            <a:off x="7302216" y="2743200"/>
            <a:ext cx="1864096" cy="1091343"/>
          </a:xfrm>
          <a:prstGeom prst="rect">
            <a:avLst/>
          </a:prstGeom>
        </p:spPr>
      </p:pic>
      <p:sp>
        <p:nvSpPr>
          <p:cNvPr id="19" name="Text 13"/>
          <p:cNvSpPr txBox="1"/>
          <p:nvPr/>
        </p:nvSpPr>
        <p:spPr>
          <a:xfrm>
            <a:off x="7302216"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 · FEATURED</a:t>
            </a:r>
            <a:endParaRPr lang="en-US" sz="1000" dirty="0"/>
          </a:p>
        </p:txBody>
      </p:sp>
      <p:sp>
        <p:nvSpPr>
          <p:cNvPr id="20" name="Text 14"/>
          <p:cNvSpPr txBox="1"/>
          <p:nvPr/>
        </p:nvSpPr>
        <p:spPr>
          <a:xfrm>
            <a:off x="7302216" y="4310031"/>
            <a:ext cx="1864096" cy="365760"/>
          </a:xfrm>
          <a:prstGeom prst="rect">
            <a:avLst/>
          </a:prstGeom>
          <a:noFill/>
          <a:ln/>
        </p:spPr>
        <p:txBody>
          <a:bodyPr wrap="square" lIns="0" tIns="0" rIns="0" bIns="0" rtlCol="0" anchor="t"/>
          <a:lstStyle/>
          <a:p>
            <a:pPr indent="0" marL="0">
              <a:buNone/>
            </a:pPr>
            <a:r>
              <a:rPr lang="en-US" sz="1800" b="1" dirty="0">
                <a:solidFill>
                  <a:schemeClr val="bg2"/>
                </a:solidFill>
                <a:latin typeface="Cambria" pitchFamily="34" charset="0"/>
                <a:ea typeface="Cambria" pitchFamily="34" charset="-122"/>
                <a:cs typeface="Cambria" pitchFamily="34" charset="-120"/>
              </a:rPr>
              <a:t>Heartland Steel</a:t>
            </a:r>
            <a:endParaRPr lang="en-US" sz="1800" dirty="0"/>
          </a:p>
        </p:txBody>
      </p:sp>
      <p:sp>
        <p:nvSpPr>
          <p:cNvPr id="21" name="Text 15"/>
          <p:cNvSpPr txBox="1"/>
          <p:nvPr/>
        </p:nvSpPr>
        <p:spPr>
          <a:xfrm>
            <a:off x="7302216" y="4675791"/>
            <a:ext cx="1864096" cy="365760"/>
          </a:xfrm>
          <a:prstGeom prst="rect">
            <a:avLst/>
          </a:prstGeom>
          <a:noFill/>
          <a:ln/>
        </p:spPr>
        <p:txBody>
          <a:bodyPr wrap="square" lIns="0" tIns="0" rIns="0" bIns="0" rtlCol="0" anchor="t"/>
          <a:lstStyle/>
          <a:p>
            <a:pPr indent="0" marL="0">
              <a:buNone/>
            </a:pPr>
            <a:r>
              <a:rPr lang="en-US" sz="1200" dirty="0">
                <a:solidFill>
                  <a:srgbClr val="BDB4A2"/>
                </a:solidFill>
              </a:rPr>
              <a:t>Bold, cinematic, industrial.</a:t>
            </a:r>
            <a:endParaRPr lang="en-US" sz="1200" dirty="0"/>
          </a:p>
        </p:txBody>
      </p:sp>
      <p:pic>
        <p:nvPicPr>
          <p:cNvPr id="22" name="Hill Country thumb" descr="Hill Country">
            <a:hlinkClick r:id="rId10" tooltip="Open the Hill Country live site"/>
          </p:cNvPr>
          <p:cNvPicPr>
            <a:picLocks noChangeAspect="1"/>
          </p:cNvPicPr>
          <p:nvPr/>
        </p:nvPicPr>
        <p:blipFill>
          <a:blip r:embed="rId9">
            <a:alphaModFix amt="45000"/>
          </a:blip>
          <a:stretch>
            <a:fillRect/>
          </a:stretch>
        </p:blipFill>
        <p:spPr>
          <a:xfrm>
            <a:off x="9440631" y="2743200"/>
            <a:ext cx="1864096" cy="1091343"/>
          </a:xfrm>
          <a:prstGeom prst="rect">
            <a:avLst/>
          </a:prstGeom>
        </p:spPr>
      </p:pic>
      <p:sp>
        <p:nvSpPr>
          <p:cNvPr id="23" name="Text 16"/>
          <p:cNvSpPr txBox="1"/>
          <p:nvPr/>
        </p:nvSpPr>
        <p:spPr>
          <a:xfrm>
            <a:off x="9440631" y="4063143"/>
            <a:ext cx="1864096"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4" name="Text 17"/>
          <p:cNvSpPr txBox="1"/>
          <p:nvPr/>
        </p:nvSpPr>
        <p:spPr>
          <a:xfrm>
            <a:off x="9440631" y="4310031"/>
            <a:ext cx="1864096" cy="365760"/>
          </a:xfrm>
          <a:prstGeom prst="rect">
            <a:avLst/>
          </a:prstGeom>
          <a:noFill/>
          <a:ln/>
        </p:spPr>
        <p:txBody>
          <a:bodyPr wrap="square" lIns="0" tIns="0" rIns="0" bIns="0" rtlCol="0" anchor="t"/>
          <a:lstStyle/>
          <a:p>
            <a:pPr indent="0" marL="0">
              <a:buNone/>
            </a:pPr>
            <a:r>
              <a:rPr lang="en-US" sz="1800" b="1" dirty="0">
                <a:solidFill>
                  <a:srgbClr val="8C826F"/>
                </a:solidFill>
                <a:latin typeface="Cambria" pitchFamily="34" charset="0"/>
                <a:ea typeface="Cambria" pitchFamily="34" charset="-122"/>
                <a:cs typeface="Cambria" pitchFamily="34" charset="-120"/>
              </a:rPr>
              <a:t>Hill Country</a:t>
            </a:r>
            <a:endParaRPr lang="en-US" sz="1800" dirty="0"/>
          </a:p>
        </p:txBody>
      </p:sp>
      <p:sp>
        <p:nvSpPr>
          <p:cNvPr id="25" name="Text 18"/>
          <p:cNvSpPr txBox="1"/>
          <p:nvPr/>
        </p:nvSpPr>
        <p:spPr>
          <a:xfrm>
            <a:off x="9440631" y="4675791"/>
            <a:ext cx="1864096" cy="365760"/>
          </a:xfrm>
          <a:prstGeom prst="rect">
            <a:avLst/>
          </a:prstGeom>
          <a:noFill/>
          <a:ln/>
        </p:spPr>
        <p:txBody>
          <a:bodyPr wrap="square" lIns="0" tIns="0" rIns="0" bIns="0" rtlCol="0" anchor="t"/>
          <a:lstStyle/>
          <a:p>
            <a:pPr indent="0" marL="0">
              <a:buNone/>
            </a:pPr>
            <a:r>
              <a:rPr lang="en-US" sz="1200" dirty="0">
                <a:solidFill>
                  <a:srgbClr val="6E6656"/>
                </a:solidFill>
              </a:rPr>
              <a:t>Warm, friendly, welcoming.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ig Sk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Big Sk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Big Sk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01</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Big Sky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editorial, timeless.</a:t>
            </a:r>
            <a:endParaRPr lang="en-US" sz="1500" dirty="0"/>
          </a:p>
        </p:txBody>
      </p:sp>
      <p:sp>
        <p:nvSpPr>
          <p:cNvPr id="10" name="Big Sk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ig Sky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Big Sky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Big Sky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Big Sky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Big Sky screenshot" descr="Big Sky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Big Sky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Big Sky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A · 01</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Big Sky</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“A family company that’s been doing this right for a long time.”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The gold is ours. </a:t>
            </a:r>
            <a:pPr indent="0" marL="0">
              <a:spcAft>
                <a:spcPts val="900"/>
              </a:spcAft>
              <a:buNone/>
            </a:pPr>
            <a:r>
              <a:rPr lang="en-US" sz="1500" dirty="0">
                <a:solidFill>
                  <a:schemeClr val="tx1"/>
                </a:solidFill>
              </a:rPr>
              <a:t>Its palette is the ACE mark — the logo looks native, not placed.</a:t>
            </a:r>
            <a:endParaRPr lang="en-US" sz="1500" dirty="0"/>
          </a:p>
          <a:p>
            <a:pPr marL="203200" indent="-203200">
              <a:spcAft>
                <a:spcPts val="900"/>
              </a:spcAft>
              <a:buSzPct val="100000"/>
              <a:buChar char="•"/>
            </a:pPr>
            <a:r>
              <a:rPr lang="en-US" sz="1500" b="1" dirty="0">
                <a:solidFill>
                  <a:schemeClr val="tx1"/>
                </a:solidFill>
              </a:rPr>
              <a:t>Editorial serif = credibility. </a:t>
            </a:r>
            <a:pPr indent="0" marL="0">
              <a:spcAft>
                <a:spcPts val="900"/>
              </a:spcAft>
              <a:buNone/>
            </a:pPr>
            <a:r>
              <a:rPr lang="en-US" sz="1500" dirty="0">
                <a:solidFill>
                  <a:schemeClr val="tx1"/>
                </a:solidFill>
              </a:rPr>
              <a:t>Reads established without reading corporate.</a:t>
            </a:r>
            <a:endParaRPr lang="en-US" sz="1500" dirty="0"/>
          </a:p>
          <a:p>
            <a:pPr marL="203200" indent="-203200">
              <a:spcAft>
                <a:spcPts val="900"/>
              </a:spcAft>
              <a:buSzPct val="100000"/>
              <a:buChar char="•"/>
            </a:pPr>
            <a:r>
              <a:rPr lang="en-US" sz="1500" b="1" dirty="0">
                <a:solidFill>
                  <a:schemeClr val="tx1"/>
                </a:solidFill>
              </a:rPr>
              <a:t>“Delivered like family” </a:t>
            </a:r>
            <a:pPr indent="0" marL="0">
              <a:spcAft>
                <a:spcPts val="900"/>
              </a:spcAft>
              <a:buNone/>
            </a:pPr>
            <a:r>
              <a:rPr lang="en-US" sz="1500" dirty="0">
                <a:solidFill>
                  <a:schemeClr val="tx1"/>
                </a:solidFill>
              </a:rPr>
              <a:t>says the family-company promise without a history lesson.</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Can read soft or lifestyle to hard-nosed fleet buyers.</a:t>
            </a:r>
            <a:endParaRPr lang="en-US" sz="1500" dirty="0"/>
          </a:p>
        </p:txBody>
      </p:sp>
      <p:sp>
        <p:nvSpPr>
          <p:cNvPr id="12" name="swatch 1"/>
          <p:cNvSpPr/>
          <p:nvPr/>
        </p:nvSpPr>
        <p:spPr>
          <a:xfrm>
            <a:off x="6720840" y="5760720"/>
            <a:ext cx="292608" cy="292608"/>
          </a:xfrm>
          <a:prstGeom prst="ellipse">
            <a:avLst/>
          </a:prstGeom>
          <a:solidFill>
            <a:srgbClr val="D6A64A"/>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2A1D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F4ECDC"/>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GOLD · PRAIRIE HERITAGE</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rtland Steel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eartland Steel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eartland Steel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04</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Heartland Steel</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Bold, cinematic, industrial.</a:t>
            </a:r>
            <a:endParaRPr lang="en-US" sz="1500" dirty="0"/>
          </a:p>
        </p:txBody>
      </p:sp>
      <p:sp>
        <p:nvSpPr>
          <p:cNvPr id="10" name="Heartland Steel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FEATURED 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rtland Steel frame"/>
          <p:cNvSpPr/>
          <p:nvPr/>
        </p:nvSpPr>
        <p:spPr>
          <a:xfrm>
            <a:off x="886968" y="1840604"/>
            <a:ext cx="5394960" cy="3359672"/>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eartland Steel dot 1"/>
          <p:cNvSpPr/>
          <p:nvPr/>
        </p:nvSpPr>
        <p:spPr>
          <a:xfrm>
            <a:off x="977494" y="1909001"/>
            <a:ext cx="64374" cy="64374"/>
          </a:xfrm>
          <a:prstGeom prst="ellipse">
            <a:avLst/>
          </a:prstGeom>
          <a:solidFill>
            <a:srgbClr val="3B342A"/>
          </a:solidFill>
          <a:ln w="12700">
            <a:solidFill>
              <a:srgbClr val="3B342A"/>
            </a:solidFill>
            <a:prstDash val="solid"/>
          </a:ln>
        </p:spPr>
      </p:sp>
      <p:sp>
        <p:nvSpPr>
          <p:cNvPr id="4" name="Heartland Steel dot 2"/>
          <p:cNvSpPr/>
          <p:nvPr/>
        </p:nvSpPr>
        <p:spPr>
          <a:xfrm>
            <a:off x="1086929" y="1909001"/>
            <a:ext cx="64374" cy="64374"/>
          </a:xfrm>
          <a:prstGeom prst="ellipse">
            <a:avLst/>
          </a:prstGeom>
          <a:solidFill>
            <a:srgbClr val="3B342A"/>
          </a:solidFill>
          <a:ln w="12700">
            <a:solidFill>
              <a:srgbClr val="3B342A"/>
            </a:solidFill>
            <a:prstDash val="solid"/>
          </a:ln>
        </p:spPr>
      </p:sp>
      <p:sp>
        <p:nvSpPr>
          <p:cNvPr id="5" name="Heartland Steel dot 3"/>
          <p:cNvSpPr/>
          <p:nvPr/>
        </p:nvSpPr>
        <p:spPr>
          <a:xfrm>
            <a:off x="1196364" y="1909001"/>
            <a:ext cx="64374" cy="64374"/>
          </a:xfrm>
          <a:prstGeom prst="ellipse">
            <a:avLst/>
          </a:prstGeom>
          <a:solidFill>
            <a:srgbClr val="3B342A"/>
          </a:solidFill>
          <a:ln w="12700">
            <a:solidFill>
              <a:srgbClr val="3B342A"/>
            </a:solidFill>
            <a:prstDash val="solid"/>
          </a:ln>
        </p:spPr>
      </p:sp>
      <p:pic>
        <p:nvPicPr>
          <p:cNvPr id="6" name="Heartland Steel screenshot" descr="Heartland Steel homepage concept">    </p:cNvPr>
          <p:cNvPicPr>
            <a:picLocks noChangeAspect="1"/>
          </p:cNvPicPr>
          <p:nvPr/>
        </p:nvPicPr>
        <p:blipFill>
          <a:blip r:embed="rId1"/>
          <a:stretch>
            <a:fillRect/>
          </a:stretch>
        </p:blipFill>
        <p:spPr>
          <a:xfrm>
            <a:off x="886968" y="2041772"/>
            <a:ext cx="5394960" cy="3158504"/>
          </a:xfrm>
          <a:prstGeom prst="rect">
            <a:avLst/>
          </a:prstGeom>
        </p:spPr>
      </p:pic>
      <p:sp>
        <p:nvSpPr>
          <p:cNvPr id="7" name="Heartland Steel live link"/>
          <p:cNvSpPr txBox="1"/>
          <p:nvPr/>
        </p:nvSpPr>
        <p:spPr>
          <a:xfrm>
            <a:off x="886968" y="5474596"/>
            <a:ext cx="2103120" cy="347472"/>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eartland Steel live site" history="1" highlightClick="0" endSnd="0">
                  <a:extLst>
                    <a:ext uri="{A12FA001-AC4F-418D-AE19-62706E023703}">
                      <ahyp:hlinkClr xmlns:ahyp="http://schemas.microsoft.com/office/drawing/2018/hyperlinkcolor" val="tx"/>
                    </a:ext>
                  </a:extLst>
                </a:hlinkClick>
              </a:rPr>
              <a:t>OPEN THE LIVE SITE ↗</a:t>
            </a:r>
            <a:endParaRPr lang="en-US" sz="1000" dirty="0"/>
          </a:p>
        </p:txBody>
      </p:sp>
      <p:sp>
        <p:nvSpPr>
          <p:cNvPr id="8" name="Text 5"/>
          <p:cNvSpPr txBox="1"/>
          <p:nvPr/>
        </p:nvSpPr>
        <p:spPr>
          <a:xfrm>
            <a:off x="6720840" y="1097280"/>
            <a:ext cx="4583887"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FEATURED B · 04</a:t>
            </a:r>
            <a:endParaRPr lang="en-US" sz="1100" dirty="0"/>
          </a:p>
        </p:txBody>
      </p:sp>
      <p:sp>
        <p:nvSpPr>
          <p:cNvPr id="9" name="Text 6"/>
          <p:cNvSpPr txBox="1"/>
          <p:nvPr/>
        </p:nvSpPr>
        <p:spPr>
          <a:xfrm>
            <a:off x="6720840" y="1417320"/>
            <a:ext cx="4583887" cy="685800"/>
          </a:xfrm>
          <a:prstGeom prst="rect">
            <a:avLst/>
          </a:prstGeom>
          <a:noFill/>
          <a:ln/>
        </p:spPr>
        <p:txBody>
          <a:bodyPr wrap="square" lIns="0" tIns="0" rIns="0" bIns="0" rtlCol="0" anchor="t"/>
          <a:lstStyle/>
          <a:p>
            <a:pPr indent="0" marL="0">
              <a:buNone/>
            </a:pPr>
            <a:r>
              <a:rPr lang="en-US" sz="3800" b="1" dirty="0">
                <a:solidFill>
                  <a:schemeClr val="tx1"/>
                </a:solidFill>
                <a:latin typeface="Cambria" pitchFamily="34" charset="0"/>
                <a:ea typeface="Cambria" pitchFamily="34" charset="-122"/>
                <a:cs typeface="Cambria" pitchFamily="34" charset="-120"/>
              </a:rPr>
              <a:t>Heartland Steel</a:t>
            </a:r>
            <a:endParaRPr lang="en-US" sz="3800" dirty="0"/>
          </a:p>
        </p:txBody>
      </p:sp>
      <p:sp>
        <p:nvSpPr>
          <p:cNvPr id="10" name="Text 7"/>
          <p:cNvSpPr txBox="1"/>
          <p:nvPr/>
        </p:nvSpPr>
        <p:spPr>
          <a:xfrm>
            <a:off x="6720840" y="2194560"/>
            <a:ext cx="4583887" cy="777240"/>
          </a:xfrm>
          <a:prstGeom prst="rect">
            <a:avLst/>
          </a:prstGeom>
          <a:noFill/>
          <a:ln/>
        </p:spPr>
        <p:txBody>
          <a:bodyPr wrap="square" lIns="0" tIns="0" rIns="0" bIns="0" rtlCol="0" anchor="t"/>
          <a:lstStyle/>
          <a:p>
            <a:pPr indent="0" marL="0">
              <a:buNone/>
            </a:pPr>
            <a:r>
              <a:rPr lang="en-US" sz="1800" i="1" dirty="0">
                <a:solidFill>
                  <a:schemeClr val="accent2"/>
                </a:solidFill>
                <a:latin typeface="Cambria" pitchFamily="34" charset="0"/>
                <a:ea typeface="Cambria" pitchFamily="34" charset="-122"/>
                <a:cs typeface="Cambria" pitchFamily="34" charset="-120"/>
              </a:rPr>
              <a:t>“Heavy-duty product and people who answer the phone.”</a:t>
            </a:r>
            <a:endParaRPr lang="en-US" sz="1800" dirty="0"/>
          </a:p>
        </p:txBody>
      </p:sp>
      <p:sp>
        <p:nvSpPr>
          <p:cNvPr id="11" name="Text 8"/>
          <p:cNvSpPr txBox="1"/>
          <p:nvPr/>
        </p:nvSpPr>
        <p:spPr>
          <a:xfrm>
            <a:off x="6720840" y="3108960"/>
            <a:ext cx="4583887" cy="251460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Built for the buyer who runs trucks. </a:t>
            </a:r>
            <a:pPr indent="0" marL="0">
              <a:spcAft>
                <a:spcPts val="900"/>
              </a:spcAft>
              <a:buNone/>
            </a:pPr>
            <a:r>
              <a:rPr lang="en-US" sz="1500" dirty="0">
                <a:solidFill>
                  <a:schemeClr val="tx1"/>
                </a:solidFill>
              </a:rPr>
              <a:t>Speaks ops, not lifestyle.</a:t>
            </a:r>
            <a:endParaRPr lang="en-US" sz="1500" dirty="0"/>
          </a:p>
          <a:p>
            <a:pPr marL="203200" indent="-203200">
              <a:spcAft>
                <a:spcPts val="900"/>
              </a:spcAft>
              <a:buSzPct val="100000"/>
              <a:buChar char="•"/>
            </a:pPr>
            <a:r>
              <a:rPr lang="en-US" sz="1500" b="1" dirty="0">
                <a:solidFill>
                  <a:schemeClr val="tx1"/>
                </a:solidFill>
              </a:rPr>
              <a:t>Dark stage lets the mark pop. </a:t>
            </a:r>
            <a:pPr indent="0" marL="0">
              <a:spcAft>
                <a:spcPts val="900"/>
              </a:spcAft>
              <a:buNone/>
            </a:pPr>
            <a:r>
              <a:rPr lang="en-US" sz="1500" dirty="0">
                <a:solidFill>
                  <a:schemeClr val="tx1"/>
                </a:solidFill>
              </a:rPr>
              <a:t>The gold logo has never looked stronger.</a:t>
            </a:r>
            <a:endParaRPr lang="en-US" sz="1500" dirty="0"/>
          </a:p>
          <a:p>
            <a:pPr marL="203200" indent="-203200">
              <a:spcAft>
                <a:spcPts val="900"/>
              </a:spcAft>
              <a:buSzPct val="100000"/>
              <a:buChar char="•"/>
            </a:pPr>
            <a:r>
              <a:rPr lang="en-US" sz="1500" b="1" dirty="0">
                <a:solidFill>
                  <a:schemeClr val="tx1"/>
                </a:solidFill>
              </a:rPr>
              <a:t>Most distinct in the market. </a:t>
            </a:r>
            <a:pPr indent="0" marL="0">
              <a:spcAft>
                <a:spcPts val="900"/>
              </a:spcAft>
              <a:buNone/>
            </a:pPr>
            <a:r>
              <a:rPr lang="en-US" sz="1500" dirty="0">
                <a:solidFill>
                  <a:schemeClr val="tx1"/>
                </a:solidFill>
              </a:rPr>
              <a:t>Nobody in our space looks like this.</a:t>
            </a:r>
            <a:endParaRPr lang="en-US" sz="1500" dirty="0"/>
          </a:p>
          <a:p>
            <a:pPr marL="203200" indent="-203200">
              <a:spcAft>
                <a:spcPts val="900"/>
              </a:spcAft>
              <a:buSzPct val="100000"/>
              <a:buChar char="•"/>
            </a:pPr>
            <a:r>
              <a:rPr lang="en-US" sz="1500" b="1" dirty="0">
                <a:solidFill>
                  <a:schemeClr val="accent3"/>
                </a:solidFill>
              </a:rPr>
              <a:t>Watch: </a:t>
            </a:r>
            <a:pPr indent="0" marL="0">
              <a:spcAft>
                <a:spcPts val="900"/>
              </a:spcAft>
              <a:buNone/>
            </a:pPr>
            <a:r>
              <a:rPr lang="en-US" sz="1500" dirty="0">
                <a:solidFill>
                  <a:schemeClr val="accent3"/>
                </a:solidFill>
              </a:rPr>
              <a:t>Loudest option. The orange accent needs tuning toward our gold.</a:t>
            </a:r>
            <a:endParaRPr lang="en-US" sz="1500" dirty="0"/>
          </a:p>
        </p:txBody>
      </p:sp>
      <p:sp>
        <p:nvSpPr>
          <p:cNvPr id="12" name="swatch 1"/>
          <p:cNvSpPr/>
          <p:nvPr/>
        </p:nvSpPr>
        <p:spPr>
          <a:xfrm>
            <a:off x="6720840" y="5760720"/>
            <a:ext cx="292608" cy="292608"/>
          </a:xfrm>
          <a:prstGeom prst="ellipse">
            <a:avLst/>
          </a:prstGeom>
          <a:solidFill>
            <a:srgbClr val="E08A2C"/>
          </a:solidFill>
          <a:ln w="6350">
            <a:solidFill>
              <a:srgbClr val="CFC4AE"/>
            </a:solidFill>
            <a:prstDash val="solid"/>
          </a:ln>
        </p:spPr>
      </p:sp>
      <p:sp>
        <p:nvSpPr>
          <p:cNvPr id="13" name="swatch 2"/>
          <p:cNvSpPr/>
          <p:nvPr/>
        </p:nvSpPr>
        <p:spPr>
          <a:xfrm>
            <a:off x="7104888" y="5760720"/>
            <a:ext cx="292608" cy="292608"/>
          </a:xfrm>
          <a:prstGeom prst="ellipse">
            <a:avLst/>
          </a:prstGeom>
          <a:solidFill>
            <a:srgbClr val="141210"/>
          </a:solidFill>
          <a:ln w="6350">
            <a:solidFill>
              <a:srgbClr val="CFC4AE"/>
            </a:solidFill>
            <a:prstDash val="solid"/>
          </a:ln>
        </p:spPr>
      </p:sp>
      <p:sp>
        <p:nvSpPr>
          <p:cNvPr id="14" name="swatch 3"/>
          <p:cNvSpPr/>
          <p:nvPr/>
        </p:nvSpPr>
        <p:spPr>
          <a:xfrm>
            <a:off x="7488936" y="5760720"/>
            <a:ext cx="292608" cy="292608"/>
          </a:xfrm>
          <a:prstGeom prst="ellipse">
            <a:avLst/>
          </a:prstGeom>
          <a:solidFill>
            <a:srgbClr val="EFE7DA"/>
          </a:solidFill>
          <a:ln w="6350">
            <a:solidFill>
              <a:srgbClr val="CFC4AE"/>
            </a:solidFill>
            <a:prstDash val="solid"/>
          </a:ln>
        </p:spPr>
      </p:sp>
      <p:sp>
        <p:nvSpPr>
          <p:cNvPr id="15" name="Text 12"/>
          <p:cNvSpPr txBox="1"/>
          <p:nvPr/>
        </p:nvSpPr>
        <p:spPr>
          <a:xfrm>
            <a:off x="8001000" y="5824728"/>
            <a:ext cx="3303727"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ORANGE ON DARK · OPS DRAMA</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ALSO ON THE TABLE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other three</a:t>
            </a:r>
            <a:endParaRPr lang="en-US" sz="4400" dirty="0"/>
          </a:p>
        </p:txBody>
      </p:sp>
      <p:sp>
        <p:nvSpPr>
          <p:cNvPr id="4" name="Piney Woods frame"/>
          <p:cNvSpPr/>
          <p:nvPr/>
        </p:nvSpPr>
        <p:spPr>
          <a:xfrm>
            <a:off x="886968"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5" name="Piney Woods dot 1"/>
          <p:cNvSpPr/>
          <p:nvPr/>
        </p:nvSpPr>
        <p:spPr>
          <a:xfrm>
            <a:off x="952805" y="2290023"/>
            <a:ext cx="46817" cy="46817"/>
          </a:xfrm>
          <a:prstGeom prst="ellipse">
            <a:avLst/>
          </a:prstGeom>
          <a:solidFill>
            <a:srgbClr val="3B342A"/>
          </a:solidFill>
          <a:ln w="12700">
            <a:solidFill>
              <a:srgbClr val="3B342A"/>
            </a:solidFill>
            <a:prstDash val="solid"/>
          </a:ln>
        </p:spPr>
      </p:sp>
      <p:sp>
        <p:nvSpPr>
          <p:cNvPr id="6" name="Piney Woods dot 2"/>
          <p:cNvSpPr/>
          <p:nvPr/>
        </p:nvSpPr>
        <p:spPr>
          <a:xfrm>
            <a:off x="1032394" y="2290023"/>
            <a:ext cx="46817" cy="46817"/>
          </a:xfrm>
          <a:prstGeom prst="ellipse">
            <a:avLst/>
          </a:prstGeom>
          <a:solidFill>
            <a:srgbClr val="3B342A"/>
          </a:solidFill>
          <a:ln w="12700">
            <a:solidFill>
              <a:srgbClr val="3B342A"/>
            </a:solidFill>
            <a:prstDash val="solid"/>
          </a:ln>
        </p:spPr>
      </p:sp>
      <p:sp>
        <p:nvSpPr>
          <p:cNvPr id="7" name="Piney Woods dot 3"/>
          <p:cNvSpPr/>
          <p:nvPr/>
        </p:nvSpPr>
        <p:spPr>
          <a:xfrm>
            <a:off x="1111984" y="2290023"/>
            <a:ext cx="46817" cy="46817"/>
          </a:xfrm>
          <a:prstGeom prst="ellipse">
            <a:avLst/>
          </a:prstGeom>
          <a:solidFill>
            <a:srgbClr val="3B342A"/>
          </a:solidFill>
          <a:ln w="12700">
            <a:solidFill>
              <a:srgbClr val="3B342A"/>
            </a:solidFill>
            <a:prstDash val="solid"/>
          </a:ln>
        </p:spPr>
      </p:sp>
      <p:pic>
        <p:nvPicPr>
          <p:cNvPr id="8" name="Piney Woods screenshot" descr="Piney Woods homepage concept">    </p:cNvPr>
          <p:cNvPicPr>
            <a:picLocks noChangeAspect="1"/>
          </p:cNvPicPr>
          <p:nvPr/>
        </p:nvPicPr>
        <p:blipFill>
          <a:blip r:embed="rId1"/>
          <a:stretch>
            <a:fillRect/>
          </a:stretch>
        </p:blipFill>
        <p:spPr>
          <a:xfrm>
            <a:off x="886968" y="2386584"/>
            <a:ext cx="3198266" cy="1872440"/>
          </a:xfrm>
          <a:prstGeom prst="rect">
            <a:avLst/>
          </a:prstGeom>
        </p:spPr>
      </p:pic>
      <p:sp>
        <p:nvSpPr>
          <p:cNvPr id="9" name="Text 6"/>
          <p:cNvSpPr txBox="1"/>
          <p:nvPr/>
        </p:nvSpPr>
        <p:spPr>
          <a:xfrm>
            <a:off x="886968"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02 · FOREST GREEN · HANDSHAKE TRUST</a:t>
            </a:r>
            <a:endParaRPr lang="en-US" sz="1000" dirty="0"/>
          </a:p>
        </p:txBody>
      </p:sp>
      <p:sp>
        <p:nvSpPr>
          <p:cNvPr id="10" name="Text 7"/>
          <p:cNvSpPr txBox="1"/>
          <p:nvPr/>
        </p:nvSpPr>
        <p:spPr>
          <a:xfrm>
            <a:off x="886968"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Piney Woods</a:t>
            </a:r>
            <a:endParaRPr lang="en-US" sz="2200" dirty="0"/>
          </a:p>
        </p:txBody>
      </p:sp>
      <p:sp>
        <p:nvSpPr>
          <p:cNvPr id="11" name="Text 8"/>
          <p:cNvSpPr txBox="1"/>
          <p:nvPr/>
        </p:nvSpPr>
        <p:spPr>
          <a:xfrm>
            <a:off x="886968"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Rooted, calm, organic. The handshake you can trust.</a:t>
            </a:r>
            <a:endParaRPr lang="en-US" sz="1400" dirty="0"/>
          </a:p>
        </p:txBody>
      </p:sp>
      <p:sp>
        <p:nvSpPr>
          <p:cNvPr id="12" name="Open Water frame"/>
          <p:cNvSpPr/>
          <p:nvPr/>
        </p:nvSpPr>
        <p:spPr>
          <a:xfrm>
            <a:off x="4496714"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13" name="Open Water dot 1"/>
          <p:cNvSpPr/>
          <p:nvPr/>
        </p:nvSpPr>
        <p:spPr>
          <a:xfrm>
            <a:off x="4562551" y="2290023"/>
            <a:ext cx="46817" cy="46817"/>
          </a:xfrm>
          <a:prstGeom prst="ellipse">
            <a:avLst/>
          </a:prstGeom>
          <a:solidFill>
            <a:srgbClr val="3B342A"/>
          </a:solidFill>
          <a:ln w="12700">
            <a:solidFill>
              <a:srgbClr val="3B342A"/>
            </a:solidFill>
            <a:prstDash val="solid"/>
          </a:ln>
        </p:spPr>
      </p:sp>
      <p:sp>
        <p:nvSpPr>
          <p:cNvPr id="14" name="Open Water dot 2"/>
          <p:cNvSpPr/>
          <p:nvPr/>
        </p:nvSpPr>
        <p:spPr>
          <a:xfrm>
            <a:off x="4642141" y="2290023"/>
            <a:ext cx="46817" cy="46817"/>
          </a:xfrm>
          <a:prstGeom prst="ellipse">
            <a:avLst/>
          </a:prstGeom>
          <a:solidFill>
            <a:srgbClr val="3B342A"/>
          </a:solidFill>
          <a:ln w="12700">
            <a:solidFill>
              <a:srgbClr val="3B342A"/>
            </a:solidFill>
            <a:prstDash val="solid"/>
          </a:ln>
        </p:spPr>
      </p:sp>
      <p:sp>
        <p:nvSpPr>
          <p:cNvPr id="15" name="Open Water dot 3"/>
          <p:cNvSpPr/>
          <p:nvPr/>
        </p:nvSpPr>
        <p:spPr>
          <a:xfrm>
            <a:off x="4721730" y="2290023"/>
            <a:ext cx="46817" cy="46817"/>
          </a:xfrm>
          <a:prstGeom prst="ellipse">
            <a:avLst/>
          </a:prstGeom>
          <a:solidFill>
            <a:srgbClr val="3B342A"/>
          </a:solidFill>
          <a:ln w="12700">
            <a:solidFill>
              <a:srgbClr val="3B342A"/>
            </a:solidFill>
            <a:prstDash val="solid"/>
          </a:ln>
        </p:spPr>
      </p:sp>
      <p:pic>
        <p:nvPicPr>
          <p:cNvPr id="16" name="Open Water screenshot" descr="Open Water homepage concept">    </p:cNvPr>
          <p:cNvPicPr>
            <a:picLocks noChangeAspect="1"/>
          </p:cNvPicPr>
          <p:nvPr/>
        </p:nvPicPr>
        <p:blipFill>
          <a:blip r:embed="rId2"/>
          <a:stretch>
            <a:fillRect/>
          </a:stretch>
        </p:blipFill>
        <p:spPr>
          <a:xfrm>
            <a:off x="4496714" y="2386584"/>
            <a:ext cx="3198266" cy="1872440"/>
          </a:xfrm>
          <a:prstGeom prst="rect">
            <a:avLst/>
          </a:prstGeom>
        </p:spPr>
      </p:pic>
      <p:sp>
        <p:nvSpPr>
          <p:cNvPr id="17" name="Text 13"/>
          <p:cNvSpPr txBox="1"/>
          <p:nvPr/>
        </p:nvSpPr>
        <p:spPr>
          <a:xfrm>
            <a:off x="4496714"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03 · TEAL / SAND · B2B POLISH</a:t>
            </a:r>
            <a:endParaRPr lang="en-US" sz="1000" dirty="0"/>
          </a:p>
        </p:txBody>
      </p:sp>
      <p:sp>
        <p:nvSpPr>
          <p:cNvPr id="18" name="Text 14"/>
          <p:cNvSpPr txBox="1"/>
          <p:nvPr/>
        </p:nvSpPr>
        <p:spPr>
          <a:xfrm>
            <a:off x="4496714"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Open Water</a:t>
            </a:r>
            <a:endParaRPr lang="en-US" sz="2200" dirty="0"/>
          </a:p>
        </p:txBody>
      </p:sp>
      <p:sp>
        <p:nvSpPr>
          <p:cNvPr id="19" name="Text 15"/>
          <p:cNvSpPr txBox="1"/>
          <p:nvPr/>
        </p:nvSpPr>
        <p:spPr>
          <a:xfrm>
            <a:off x="4496714"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Crisp, corporate, confident. A supplier that runs like a serious business.</a:t>
            </a:r>
            <a:endParaRPr lang="en-US" sz="1400" dirty="0"/>
          </a:p>
        </p:txBody>
      </p:sp>
      <p:sp>
        <p:nvSpPr>
          <p:cNvPr id="20" name="Hill Country frame"/>
          <p:cNvSpPr/>
          <p:nvPr/>
        </p:nvSpPr>
        <p:spPr>
          <a:xfrm>
            <a:off x="8106461" y="2240280"/>
            <a:ext cx="3198266" cy="2018744"/>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21" name="Hill Country dot 1"/>
          <p:cNvSpPr/>
          <p:nvPr/>
        </p:nvSpPr>
        <p:spPr>
          <a:xfrm>
            <a:off x="8172298" y="2290023"/>
            <a:ext cx="46817" cy="46817"/>
          </a:xfrm>
          <a:prstGeom prst="ellipse">
            <a:avLst/>
          </a:prstGeom>
          <a:solidFill>
            <a:srgbClr val="3B342A"/>
          </a:solidFill>
          <a:ln w="12700">
            <a:solidFill>
              <a:srgbClr val="3B342A"/>
            </a:solidFill>
            <a:prstDash val="solid"/>
          </a:ln>
        </p:spPr>
      </p:sp>
      <p:sp>
        <p:nvSpPr>
          <p:cNvPr id="22" name="Hill Country dot 2"/>
          <p:cNvSpPr/>
          <p:nvPr/>
        </p:nvSpPr>
        <p:spPr>
          <a:xfrm>
            <a:off x="8251887" y="2290023"/>
            <a:ext cx="46817" cy="46817"/>
          </a:xfrm>
          <a:prstGeom prst="ellipse">
            <a:avLst/>
          </a:prstGeom>
          <a:solidFill>
            <a:srgbClr val="3B342A"/>
          </a:solidFill>
          <a:ln w="12700">
            <a:solidFill>
              <a:srgbClr val="3B342A"/>
            </a:solidFill>
            <a:prstDash val="solid"/>
          </a:ln>
        </p:spPr>
      </p:sp>
      <p:sp>
        <p:nvSpPr>
          <p:cNvPr id="23" name="Hill Country dot 3"/>
          <p:cNvSpPr/>
          <p:nvPr/>
        </p:nvSpPr>
        <p:spPr>
          <a:xfrm>
            <a:off x="8331476" y="2290023"/>
            <a:ext cx="46817" cy="46817"/>
          </a:xfrm>
          <a:prstGeom prst="ellipse">
            <a:avLst/>
          </a:prstGeom>
          <a:solidFill>
            <a:srgbClr val="3B342A"/>
          </a:solidFill>
          <a:ln w="12700">
            <a:solidFill>
              <a:srgbClr val="3B342A"/>
            </a:solidFill>
            <a:prstDash val="solid"/>
          </a:ln>
        </p:spPr>
      </p:sp>
      <p:pic>
        <p:nvPicPr>
          <p:cNvPr id="24" name="Hill Country screenshot" descr="Hill Country homepage concept">    </p:cNvPr>
          <p:cNvPicPr>
            <a:picLocks noChangeAspect="1"/>
          </p:cNvPicPr>
          <p:nvPr/>
        </p:nvPicPr>
        <p:blipFill>
          <a:blip r:embed="rId3"/>
          <a:stretch>
            <a:fillRect/>
          </a:stretch>
        </p:blipFill>
        <p:spPr>
          <a:xfrm>
            <a:off x="8106461" y="2386584"/>
            <a:ext cx="3198266" cy="1872440"/>
          </a:xfrm>
          <a:prstGeom prst="rect">
            <a:avLst/>
          </a:prstGeom>
        </p:spPr>
      </p:pic>
      <p:sp>
        <p:nvSpPr>
          <p:cNvPr id="25" name="Text 20"/>
          <p:cNvSpPr txBox="1"/>
          <p:nvPr/>
        </p:nvSpPr>
        <p:spPr>
          <a:xfrm>
            <a:off x="8106461" y="4533344"/>
            <a:ext cx="3198266" cy="228600"/>
          </a:xfrm>
          <a:prstGeom prst="rect">
            <a:avLst/>
          </a:prstGeom>
          <a:noFill/>
          <a:ln/>
        </p:spPr>
        <p:txBody>
          <a:bodyPr wrap="square" lIns="0" tIns="0" rIns="0" bIns="0" rtlCol="0" anchor="t"/>
          <a:lstStyle/>
          <a:p>
            <a:pPr indent="0" marL="0">
              <a:buNone/>
            </a:pPr>
            <a:r>
              <a:rPr lang="en-US" sz="1000" b="1" spc="150" kern="0" dirty="0">
                <a:solidFill>
                  <a:schemeClr val="accent2"/>
                </a:solidFill>
              </a:rPr>
              <a:t>05 · TERRACOTTA · TEXAS HOSPITALITY</a:t>
            </a:r>
            <a:endParaRPr lang="en-US" sz="1000" dirty="0"/>
          </a:p>
        </p:txBody>
      </p:sp>
      <p:sp>
        <p:nvSpPr>
          <p:cNvPr id="26" name="Text 21"/>
          <p:cNvSpPr txBox="1"/>
          <p:nvPr/>
        </p:nvSpPr>
        <p:spPr>
          <a:xfrm>
            <a:off x="8106461" y="4789376"/>
            <a:ext cx="3198266"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Hill Country</a:t>
            </a:r>
            <a:endParaRPr lang="en-US" sz="2200" dirty="0"/>
          </a:p>
        </p:txBody>
      </p:sp>
      <p:sp>
        <p:nvSpPr>
          <p:cNvPr id="27" name="Text 22"/>
          <p:cNvSpPr txBox="1"/>
          <p:nvPr/>
        </p:nvSpPr>
        <p:spPr>
          <a:xfrm>
            <a:off x="8106461" y="5219144"/>
            <a:ext cx="3198266" cy="685800"/>
          </a:xfrm>
          <a:prstGeom prst="rect">
            <a:avLst/>
          </a:prstGeom>
          <a:noFill/>
          <a:ln/>
        </p:spPr>
        <p:txBody>
          <a:bodyPr wrap="square" lIns="0" tIns="0" rIns="0" bIns="0" rtlCol="0" anchor="t"/>
          <a:lstStyle/>
          <a:p>
            <a:pPr indent="0" marL="0">
              <a:buNone/>
            </a:pPr>
            <a:r>
              <a:rPr lang="en-US" sz="1400" dirty="0">
                <a:solidFill>
                  <a:schemeClr val="accent3"/>
                </a:solidFill>
              </a:rPr>
              <a:t>Warm, friendly, welcoming. Pull up a chair — we’ll take care of you.</a:t>
            </a:r>
            <a:endParaRPr lang="en-US" sz="14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ALL FIVE, SIDE BY SIDE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Feeling, audience, watch-outs</a:t>
            </a:r>
            <a:endParaRPr lang="en-US" sz="440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886968" y="2240280"/>
          <a:ext cx="10417759" cy="914400"/>
        </p:xfrm>
        <a:graphic>
          <a:graphicData uri="http://schemas.openxmlformats.org/drawingml/2006/table">
            <a:tbl>
              <a:tblPr/>
              <a:tblGrid>
                <a:gridCol w="2286000"/>
                <a:gridCol w="2194560"/>
                <a:gridCol w="2651760"/>
                <a:gridCol w="3282696"/>
              </a:tblGrid>
              <a:tr h="365760">
                <a:tc>
                  <a:txBody>
                    <a:bodyPr/>
                    <a:lstStyle/>
                    <a:p>
                      <a:pPr indent="0" marL="0">
                        <a:buNone/>
                      </a:pPr>
                      <a:r>
                        <a:rPr lang="en-US" sz="1000" b="1" spc="200" kern="0" dirty="0">
                          <a:solidFill>
                            <a:schemeClr val="accent2"/>
                          </a:solidFill>
                        </a:rPr>
                        <a:t>DIRECTION</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FEELING</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SPEAKS TO</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WATCH OUT FOR</a:t>
                      </a:r>
                      <a:endParaRPr lang="en-US" sz="1000" dirty="0"/>
                    </a:p>
                  </a:txBody>
                  <a:tcPr marL="109728"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Big Sky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Warm, editorial, timeless.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Farm, ranch, and long-time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Can read soft or lifestyle to hard-nosed fleet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Piney Woods</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Rooted, calm, organic.</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Relationship buyers who value calm and trust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Green pulls away from the gold mark; forest isn’t oilfield TX-LA-OK.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Open Water</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Crisp, corporate, confident.</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Procurement and larger B2B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Offshore rig reads as drilling, not distribution. Coolest temperature.</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Heartland Steel  ★</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Bold, cinematic, industrial.</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tx1"/>
                          </a:solidFill>
                        </a:rPr>
                        <a:t>Fleet, oilfield, and operations buyers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c>
                  <a:txBody>
                    <a:bodyPr/>
                    <a:lstStyle/>
                    <a:p>
                      <a:pPr indent="0" marL="0">
                        <a:buNone/>
                      </a:pPr>
                      <a:r>
                        <a:rPr lang="en-US" sz="1400" dirty="0">
                          <a:solidFill>
                            <a:schemeClr val="accent3"/>
                          </a:solidFill>
                        </a:rPr>
                        <a:t>Loudest option. The orange accent needs tuning toward our gold.</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solidFill>
                      <a:srgbClr val="F1E4C6"/>
                    </a:solidFill>
                  </a:tcPr>
                </a:tc>
              </a:tr>
              <a:tr h="658368">
                <a:tc>
                  <a:txBody>
                    <a:bodyPr/>
                    <a:lstStyle/>
                    <a:p>
                      <a:pPr indent="0" marL="0">
                        <a:buNone/>
                      </a:pPr>
                      <a:r>
                        <a:rPr lang="en-US" sz="1600" b="1" dirty="0">
                          <a:solidFill>
                            <a:schemeClr val="tx1"/>
                          </a:solidFill>
                          <a:latin typeface="Cambria" pitchFamily="34" charset="0"/>
                          <a:ea typeface="Cambria" pitchFamily="34" charset="-122"/>
                          <a:cs typeface="Cambria" pitchFamily="34" charset="-120"/>
                        </a:rPr>
                        <a:t>Hill Country</a:t>
                      </a:r>
                      <a:endParaRPr lang="en-US" sz="1600" dirty="0">
                        <a:latin typeface="Cambria" charset="0"/>
                        <a:ea typeface="Cambria" charset="0"/>
                        <a:cs typeface="Cambria" charset="0"/>
                      </a:endParaRPr>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Warm, friendly, welcoming.</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tx1"/>
                          </a:solidFill>
                        </a:rPr>
                        <a:t>Smaller and first-time accounts</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400" dirty="0">
                          <a:solidFill>
                            <a:schemeClr val="accent3"/>
                          </a:solidFill>
                        </a:rPr>
                        <a:t>Most consumer-feeling; terracotta competes with the gold mark.</a:t>
                      </a:r>
                      <a:endParaRPr lang="en-US" sz="1400" dirty="0"/>
                    </a:p>
                  </a:txBody>
                  <a:tcPr marL="109728"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989320"/>
            <a:ext cx="2743200" cy="228600"/>
          </a:xfrm>
          <a:prstGeom prst="rect">
            <a:avLst/>
          </a:prstGeom>
          <a:noFill/>
          <a:ln/>
        </p:spPr>
        <p:txBody>
          <a:bodyPr wrap="square" lIns="0" tIns="0" rIns="0" bIns="0" rtlCol="0" anchor="t"/>
          <a:lstStyle/>
          <a:p>
            <a:pPr indent="0" marL="0">
              <a:buNone/>
            </a:pPr>
            <a:r>
              <a:rPr lang="en-US" sz="1100" dirty="0">
                <a:solidFill>
                  <a:schemeClr val="accent3"/>
                </a:solidFill>
              </a:rPr>
              <a:t>★ featured pair</a:t>
            </a:r>
            <a:endParaRPr lang="en-US" sz="11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HOW THE SITE CONVERTS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Booking is built in — and it wears whichever face we pick</a:t>
            </a:r>
            <a:endParaRPr lang="en-US" sz="4400" dirty="0"/>
          </a:p>
        </p:txBody>
      </p:sp>
      <p:pic>
        <p:nvPicPr>
          <p:cNvPr id="4" name="Big Sky matrix" descr="Big Sky booking matrix">    </p:cNvPr>
          <p:cNvPicPr>
            <a:picLocks noChangeAspect="1"/>
          </p:cNvPicPr>
          <p:nvPr/>
        </p:nvPicPr>
        <p:blipFill>
          <a:blip r:embed="rId1"/>
          <a:srcRect l="0" r="0" t="0" b="0"/>
          <a:stretch/>
        </p:blipFill>
        <p:spPr>
          <a:xfrm>
            <a:off x="886968" y="3154680"/>
            <a:ext cx="1900672" cy="1965960"/>
          </a:xfrm>
          <a:prstGeom prst="rect">
            <a:avLst/>
          </a:prstGeom>
          <a:effectLst>
            <a:outerShdw sx="100000" sy="100000" kx="0" ky="0" algn="bl" rotWithShape="0" blurRad="152400" dist="50800" dir="5400000">
              <a:srgbClr val="281C0A">
                <a:alpha val="30000"/>
              </a:srgbClr>
            </a:outerShdw>
          </a:effectLst>
        </p:spPr>
      </p:pic>
      <p:sp>
        <p:nvSpPr>
          <p:cNvPr id="5" name="Text 2"/>
          <p:cNvSpPr txBox="1"/>
          <p:nvPr/>
        </p:nvSpPr>
        <p:spPr>
          <a:xfrm>
            <a:off x="886968"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01 · BIG SKY</a:t>
            </a:r>
            <a:endParaRPr lang="en-US" sz="1000" dirty="0"/>
          </a:p>
        </p:txBody>
      </p:sp>
      <p:pic>
        <p:nvPicPr>
          <p:cNvPr id="6" name="Piney Woods matrix" descr="Piney Woods booking matrix">    </p:cNvPr>
          <p:cNvPicPr>
            <a:picLocks noChangeAspect="1"/>
          </p:cNvPicPr>
          <p:nvPr/>
        </p:nvPicPr>
        <p:blipFill>
          <a:blip r:embed="rId2"/>
          <a:srcRect l="0" r="0" t="0" b="0"/>
          <a:stretch/>
        </p:blipFill>
        <p:spPr>
          <a:xfrm>
            <a:off x="3016240" y="3154680"/>
            <a:ext cx="1900672" cy="1965960"/>
          </a:xfrm>
          <a:prstGeom prst="rect">
            <a:avLst/>
          </a:prstGeom>
          <a:effectLst>
            <a:outerShdw sx="100000" sy="100000" kx="0" ky="0" algn="bl" rotWithShape="0" blurRad="152400" dist="50800" dir="5400000">
              <a:srgbClr val="281C0A">
                <a:alpha val="30000"/>
              </a:srgbClr>
            </a:outerShdw>
          </a:effectLst>
        </p:spPr>
      </p:pic>
      <p:sp>
        <p:nvSpPr>
          <p:cNvPr id="7" name="Text 3"/>
          <p:cNvSpPr txBox="1"/>
          <p:nvPr/>
        </p:nvSpPr>
        <p:spPr>
          <a:xfrm>
            <a:off x="3016240"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02 · PINEY WOODS</a:t>
            </a:r>
            <a:endParaRPr lang="en-US" sz="1000" dirty="0"/>
          </a:p>
        </p:txBody>
      </p:sp>
      <p:pic>
        <p:nvPicPr>
          <p:cNvPr id="8" name="Open Water matrix" descr="Open Water booking matrix">    </p:cNvPr>
          <p:cNvPicPr>
            <a:picLocks noChangeAspect="1"/>
          </p:cNvPicPr>
          <p:nvPr/>
        </p:nvPicPr>
        <p:blipFill>
          <a:blip r:embed="rId3"/>
          <a:srcRect l="0" r="0" t="0" b="0"/>
          <a:stretch/>
        </p:blipFill>
        <p:spPr>
          <a:xfrm>
            <a:off x="5145512" y="3154680"/>
            <a:ext cx="1900672" cy="1965960"/>
          </a:xfrm>
          <a:prstGeom prst="rect">
            <a:avLst/>
          </a:prstGeom>
          <a:effectLst>
            <a:outerShdw sx="100000" sy="100000" kx="0" ky="0" algn="bl" rotWithShape="0" blurRad="152400" dist="50800" dir="5400000">
              <a:srgbClr val="281C0A">
                <a:alpha val="30000"/>
              </a:srgbClr>
            </a:outerShdw>
          </a:effectLst>
        </p:spPr>
      </p:pic>
      <p:sp>
        <p:nvSpPr>
          <p:cNvPr id="9" name="Text 4"/>
          <p:cNvSpPr txBox="1"/>
          <p:nvPr/>
        </p:nvSpPr>
        <p:spPr>
          <a:xfrm>
            <a:off x="5145512"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03 · OPEN WATER</a:t>
            </a:r>
            <a:endParaRPr lang="en-US" sz="1000" dirty="0"/>
          </a:p>
        </p:txBody>
      </p:sp>
      <p:pic>
        <p:nvPicPr>
          <p:cNvPr id="10" name="Heartland Steel matrix" descr="Heartland Steel booking matrix">    </p:cNvPr>
          <p:cNvPicPr>
            <a:picLocks noChangeAspect="1"/>
          </p:cNvPicPr>
          <p:nvPr/>
        </p:nvPicPr>
        <p:blipFill>
          <a:blip r:embed="rId4"/>
          <a:srcRect l="0" r="0" t="0" b="0"/>
          <a:stretch/>
        </p:blipFill>
        <p:spPr>
          <a:xfrm>
            <a:off x="7274784"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1" name="Text 5"/>
          <p:cNvSpPr txBox="1"/>
          <p:nvPr/>
        </p:nvSpPr>
        <p:spPr>
          <a:xfrm>
            <a:off x="7274784"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04 · HEARTLAND STEEL</a:t>
            </a:r>
            <a:endParaRPr lang="en-US" sz="1000" dirty="0"/>
          </a:p>
        </p:txBody>
      </p:sp>
      <p:pic>
        <p:nvPicPr>
          <p:cNvPr id="12" name="Hill Country matrix" descr="Hill Country booking matrix">    </p:cNvPr>
          <p:cNvPicPr>
            <a:picLocks noChangeAspect="1"/>
          </p:cNvPicPr>
          <p:nvPr/>
        </p:nvPicPr>
        <p:blipFill>
          <a:blip r:embed="rId5"/>
          <a:srcRect l="0" r="0" t="0" b="0"/>
          <a:stretch/>
        </p:blipFill>
        <p:spPr>
          <a:xfrm>
            <a:off x="9404055" y="3154680"/>
            <a:ext cx="1900672" cy="1965960"/>
          </a:xfrm>
          <a:prstGeom prst="rect">
            <a:avLst/>
          </a:prstGeom>
          <a:effectLst>
            <a:outerShdw sx="100000" sy="100000" kx="0" ky="0" algn="bl" rotWithShape="0" blurRad="152400" dist="50800" dir="5400000">
              <a:srgbClr val="281C0A">
                <a:alpha val="30000"/>
              </a:srgbClr>
            </a:outerShdw>
          </a:effectLst>
        </p:spPr>
      </p:pic>
      <p:sp>
        <p:nvSpPr>
          <p:cNvPr id="13" name="Text 6"/>
          <p:cNvSpPr txBox="1"/>
          <p:nvPr/>
        </p:nvSpPr>
        <p:spPr>
          <a:xfrm>
            <a:off x="9404055" y="5303520"/>
            <a:ext cx="1900672" cy="228600"/>
          </a:xfrm>
          <a:prstGeom prst="rect">
            <a:avLst/>
          </a:prstGeom>
          <a:noFill/>
          <a:ln/>
        </p:spPr>
        <p:txBody>
          <a:bodyPr wrap="square" lIns="0" tIns="0" rIns="0" bIns="0" rtlCol="0" anchor="t"/>
          <a:lstStyle/>
          <a:p>
            <a:pPr indent="0" marL="0">
              <a:buNone/>
            </a:pPr>
            <a:r>
              <a:rPr lang="en-US" sz="1000" b="1" spc="150" kern="0" dirty="0">
                <a:solidFill>
                  <a:schemeClr val="accent3"/>
                </a:solidFill>
              </a:rPr>
              <a:t>05 · HILL COUNTRY</a:t>
            </a:r>
            <a:endParaRPr lang="en-US" sz="10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hapter mark"/>
          <p:cNvSpPr txBox="1"/>
          <p:nvPr/>
        </p:nvSpPr>
        <p:spPr>
          <a:xfrm>
            <a:off x="7223760" y="4206240"/>
            <a:ext cx="4572000" cy="2377440"/>
          </a:xfrm>
          <a:prstGeom prst="rect">
            <a:avLst/>
          </a:prstGeom>
          <a:noFill/>
          <a:ln/>
        </p:spPr>
        <p:txBody>
          <a:bodyPr wrap="square" lIns="0" tIns="0" rIns="0" bIns="0" rtlCol="0" anchor="t"/>
          <a:lstStyle/>
          <a:p>
            <a:pPr algn="r" indent="0" marL="0">
              <a:buNone/>
            </a:pPr>
            <a:r>
              <a:rPr lang="en-US" sz="17000" dirty="0">
                <a:solidFill>
                  <a:schemeClr val="accent1">
                    <a:alpha val="15000"/>
                  </a:schemeClr>
                </a:solidFill>
                <a:latin typeface="Cambria" pitchFamily="34" charset="0"/>
                <a:ea typeface="Cambria" pitchFamily="34" charset="-122"/>
                <a:cs typeface="Cambria" pitchFamily="34" charset="-120"/>
              </a:rPr>
              <a:t>EOS</a:t>
            </a:r>
            <a:endParaRPr lang="en-US" sz="17000" dirty="0"/>
          </a:p>
        </p:txBody>
      </p:sp>
      <p:sp>
        <p:nvSpPr>
          <p:cNvPr id="3"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EOS · TRACTION</a:t>
            </a:r>
            <a:endParaRPr lang="en-US" sz="1100" dirty="0"/>
          </a:p>
        </p:txBody>
      </p:sp>
      <p:sp>
        <p:nvSpPr>
          <p:cNvPr id="4"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Accountability</a:t>
            </a:r>
            <a:endParaRPr lang="en-US" sz="5800" dirty="0"/>
          </a:p>
        </p:txBody>
      </p:sp>
      <p:sp>
        <p:nvSpPr>
          <p:cNvPr id="5"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Picking a design isn’t the finish line. It’s the first thing someone has to own.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ONE SEAT · ONE NAME</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If everyone owns it, </a:t>
            </a:r>
            <a:pPr algn="l" indent="0" marL="0">
              <a:buNone/>
            </a:pPr>
            <a:r>
              <a:rPr lang="en-US" sz="4400" b="1" i="1" dirty="0">
                <a:solidFill>
                  <a:schemeClr val="accent1"/>
                </a:solidFill>
                <a:latin typeface="Cambria" pitchFamily="34" charset="0"/>
                <a:ea typeface="Cambria" pitchFamily="34" charset="-122"/>
                <a:cs typeface="Cambria" pitchFamily="34" charset="-120"/>
              </a:rPr>
              <a:t>no one</a:t>
            </a:r>
            <a:pPr algn="l" indent="0" marL="0">
              <a:buNone/>
            </a:pPr>
            <a:r>
              <a:rPr lang="en-US" sz="4400" b="1" dirty="0">
                <a:solidFill>
                  <a:schemeClr val="bg2"/>
                </a:solidFill>
                <a:latin typeface="Cambria" pitchFamily="34" charset="0"/>
                <a:ea typeface="Cambria" pitchFamily="34" charset="-122"/>
                <a:cs typeface="Cambria" pitchFamily="34" charset="-120"/>
              </a:rPr>
              <a:t> owns it</a:t>
            </a:r>
            <a:endParaRPr lang="en-US" sz="4400" dirty="0"/>
          </a:p>
        </p:txBody>
      </p:sp>
      <p:sp>
        <p:nvSpPr>
          <p:cNvPr id="4" name="vague owner 1"/>
          <p:cNvSpPr txBox="1"/>
          <p:nvPr/>
        </p:nvSpPr>
        <p:spPr>
          <a:xfrm>
            <a:off x="8869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Everyone</a:t>
            </a:r>
            <a:endParaRPr lang="en-US" sz="1400" dirty="0"/>
          </a:p>
        </p:txBody>
      </p:sp>
      <p:sp>
        <p:nvSpPr>
          <p:cNvPr id="5" name="vague owner 2"/>
          <p:cNvSpPr txBox="1"/>
          <p:nvPr/>
        </p:nvSpPr>
        <p:spPr>
          <a:xfrm>
            <a:off x="24871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The team</a:t>
            </a:r>
            <a:endParaRPr lang="en-US" sz="1400" dirty="0"/>
          </a:p>
        </p:txBody>
      </p:sp>
      <p:sp>
        <p:nvSpPr>
          <p:cNvPr id="6" name="vague owner 3"/>
          <p:cNvSpPr txBox="1"/>
          <p:nvPr/>
        </p:nvSpPr>
        <p:spPr>
          <a:xfrm>
            <a:off x="4087368" y="3246120"/>
            <a:ext cx="1417320" cy="457200"/>
          </a:xfrm>
          <a:prstGeom prst="roundRect">
            <a:avLst>
              <a:gd name="adj" fmla="val 16000"/>
            </a:avLst>
          </a:prstGeom>
          <a:noFill/>
          <a:ln w="12700">
            <a:solidFill>
              <a:srgbClr val="5A5142"/>
            </a:solidFill>
            <a:prstDash val="dash"/>
          </a:ln>
        </p:spPr>
        <p:txBody>
          <a:bodyPr wrap="square" lIns="0" tIns="0" rIns="0" bIns="0" rtlCol="0" anchor="ctr"/>
          <a:lstStyle/>
          <a:p>
            <a:pPr algn="ctr" indent="0" marL="0">
              <a:buNone/>
            </a:pPr>
            <a:r>
              <a:rPr lang="en-US" sz="1400" dirty="0">
                <a:solidFill>
                  <a:srgbClr val="8C826F"/>
                </a:solidFill>
              </a:rPr>
              <a:t>Someone</a:t>
            </a:r>
            <a:endParaRPr lang="en-US" sz="1400" dirty="0"/>
          </a:p>
        </p:txBody>
      </p:sp>
      <p:sp>
        <p:nvSpPr>
          <p:cNvPr id="7" name="Text 5"/>
          <p:cNvSpPr txBox="1"/>
          <p:nvPr/>
        </p:nvSpPr>
        <p:spPr>
          <a:xfrm>
            <a:off x="5733288" y="3227832"/>
            <a:ext cx="548640" cy="457200"/>
          </a:xfrm>
          <a:prstGeom prst="rect">
            <a:avLst/>
          </a:prstGeom>
          <a:noFill/>
          <a:ln/>
        </p:spPr>
        <p:txBody>
          <a:bodyPr wrap="square" lIns="0" tIns="0" rIns="0" bIns="0" rtlCol="0" anchor="t"/>
          <a:lstStyle/>
          <a:p>
            <a:pPr algn="ctr" indent="0" marL="0">
              <a:buNone/>
            </a:pPr>
            <a:r>
              <a:rPr lang="en-US" sz="2600" dirty="0">
                <a:solidFill>
                  <a:schemeClr val="accent1"/>
                </a:solidFill>
              </a:rPr>
              <a:t>→</a:t>
            </a:r>
            <a:endParaRPr lang="en-US" sz="2600" dirty="0"/>
          </a:p>
        </p:txBody>
      </p:sp>
      <p:sp>
        <p:nvSpPr>
          <p:cNvPr id="8" name="one owner"/>
          <p:cNvSpPr txBox="1"/>
          <p:nvPr/>
        </p:nvSpPr>
        <p:spPr>
          <a:xfrm>
            <a:off x="6373368" y="3246120"/>
            <a:ext cx="1737360" cy="457200"/>
          </a:xfrm>
          <a:prstGeom prst="roundRect">
            <a:avLst>
              <a:gd name="adj" fmla="val 16000"/>
            </a:avLst>
          </a:prstGeom>
          <a:solidFill>
            <a:schemeClr val="accent1"/>
          </a:solidFill>
          <a:ln w="12700">
            <a:solidFill>
              <a:schemeClr val="accent1"/>
            </a:solidFill>
          </a:ln>
        </p:spPr>
        <p:txBody>
          <a:bodyPr wrap="square" lIns="0" tIns="0" rIns="0" bIns="0" rtlCol="0" anchor="ctr"/>
          <a:lstStyle/>
          <a:p>
            <a:pPr algn="ctr" indent="0" marL="0">
              <a:buNone/>
            </a:pPr>
            <a:r>
              <a:rPr lang="en-US" sz="1500" b="1" dirty="0">
                <a:solidFill>
                  <a:schemeClr val="tx2"/>
                </a:solidFill>
              </a:rPr>
              <a:t>One name</a:t>
            </a:r>
            <a:endParaRPr lang="en-US" sz="1500" dirty="0"/>
          </a:p>
        </p:txBody>
      </p:sp>
      <p:sp>
        <p:nvSpPr>
          <p:cNvPr id="9" name="Text 7"/>
          <p:cNvSpPr txBox="1"/>
          <p:nvPr/>
        </p:nvSpPr>
        <p:spPr>
          <a:xfrm>
            <a:off x="88696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ACCOUNTABILITY CHART</a:t>
            </a:r>
            <a:endParaRPr lang="en-US" sz="1100" dirty="0"/>
          </a:p>
        </p:txBody>
      </p:sp>
      <p:sp>
        <p:nvSpPr>
          <p:cNvPr id="10" name="Text 8"/>
          <p:cNvSpPr txBox="1"/>
          <p:nvPr/>
        </p:nvSpPr>
        <p:spPr>
          <a:xfrm>
            <a:off x="88696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Names who owns each outcome — not who reports to whom. The website gets a seat, and the seat gets one name.</a:t>
            </a:r>
            <a:endParaRPr lang="en-US" sz="1700" dirty="0"/>
          </a:p>
        </p:txBody>
      </p:sp>
      <p:sp>
        <p:nvSpPr>
          <p:cNvPr id="11" name="Text 9"/>
          <p:cNvSpPr txBox="1"/>
          <p:nvPr/>
        </p:nvSpPr>
        <p:spPr>
          <a:xfrm>
            <a:off x="6461608" y="4434840"/>
            <a:ext cx="484312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NOT BLAME</a:t>
            </a:r>
            <a:endParaRPr lang="en-US" sz="1100" dirty="0"/>
          </a:p>
        </p:txBody>
      </p:sp>
      <p:sp>
        <p:nvSpPr>
          <p:cNvPr id="12" name="Text 10"/>
          <p:cNvSpPr txBox="1"/>
          <p:nvPr/>
        </p:nvSpPr>
        <p:spPr>
          <a:xfrm>
            <a:off x="6461608" y="4800600"/>
            <a:ext cx="4843120" cy="1097280"/>
          </a:xfrm>
          <a:prstGeom prst="rect">
            <a:avLst/>
          </a:prstGeom>
          <a:noFill/>
          <a:ln/>
        </p:spPr>
        <p:txBody>
          <a:bodyPr wrap="square" lIns="0" tIns="0" rIns="0" bIns="0" rtlCol="0" anchor="t"/>
          <a:lstStyle/>
          <a:p>
            <a:pPr indent="0" marL="0">
              <a:buNone/>
            </a:pPr>
            <a:r>
              <a:rPr lang="en-US" sz="1700" dirty="0">
                <a:solidFill>
                  <a:srgbClr val="BDB4A2"/>
                </a:solidFill>
              </a:rPr>
              <a:t>Clarity + ownership + follow-through. Clarity kills drift. Nobody wonders who’s driving.</a:t>
            </a:r>
            <a:endParaRPr lang="en-US" sz="17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COMMITMENTS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What you say, you do</a:t>
            </a:r>
            <a:endParaRPr lang="en-US" sz="4400" dirty="0"/>
          </a:p>
        </p:txBody>
      </p:sp>
      <p:sp>
        <p:nvSpPr>
          <p:cNvPr id="4" name="top rule"/>
          <p:cNvSpPr/>
          <p:nvPr/>
        </p:nvSpPr>
        <p:spPr>
          <a:xfrm>
            <a:off x="886968" y="2514600"/>
            <a:ext cx="10417759" cy="0"/>
          </a:xfrm>
          <a:prstGeom prst="line">
            <a:avLst/>
          </a:prstGeom>
          <a:noFill/>
          <a:ln w="9525">
            <a:solidFill>
              <a:srgbClr val="3A3226"/>
            </a:solidFill>
            <a:prstDash val="solid"/>
          </a:ln>
        </p:spPr>
      </p:sp>
      <p:sp>
        <p:nvSpPr>
          <p:cNvPr id="5" name="divider"/>
          <p:cNvSpPr/>
          <p:nvPr/>
        </p:nvSpPr>
        <p:spPr>
          <a:xfrm>
            <a:off x="6095848" y="2514600"/>
            <a:ext cx="0" cy="3291840"/>
          </a:xfrm>
          <a:prstGeom prst="line">
            <a:avLst/>
          </a:prstGeom>
          <a:noFill/>
          <a:ln w="9525">
            <a:solidFill>
              <a:srgbClr val="3A3226"/>
            </a:solidFill>
            <a:prstDash val="solid"/>
          </a:ln>
        </p:spPr>
      </p:sp>
      <p:sp>
        <p:nvSpPr>
          <p:cNvPr id="6" name="Text 4"/>
          <p:cNvSpPr txBox="1"/>
          <p:nvPr/>
        </p:nvSpPr>
        <p:spPr>
          <a:xfrm>
            <a:off x="8869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Rocks</a:t>
            </a:r>
            <a:endParaRPr lang="en-US" sz="4000" dirty="0"/>
          </a:p>
        </p:txBody>
      </p:sp>
      <p:sp>
        <p:nvSpPr>
          <p:cNvPr id="7" name="Text 5"/>
          <p:cNvSpPr txBox="1"/>
          <p:nvPr/>
        </p:nvSpPr>
        <p:spPr>
          <a:xfrm>
            <a:off x="8869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90 DAYS · FEW · IMPORTANT</a:t>
            </a:r>
            <a:endParaRPr lang="en-US" sz="1100" dirty="0"/>
          </a:p>
        </p:txBody>
      </p:sp>
      <p:sp>
        <p:nvSpPr>
          <p:cNvPr id="8" name="Text 6"/>
          <p:cNvSpPr txBox="1"/>
          <p:nvPr/>
        </p:nvSpPr>
        <p:spPr>
          <a:xfrm>
            <a:off x="8869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The handful of things that must be true by the end of the quarter.</a:t>
            </a:r>
            <a:endParaRPr lang="en-US" sz="1800" dirty="0"/>
          </a:p>
          <a:p>
            <a:pPr indent="0" marL="0">
              <a:spcAft>
                <a:spcPts val="800"/>
              </a:spcAft>
              <a:buNone/>
            </a:pPr>
            <a:r>
              <a:rPr lang="en-US" sz="1800" dirty="0">
                <a:solidFill>
                  <a:srgbClr val="BDB4A2"/>
                </a:solidFill>
              </a:rPr>
              <a:t>You take a Rock → you drive it to done.</a:t>
            </a:r>
            <a:endParaRPr lang="en-US" sz="1800" dirty="0"/>
          </a:p>
        </p:txBody>
      </p:sp>
      <p:sp>
        <p:nvSpPr>
          <p:cNvPr id="9" name="Text 7"/>
          <p:cNvSpPr txBox="1"/>
          <p:nvPr/>
        </p:nvSpPr>
        <p:spPr>
          <a:xfrm>
            <a:off x="6598768" y="2880360"/>
            <a:ext cx="4705960" cy="731520"/>
          </a:xfrm>
          <a:prstGeom prst="rect">
            <a:avLst/>
          </a:prstGeom>
          <a:noFill/>
          <a:ln/>
        </p:spPr>
        <p:txBody>
          <a:bodyPr wrap="square" lIns="0" tIns="0" rIns="0" bIns="0" rtlCol="0" anchor="t"/>
          <a:lstStyle/>
          <a:p>
            <a:pPr indent="0" marL="0">
              <a:buNone/>
            </a:pPr>
            <a:r>
              <a:rPr lang="en-US" sz="4000" b="1" dirty="0">
                <a:solidFill>
                  <a:schemeClr val="bg2"/>
                </a:solidFill>
                <a:latin typeface="Cambria" pitchFamily="34" charset="0"/>
                <a:ea typeface="Cambria" pitchFamily="34" charset="-122"/>
                <a:cs typeface="Cambria" pitchFamily="34" charset="-120"/>
              </a:rPr>
              <a:t>To-Dos</a:t>
            </a:r>
            <a:endParaRPr lang="en-US" sz="4000" dirty="0"/>
          </a:p>
        </p:txBody>
      </p:sp>
      <p:sp>
        <p:nvSpPr>
          <p:cNvPr id="10" name="Text 8"/>
          <p:cNvSpPr txBox="1"/>
          <p:nvPr/>
        </p:nvSpPr>
        <p:spPr>
          <a:xfrm>
            <a:off x="6598768" y="3657600"/>
            <a:ext cx="470596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7 DAYS · SHORT · SPECIFIC</a:t>
            </a:r>
            <a:endParaRPr lang="en-US" sz="1100" dirty="0"/>
          </a:p>
        </p:txBody>
      </p:sp>
      <p:sp>
        <p:nvSpPr>
          <p:cNvPr id="11" name="Text 9"/>
          <p:cNvSpPr txBox="1"/>
          <p:nvPr/>
        </p:nvSpPr>
        <p:spPr>
          <a:xfrm>
            <a:off x="6598768" y="4114800"/>
            <a:ext cx="4705960" cy="1463040"/>
          </a:xfrm>
          <a:prstGeom prst="rect">
            <a:avLst/>
          </a:prstGeom>
          <a:noFill/>
          <a:ln/>
        </p:spPr>
        <p:txBody>
          <a:bodyPr wrap="square" lIns="0" tIns="0" rIns="0" bIns="0" rtlCol="0" anchor="t"/>
          <a:lstStyle/>
          <a:p>
            <a:pPr indent="0" marL="0">
              <a:spcAft>
                <a:spcPts val="800"/>
              </a:spcAft>
              <a:buNone/>
            </a:pPr>
            <a:r>
              <a:rPr lang="en-US" sz="1800" dirty="0">
                <a:solidFill>
                  <a:srgbClr val="BDB4A2"/>
                </a:solidFill>
              </a:rPr>
              <a:t>This week’s promises to the team.</a:t>
            </a:r>
            <a:endParaRPr lang="en-US" sz="1800" dirty="0"/>
          </a:p>
          <a:p>
            <a:pPr indent="0" marL="0">
              <a:spcAft>
                <a:spcPts val="800"/>
              </a:spcAft>
              <a:buNone/>
            </a:pPr>
            <a:r>
              <a:rPr lang="en-US" sz="1800" dirty="0">
                <a:solidFill>
                  <a:srgbClr val="BDB4A2"/>
                </a:solidFill>
              </a:rPr>
              <a:t>Done — or flag it early. Never quietly late.</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DRIVE</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Finish what you </a:t>
            </a:r>
            <a:pPr algn="l" indent="0" marL="0">
              <a:buNone/>
            </a:pPr>
            <a:r>
              <a:rPr lang="en-US" sz="5800" b="1" i="1" dirty="0">
                <a:solidFill>
                  <a:schemeClr val="accent1"/>
                </a:solidFill>
                <a:latin typeface="Cambria" pitchFamily="34" charset="0"/>
                <a:ea typeface="Cambria" pitchFamily="34" charset="-122"/>
                <a:cs typeface="Cambria" pitchFamily="34" charset="-120"/>
              </a:rPr>
              <a:t>gave yourself</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Ambition without ownership is noise. Credit goes to the finish — not the intention.</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2"/>
                </a:solidFill>
              </a:rPr>
              <a:t>THIS QUARTER · PROPOSED ROCKS</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tx1"/>
                </a:solidFill>
                <a:latin typeface="Cambria" pitchFamily="34" charset="0"/>
                <a:ea typeface="Cambria" pitchFamily="34" charset="-122"/>
                <a:cs typeface="Cambria" pitchFamily="34" charset="-120"/>
              </a:rPr>
              <a:t>The website, as Rocks</a:t>
            </a:r>
            <a:endParaRPr lang="en-US" sz="4400" dirty="0"/>
          </a:p>
        </p:txBody>
      </p:sp>
      <p:graphicFrame>
        <p:nvGraphicFramePr>
          <p:cNvPr id="17" name="rocks table"/>
          <p:cNvGraphicFramePr>
            <a:graphicFrameLocks noGrp="1"/>
          </p:cNvGraphicFramePr>
          <p:nvPr>
            <p:extLst>
              <p:ext uri="{D42A27DB-BD31-4B8C-83A1-F6EECF244321}">
                <p14:modId xmlns:p14="http://schemas.microsoft.com/office/powerpoint/2010/main" val="1579011935"/>
              </p:ext>
            </p:extLst>
          </p:nvPr>
        </p:nvGraphicFramePr>
        <p:xfrm>
          <a:off x="886968" y="2286000"/>
          <a:ext cx="10417759" cy="914400"/>
        </p:xfrm>
        <a:graphic>
          <a:graphicData uri="http://schemas.openxmlformats.org/drawingml/2006/table">
            <a:tbl>
              <a:tblPr/>
              <a:tblGrid>
                <a:gridCol w="6949440"/>
                <a:gridCol w="3465576"/>
              </a:tblGrid>
              <a:tr h="365760">
                <a:tc>
                  <a:txBody>
                    <a:bodyPr/>
                    <a:lstStyle/>
                    <a:p>
                      <a:pPr indent="0" marL="0">
                        <a:buNone/>
                      </a:pPr>
                      <a:r>
                        <a:rPr lang="en-US" sz="1000" b="1" spc="200" kern="0" dirty="0">
                          <a:solidFill>
                            <a:schemeClr val="accent2"/>
                          </a:solidFill>
                        </a:rPr>
                        <a:t>ROCK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r>
                        <a:rPr lang="en-US" sz="1000" b="1" spc="200" kern="0" dirty="0">
                          <a:solidFill>
                            <a:schemeClr val="accent2"/>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Launch the homepage in the chosen direction</a:t>
                      </a:r>
                      <a:endParaRPr lang="en-US" sz="1200" dirty="0"/>
                    </a:p>
                    <a:p>
                      <a:pPr indent="0" marL="0">
                        <a:buNone/>
                      </a:pPr>
                      <a:r>
                        <a:rPr lang="en-US" sz="1300" dirty="0">
                          <a:solidFill>
                            <a:schemeClr val="accent3"/>
                          </a:solidFill>
                        </a:rPr>
                        <a:t>Live on the domain, mobile-checked, real photos.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Booking flow taking real requests</a:t>
                      </a:r>
                      <a:endParaRPr lang="en-US" sz="1200" dirty="0"/>
                    </a:p>
                    <a:p>
                      <a:pPr indent="0" marL="0">
                        <a:buNone/>
                      </a:pPr>
                      <a:r>
                        <a:rPr lang="en-US" sz="1300" dirty="0">
                          <a:solidFill>
                            <a:schemeClr val="accent3"/>
                          </a:solidFill>
                        </a:rPr>
                        <a:t>Matrix live, requests landing with whoever confirms windows.</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r h="868680">
                <a:tc>
                  <a:txBody>
                    <a:bodyPr/>
                    <a:lstStyle/>
                    <a:p>
                      <a:pPr indent="0" marL="0">
                        <a:buNone/>
                      </a:pPr>
                      <a:r>
                        <a:rPr lang="en-US" sz="1800" dirty="0">
                          <a:solidFill>
                            <a:schemeClr val="tx1"/>
                          </a:solidFill>
                        </a:rPr>
                        <a:t>Content &amp; photos ready to publish</a:t>
                      </a:r>
                      <a:endParaRPr lang="en-US" sz="1200" dirty="0"/>
                    </a:p>
                    <a:p>
                      <a:pPr indent="0" marL="0">
                        <a:buNone/>
                      </a:pPr>
                      <a:r>
                        <a:rPr lang="en-US" sz="1300" dirty="0">
                          <a:solidFill>
                            <a:schemeClr val="accent3"/>
                          </a:solidFill>
                        </a:rPr>
                        <a:t>Services, coverage, contact — written and approved.</a:t>
                      </a:r>
                      <a:endParaRPr lang="en-US" sz="1200" dirty="0"/>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c>
                  <a:txBody>
                    <a:bodyPr/>
                    <a:lstStyle/>
                    <a:p>
                      <a:pPr indent="0" marL="0">
                        <a:buNone/>
                      </a:pPr>
                      <a:endParaRPr lang="en-US" sz="18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E2D6BF"/>
                      </a:solidFill>
                      <a:prstDash val="solid"/>
                      <a:round/>
                      <a:headEnd type="none" w="med" len="med"/>
                      <a:tailEnd type="none" w="med" len="med"/>
                    </a:lnB>
                  </a:tcPr>
                </a:tc>
              </a:tr>
            </a:tbl>
          </a:graphicData>
        </a:graphic>
      </p:graphicFrame>
      <p:sp>
        <p:nvSpPr>
          <p:cNvPr id="5" name="Text 2"/>
          <p:cNvSpPr txBox="1"/>
          <p:nvPr/>
        </p:nvSpPr>
        <p:spPr>
          <a:xfrm>
            <a:off x="886968" y="5852160"/>
            <a:ext cx="7315200" cy="274320"/>
          </a:xfrm>
          <a:prstGeom prst="rect">
            <a:avLst/>
          </a:prstGeom>
          <a:noFill/>
          <a:ln/>
        </p:spPr>
        <p:txBody>
          <a:bodyPr wrap="square" lIns="0" tIns="0" rIns="0" bIns="0" rtlCol="0" anchor="t"/>
          <a:lstStyle/>
          <a:p>
            <a:pPr indent="0" marL="0">
              <a:buNone/>
            </a:pPr>
            <a:r>
              <a:rPr lang="en-US" sz="1200" i="1" dirty="0">
                <a:solidFill>
                  <a:schemeClr val="accent3"/>
                </a:solidFill>
              </a:rPr>
              <a:t>Type owner names into the Owner column during the meeting.</a:t>
            </a:r>
            <a:endParaRPr lang="en-US" sz="12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AE9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886968" y="10515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DECISION</a:t>
            </a:r>
            <a:endParaRPr lang="en-US" sz="1100" dirty="0"/>
          </a:p>
        </p:txBody>
      </p:sp>
      <p:sp>
        <p:nvSpPr>
          <p:cNvPr id="3" name="Text 0"/>
          <p:cNvSpPr/>
          <p:nvPr>
            <p:ph idx="102" type="title" hasCustomPrompt="1"/>
          </p:nvPr>
        </p:nvSpPr>
        <p:spPr>
          <a:xfrm>
            <a:off x="886968" y="1371600"/>
            <a:ext cx="10417759" cy="1371600"/>
          </a:xfrm>
          <a:prstGeom prst="rect">
            <a:avLst/>
          </a:prstGeom>
          <a:noFill/>
          <a:ln/>
        </p:spPr>
        <p:txBody>
          <a:bodyPr wrap="square" lIns="0" tIns="0" rIns="0" bIns="0" rtlCol="0" anchor="t"/>
          <a:lstStyle/>
          <a:p>
            <a:pPr algn="l" indent="0" marL="0">
              <a:buNone/>
            </a:pPr>
            <a:r>
              <a:rPr lang="en-US" sz="4400" b="1" dirty="0">
                <a:solidFill>
                  <a:schemeClr val="bg2"/>
                </a:solidFill>
                <a:latin typeface="Cambria" pitchFamily="34" charset="0"/>
                <a:ea typeface="Cambria" pitchFamily="34" charset="-122"/>
                <a:cs typeface="Cambria" pitchFamily="34" charset="-120"/>
              </a:rPr>
              <a:t>Which face ships?</a:t>
            </a:r>
            <a:endParaRPr lang="en-US" sz="4400" dirty="0"/>
          </a:p>
        </p:txBody>
      </p:sp>
      <p:sp>
        <p:nvSpPr>
          <p:cNvPr id="4" name="Big Sky card"/>
          <p:cNvSpPr/>
          <p:nvPr/>
        </p:nvSpPr>
        <p:spPr>
          <a:xfrm>
            <a:off x="886968" y="2331720"/>
            <a:ext cx="1922617" cy="1097280"/>
          </a:xfrm>
          <a:prstGeom prst="roundRect">
            <a:avLst>
              <a:gd name="adj" fmla="val 6667"/>
            </a:avLst>
          </a:prstGeom>
          <a:solidFill>
            <a:srgbClr val="2A2116"/>
          </a:solidFill>
          <a:ln w="15875">
            <a:solidFill>
              <a:srgbClr val="D6A64A"/>
            </a:solidFill>
            <a:prstDash val="solid"/>
          </a:ln>
        </p:spPr>
      </p:sp>
      <p:sp>
        <p:nvSpPr>
          <p:cNvPr id="5" name="Text 3"/>
          <p:cNvSpPr txBox="1"/>
          <p:nvPr/>
        </p:nvSpPr>
        <p:spPr>
          <a:xfrm>
            <a:off x="1069848"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01</a:t>
            </a:r>
            <a:endParaRPr lang="en-US" sz="1000" dirty="0"/>
          </a:p>
        </p:txBody>
      </p:sp>
      <p:sp>
        <p:nvSpPr>
          <p:cNvPr id="6" name="Text 4"/>
          <p:cNvSpPr txBox="1"/>
          <p:nvPr/>
        </p:nvSpPr>
        <p:spPr>
          <a:xfrm>
            <a:off x="1069848"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Big Sky</a:t>
            </a:r>
            <a:endParaRPr lang="en-US" sz="1700" dirty="0"/>
          </a:p>
        </p:txBody>
      </p:sp>
      <p:sp>
        <p:nvSpPr>
          <p:cNvPr id="7" name="Text 5"/>
          <p:cNvSpPr txBox="1"/>
          <p:nvPr/>
        </p:nvSpPr>
        <p:spPr>
          <a:xfrm>
            <a:off x="1069848"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editorial, timeless.</a:t>
            </a:r>
            <a:endParaRPr lang="en-US" sz="1100" dirty="0"/>
          </a:p>
        </p:txBody>
      </p:sp>
      <p:sp>
        <p:nvSpPr>
          <p:cNvPr id="8" name="Piney Woods card"/>
          <p:cNvSpPr/>
          <p:nvPr/>
        </p:nvSpPr>
        <p:spPr>
          <a:xfrm>
            <a:off x="3010753"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9" name="Text 7"/>
          <p:cNvSpPr txBox="1"/>
          <p:nvPr/>
        </p:nvSpPr>
        <p:spPr>
          <a:xfrm>
            <a:off x="3193633"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02</a:t>
            </a:r>
            <a:endParaRPr lang="en-US" sz="1000" dirty="0"/>
          </a:p>
        </p:txBody>
      </p:sp>
      <p:sp>
        <p:nvSpPr>
          <p:cNvPr id="10" name="Text 8"/>
          <p:cNvSpPr txBox="1"/>
          <p:nvPr/>
        </p:nvSpPr>
        <p:spPr>
          <a:xfrm>
            <a:off x="3193633"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Piney Woods</a:t>
            </a:r>
            <a:endParaRPr lang="en-US" sz="1700" dirty="0"/>
          </a:p>
        </p:txBody>
      </p:sp>
      <p:sp>
        <p:nvSpPr>
          <p:cNvPr id="11" name="Text 9"/>
          <p:cNvSpPr txBox="1"/>
          <p:nvPr/>
        </p:nvSpPr>
        <p:spPr>
          <a:xfrm>
            <a:off x="3193633"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Rooted, calm, organic.</a:t>
            </a:r>
            <a:endParaRPr lang="en-US" sz="1100" dirty="0"/>
          </a:p>
        </p:txBody>
      </p:sp>
      <p:sp>
        <p:nvSpPr>
          <p:cNvPr id="12" name="Open Water card"/>
          <p:cNvSpPr/>
          <p:nvPr/>
        </p:nvSpPr>
        <p:spPr>
          <a:xfrm>
            <a:off x="5134539"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13" name="Text 11"/>
          <p:cNvSpPr txBox="1"/>
          <p:nvPr/>
        </p:nvSpPr>
        <p:spPr>
          <a:xfrm>
            <a:off x="5317419"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03</a:t>
            </a:r>
            <a:endParaRPr lang="en-US" sz="1000" dirty="0"/>
          </a:p>
        </p:txBody>
      </p:sp>
      <p:sp>
        <p:nvSpPr>
          <p:cNvPr id="14" name="Text 12"/>
          <p:cNvSpPr txBox="1"/>
          <p:nvPr/>
        </p:nvSpPr>
        <p:spPr>
          <a:xfrm>
            <a:off x="5317419"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Open Water</a:t>
            </a:r>
            <a:endParaRPr lang="en-US" sz="1700" dirty="0"/>
          </a:p>
        </p:txBody>
      </p:sp>
      <p:sp>
        <p:nvSpPr>
          <p:cNvPr id="15" name="Text 13"/>
          <p:cNvSpPr txBox="1"/>
          <p:nvPr/>
        </p:nvSpPr>
        <p:spPr>
          <a:xfrm>
            <a:off x="5317419"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Crisp, corporate, confident.</a:t>
            </a:r>
            <a:endParaRPr lang="en-US" sz="1100" dirty="0"/>
          </a:p>
        </p:txBody>
      </p:sp>
      <p:sp>
        <p:nvSpPr>
          <p:cNvPr id="16" name="Heartland Steel card"/>
          <p:cNvSpPr/>
          <p:nvPr/>
        </p:nvSpPr>
        <p:spPr>
          <a:xfrm>
            <a:off x="7258324" y="2331720"/>
            <a:ext cx="1922617" cy="1097280"/>
          </a:xfrm>
          <a:prstGeom prst="roundRect">
            <a:avLst>
              <a:gd name="adj" fmla="val 6667"/>
            </a:avLst>
          </a:prstGeom>
          <a:solidFill>
            <a:srgbClr val="2A2116"/>
          </a:solidFill>
          <a:ln w="15875">
            <a:solidFill>
              <a:srgbClr val="D6A64A"/>
            </a:solidFill>
            <a:prstDash val="solid"/>
          </a:ln>
        </p:spPr>
      </p:sp>
      <p:sp>
        <p:nvSpPr>
          <p:cNvPr id="17" name="Text 15"/>
          <p:cNvSpPr txBox="1"/>
          <p:nvPr/>
        </p:nvSpPr>
        <p:spPr>
          <a:xfrm>
            <a:off x="7441204"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04</a:t>
            </a:r>
            <a:endParaRPr lang="en-US" sz="1000" dirty="0"/>
          </a:p>
        </p:txBody>
      </p:sp>
      <p:sp>
        <p:nvSpPr>
          <p:cNvPr id="18" name="Text 16"/>
          <p:cNvSpPr txBox="1"/>
          <p:nvPr/>
        </p:nvSpPr>
        <p:spPr>
          <a:xfrm>
            <a:off x="7441204"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Heartland Steel</a:t>
            </a:r>
            <a:endParaRPr lang="en-US" sz="1700" dirty="0"/>
          </a:p>
        </p:txBody>
      </p:sp>
      <p:sp>
        <p:nvSpPr>
          <p:cNvPr id="19" name="Text 17"/>
          <p:cNvSpPr txBox="1"/>
          <p:nvPr/>
        </p:nvSpPr>
        <p:spPr>
          <a:xfrm>
            <a:off x="7441204"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Bold, cinematic, industrial.</a:t>
            </a:r>
            <a:endParaRPr lang="en-US" sz="1100" dirty="0"/>
          </a:p>
        </p:txBody>
      </p:sp>
      <p:sp>
        <p:nvSpPr>
          <p:cNvPr id="20" name="Hill Country card"/>
          <p:cNvSpPr/>
          <p:nvPr/>
        </p:nvSpPr>
        <p:spPr>
          <a:xfrm>
            <a:off x="9382110" y="2331720"/>
            <a:ext cx="1922617" cy="1097280"/>
          </a:xfrm>
          <a:prstGeom prst="roundRect">
            <a:avLst>
              <a:gd name="adj" fmla="val 6667"/>
            </a:avLst>
          </a:prstGeom>
          <a:solidFill>
            <a:srgbClr val="2A2116">
              <a:alpha val="60000"/>
            </a:srgbClr>
          </a:solidFill>
          <a:ln w="9525">
            <a:solidFill>
              <a:srgbClr val="3A3226"/>
            </a:solidFill>
            <a:prstDash val="solid"/>
          </a:ln>
        </p:spPr>
      </p:sp>
      <p:sp>
        <p:nvSpPr>
          <p:cNvPr id="21" name="Text 19"/>
          <p:cNvSpPr txBox="1"/>
          <p:nvPr/>
        </p:nvSpPr>
        <p:spPr>
          <a:xfrm>
            <a:off x="9564990" y="2496312"/>
            <a:ext cx="1556857" cy="228600"/>
          </a:xfrm>
          <a:prstGeom prst="rect">
            <a:avLst/>
          </a:prstGeom>
          <a:noFill/>
          <a:ln/>
        </p:spPr>
        <p:txBody>
          <a:bodyPr wrap="square" lIns="0" tIns="0" rIns="0" bIns="0" rtlCol="0" anchor="t"/>
          <a:lstStyle/>
          <a:p>
            <a:pPr indent="0" marL="0">
              <a:buNone/>
            </a:pPr>
            <a:r>
              <a:rPr lang="en-US" sz="1000" b="1" spc="200" kern="0" dirty="0">
                <a:solidFill>
                  <a:schemeClr val="accent1"/>
                </a:solidFill>
              </a:rPr>
              <a:t>05</a:t>
            </a:r>
            <a:endParaRPr lang="en-US" sz="1000" dirty="0"/>
          </a:p>
        </p:txBody>
      </p:sp>
      <p:sp>
        <p:nvSpPr>
          <p:cNvPr id="22" name="Text 20"/>
          <p:cNvSpPr txBox="1"/>
          <p:nvPr/>
        </p:nvSpPr>
        <p:spPr>
          <a:xfrm>
            <a:off x="9564990" y="2743200"/>
            <a:ext cx="1556857" cy="365760"/>
          </a:xfrm>
          <a:prstGeom prst="rect">
            <a:avLst/>
          </a:prstGeom>
          <a:noFill/>
          <a:ln/>
        </p:spPr>
        <p:txBody>
          <a:bodyPr wrap="square" lIns="0" tIns="0" rIns="0" bIns="0" rtlCol="0" anchor="t">
            <a:normAutofit/>
          </a:bodyPr>
          <a:lstStyle/>
          <a:p>
            <a:pPr indent="0" marL="0">
              <a:buNone/>
            </a:pPr>
            <a:r>
              <a:rPr lang="en-US" sz="1700" b="1" dirty="0">
                <a:solidFill>
                  <a:schemeClr val="bg2"/>
                </a:solidFill>
                <a:latin typeface="Cambria" pitchFamily="34" charset="0"/>
                <a:ea typeface="Cambria" pitchFamily="34" charset="-122"/>
                <a:cs typeface="Cambria" pitchFamily="34" charset="-120"/>
              </a:rPr>
              <a:t>Hill Country</a:t>
            </a:r>
            <a:endParaRPr lang="en-US" sz="1700" dirty="0"/>
          </a:p>
        </p:txBody>
      </p:sp>
      <p:sp>
        <p:nvSpPr>
          <p:cNvPr id="23" name="Text 21"/>
          <p:cNvSpPr txBox="1"/>
          <p:nvPr/>
        </p:nvSpPr>
        <p:spPr>
          <a:xfrm>
            <a:off x="9564990" y="3081528"/>
            <a:ext cx="1556857" cy="274320"/>
          </a:xfrm>
          <a:prstGeom prst="rect">
            <a:avLst/>
          </a:prstGeom>
          <a:noFill/>
          <a:ln/>
        </p:spPr>
        <p:txBody>
          <a:bodyPr wrap="square" lIns="0" tIns="0" rIns="0" bIns="0" rtlCol="0" anchor="t"/>
          <a:lstStyle/>
          <a:p>
            <a:pPr indent="0" marL="0">
              <a:buNone/>
            </a:pPr>
            <a:r>
              <a:rPr lang="en-US" sz="1100" dirty="0">
                <a:solidFill>
                  <a:srgbClr val="9C9381"/>
                </a:solidFill>
              </a:rPr>
              <a:t>Warm, friendly, welcoming.</a:t>
            </a:r>
            <a:endParaRPr lang="en-US" sz="1100" dirty="0"/>
          </a:p>
        </p:txBody>
      </p:sp>
      <p:graphicFrame>
        <p:nvGraphicFramePr>
          <p:cNvPr id="18" name="todo table"/>
          <p:cNvGraphicFramePr>
            <a:graphicFrameLocks noGrp="1"/>
          </p:cNvGraphicFramePr>
          <p:nvPr>
            <p:extLst>
              <p:ext uri="{D42A27DB-BD31-4B8C-83A1-F6EECF244321}">
                <p14:modId xmlns:p14="http://schemas.microsoft.com/office/powerpoint/2010/main" val="1579011935"/>
              </p:ext>
            </p:extLst>
          </p:nvPr>
        </p:nvGraphicFramePr>
        <p:xfrm>
          <a:off x="886968" y="3840480"/>
          <a:ext cx="10417759" cy="914400"/>
        </p:xfrm>
        <a:graphic>
          <a:graphicData uri="http://schemas.openxmlformats.org/drawingml/2006/table">
            <a:tbl>
              <a:tblPr/>
              <a:tblGrid>
                <a:gridCol w="5852160"/>
                <a:gridCol w="2743200"/>
                <a:gridCol w="1819656"/>
              </a:tblGrid>
              <a:tr h="347472">
                <a:tc>
                  <a:txBody>
                    <a:bodyPr/>
                    <a:lstStyle/>
                    <a:p>
                      <a:pPr indent="0" marL="0">
                        <a:buNone/>
                      </a:pPr>
                      <a:r>
                        <a:rPr lang="en-US" sz="1000" b="1" spc="200" kern="0" dirty="0">
                          <a:solidFill>
                            <a:schemeClr val="accent1"/>
                          </a:solidFill>
                        </a:rPr>
                        <a:t>TO-DO · THIS WEEK</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OWNER</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r>
                        <a:rPr lang="en-US" sz="1000" b="1" spc="200" kern="0" dirty="0">
                          <a:solidFill>
                            <a:schemeClr val="accent1"/>
                          </a:solidFill>
                        </a:rPr>
                        <a:t>DUE</a:t>
                      </a:r>
                      <a:endParaRPr lang="en-US" sz="1000" dirty="0"/>
                    </a:p>
                  </a:txBody>
                  <a:tcPr marL="0" marR="109728" marT="54864" marB="54864">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Confirm the direction (or final two + who decides)</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Kick off the build with the chosen design</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r h="548640">
                <a:tc>
                  <a:txBody>
                    <a:bodyPr/>
                    <a:lstStyle/>
                    <a:p>
                      <a:pPr indent="0" marL="0">
                        <a:buNone/>
                      </a:pPr>
                      <a:r>
                        <a:rPr lang="en-US" sz="1600" dirty="0">
                          <a:solidFill>
                            <a:schemeClr val="bg2"/>
                          </a:solidFill>
                        </a:rPr>
                        <a:t>Gather photos &amp; copy owners need</a:t>
                      </a: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latin typeface="Cambria" charset="0"/>
                        <a:ea typeface="Cambria" charset="0"/>
                        <a:cs typeface="Cambria" charset="0"/>
                      </a:endParaRPr>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c>
                  <a:txBody>
                    <a:bodyPr/>
                    <a:lstStyle/>
                    <a:p>
                      <a:pPr indent="0" marL="0">
                        <a:buNone/>
                      </a:pPr>
                      <a:endParaRPr lang="en-US" sz="1600" dirty="0"/>
                    </a:p>
                  </a:txBody>
                  <a:tcPr marL="0" marR="109728" marT="54864" marB="54864" anchor="ctr">
                    <a:lnL w="0" cap="flat" cmpd="sng" algn="ctr">
                      <a:noFill/>
                    </a:lnL>
                    <a:lnR w="0" cap="flat" cmpd="sng" algn="ctr">
                      <a:noFill/>
                    </a:lnR>
                    <a:lnT w="0" cap="flat" cmpd="sng" algn="ctr">
                      <a:noFill/>
                    </a:lnT>
                    <a:lnB w="9525" cap="flat" cmpd="sng" algn="ctr">
                      <a:solidFill>
                        <a:srgbClr val="3A322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close logo" descr="A.C.E. Distribution">    </p:cNvPr>
          <p:cNvPicPr>
            <a:picLocks noChangeAspect="1"/>
          </p:cNvPicPr>
          <p:nvPr/>
        </p:nvPicPr>
        <p:blipFill>
          <a:blip r:embed="rId1"/>
          <a:stretch>
            <a:fillRect/>
          </a:stretch>
        </p:blipFill>
        <p:spPr>
          <a:xfrm>
            <a:off x="886968" y="960120"/>
            <a:ext cx="3356386" cy="713232"/>
          </a:xfrm>
          <a:prstGeom prst="rect">
            <a:avLst/>
          </a:prstGeom>
        </p:spPr>
      </p:pic>
      <p:sp>
        <p:nvSpPr>
          <p:cNvPr id="3" name="Text 0"/>
          <p:cNvSpPr txBox="1"/>
          <p:nvPr/>
        </p:nvSpPr>
        <p:spPr>
          <a:xfrm>
            <a:off x="886968" y="2331720"/>
            <a:ext cx="10417759" cy="2194560"/>
          </a:xfrm>
          <a:prstGeom prst="rect">
            <a:avLst/>
          </a:prstGeom>
          <a:noFill/>
          <a:ln/>
        </p:spPr>
        <p:txBody>
          <a:bodyPr wrap="square" lIns="0" tIns="0" rIns="0" bIns="0" rtlCol="0" anchor="t"/>
          <a:lstStyle/>
          <a:p>
            <a:pPr indent="0" marL="0">
              <a:lnSpc>
                <a:spcPct val="95000"/>
              </a:lnSpc>
              <a:buNone/>
            </a:pPr>
            <a:r>
              <a:rPr lang="en-US" sz="6600" b="1" dirty="0">
                <a:solidFill>
                  <a:schemeClr val="bg2"/>
                </a:solidFill>
                <a:latin typeface="Cambria" pitchFamily="34" charset="0"/>
                <a:ea typeface="Cambria" pitchFamily="34" charset="-122"/>
                <a:cs typeface="Cambria" pitchFamily="34" charset="-120"/>
              </a:rPr>
              <a:t>Own it.</a:t>
            </a:r>
            <a:endParaRPr lang="en-US" sz="6600" dirty="0"/>
          </a:p>
          <a:p>
            <a:pPr indent="0" marL="0">
              <a:lnSpc>
                <a:spcPct val="95000"/>
              </a:lnSpc>
              <a:buNone/>
            </a:pPr>
            <a:r>
              <a:rPr lang="en-US" sz="6600" b="1" i="1" dirty="0">
                <a:solidFill>
                  <a:schemeClr val="accent1"/>
                </a:solidFill>
                <a:latin typeface="Cambria" pitchFamily="34" charset="0"/>
                <a:ea typeface="Cambria" pitchFamily="34" charset="-122"/>
                <a:cs typeface="Cambria" pitchFamily="34" charset="-120"/>
              </a:rPr>
              <a:t>Finish it.</a:t>
            </a:r>
            <a:endParaRPr lang="en-US" sz="6600" dirty="0"/>
          </a:p>
        </p:txBody>
      </p:sp>
      <p:sp>
        <p:nvSpPr>
          <p:cNvPr id="4" name="Text 1"/>
          <p:cNvSpPr txBox="1"/>
          <p:nvPr/>
        </p:nvSpPr>
        <p:spPr>
          <a:xfrm>
            <a:off x="886968" y="4754880"/>
            <a:ext cx="7315200" cy="731520"/>
          </a:xfrm>
          <a:prstGeom prst="rect">
            <a:avLst/>
          </a:prstGeom>
          <a:noFill/>
          <a:ln/>
        </p:spPr>
        <p:txBody>
          <a:bodyPr wrap="square" lIns="0" tIns="0" rIns="0" bIns="0" rtlCol="0" anchor="t"/>
          <a:lstStyle/>
          <a:p>
            <a:pPr indent="0" marL="0">
              <a:buNone/>
            </a:pPr>
            <a:r>
              <a:rPr lang="en-US" sz="1800" dirty="0">
                <a:solidFill>
                  <a:srgbClr val="BDB4A2"/>
                </a:solidFill>
              </a:rPr>
              <a:t>We picked a face. Now we put the names on it and drive it to done.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886968" y="1965960"/>
            <a:ext cx="10417759" cy="320040"/>
          </a:xfrm>
          <a:prstGeom prst="rect">
            <a:avLst/>
          </a:prstGeom>
          <a:noFill/>
          <a:ln/>
        </p:spPr>
        <p:txBody>
          <a:bodyPr wrap="square" lIns="0" tIns="0" rIns="0" bIns="0" rtlCol="0" anchor="t"/>
          <a:lstStyle/>
          <a:p>
            <a:pPr algn="l" indent="0" marL="0">
              <a:buNone/>
            </a:pPr>
            <a:r>
              <a:rPr lang="en-US" sz="1100" b="1" spc="300" kern="0" dirty="0">
                <a:solidFill>
                  <a:schemeClr val="accent1"/>
                </a:solidFill>
              </a:rPr>
              <a:t>APPENDIX</a:t>
            </a:r>
            <a:endParaRPr lang="en-US" sz="1100" dirty="0"/>
          </a:p>
        </p:txBody>
      </p:sp>
      <p:sp>
        <p:nvSpPr>
          <p:cNvPr id="3" name="Text 0"/>
          <p:cNvSpPr/>
          <p:nvPr>
            <p:ph idx="102" type="title" hasCustomPrompt="1"/>
          </p:nvPr>
        </p:nvSpPr>
        <p:spPr>
          <a:xfrm>
            <a:off x="886968" y="2331720"/>
            <a:ext cx="8778240" cy="2103120"/>
          </a:xfrm>
          <a:prstGeom prst="rect">
            <a:avLst/>
          </a:prstGeom>
          <a:noFill/>
          <a:ln/>
        </p:spPr>
        <p:txBody>
          <a:bodyPr wrap="square" lIns="0" tIns="0" rIns="0" bIns="0" rtlCol="0" anchor="t"/>
          <a:lstStyle/>
          <a:p>
            <a:pPr algn="l" indent="0" marL="0">
              <a:buNone/>
            </a:pPr>
            <a:r>
              <a:rPr lang="en-US" sz="5800" b="1" dirty="0">
                <a:solidFill>
                  <a:schemeClr val="bg2"/>
                </a:solidFill>
                <a:latin typeface="Cambria" pitchFamily="34" charset="0"/>
                <a:ea typeface="Cambria" pitchFamily="34" charset="-122"/>
                <a:cs typeface="Cambria" pitchFamily="34" charset="-120"/>
              </a:rPr>
              <a:t>The alternates, full size</a:t>
            </a:r>
            <a:endParaRPr lang="en-US" sz="5800" dirty="0"/>
          </a:p>
        </p:txBody>
      </p:sp>
      <p:sp>
        <p:nvSpPr>
          <p:cNvPr id="4" name="Text 0"/>
          <p:cNvSpPr/>
          <p:nvPr>
            <p:ph idx="103" type="body" hasCustomPrompt="1"/>
          </p:nvPr>
        </p:nvSpPr>
        <p:spPr>
          <a:xfrm>
            <a:off x="886968" y="4572000"/>
            <a:ext cx="7498080" cy="914400"/>
          </a:xfrm>
          <a:prstGeom prst="rect">
            <a:avLst/>
          </a:prstGeom>
          <a:noFill/>
          <a:ln/>
        </p:spPr>
        <p:txBody>
          <a:bodyPr wrap="square" lIns="0" tIns="0" rIns="0" bIns="0" rtlCol="0" anchor="t"/>
          <a:lstStyle/>
          <a:p>
            <a:pPr algn="l" indent="0" marL="0">
              <a:buNone/>
            </a:pPr>
            <a:r>
              <a:rPr lang="en-US" sz="1800" dirty="0">
                <a:solidFill>
                  <a:srgbClr val="BDB4A2"/>
                </a:solidFill>
              </a:rPr>
              <a:t>Swap any of these into the final two if the room is pulling for it.</a:t>
            </a:r>
            <a:endParaRPr lang="en-US" sz="1800" dirty="0"/>
          </a:p>
        </p:txBody>
      </p:sp>
      <p:sp>
        <p:nvSpPr>
          <p:cNvPr id="25" name="Slide Number Placeholder 0"/>
          <p:cNvSpPr>
            <a:spLocks noGrp="1"/>
          </p:cNvSpPr>
          <p:nvPr>
            <p:ph type="sldNum" sz="quarter" idx="4294967295"/>
          </p:nvPr>
        </p:nvSpPr>
        <p:spPr>
          <a:xfrm>
            <a:off x="10390327" y="635508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26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iney Woods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Piney Woods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Piney Woods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Piney Woods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Piney Woods screenshot" descr="Piney Woods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02</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Piney Woods</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Rooted, calm, organic.</a:t>
            </a:r>
            <a:endParaRPr lang="en-US" sz="1500" dirty="0"/>
          </a:p>
        </p:txBody>
      </p:sp>
      <p:sp>
        <p:nvSpPr>
          <p:cNvPr id="10" name="Piney Woods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Piney Woods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Open Water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Open Water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Open Water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Open Water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Open Water screenshot" descr="Open Water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03</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Open Water</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Crisp, corporate, confident.</a:t>
            </a:r>
            <a:endParaRPr lang="en-US" sz="1500" dirty="0"/>
          </a:p>
        </p:txBody>
      </p:sp>
      <p:sp>
        <p:nvSpPr>
          <p:cNvPr id="10" name="Open Water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Open Water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Hill Country frame"/>
          <p:cNvSpPr/>
          <p:nvPr/>
        </p:nvSpPr>
        <p:spPr>
          <a:xfrm>
            <a:off x="1706728" y="384048"/>
            <a:ext cx="8778240" cy="5358717"/>
          </a:xfrm>
          <a:prstGeom prst="rect">
            <a:avLst/>
          </a:prstGeom>
          <a:solidFill>
            <a:srgbClr val="1F1A14"/>
          </a:solidFill>
          <a:ln w="12700">
            <a:solidFill>
              <a:srgbClr val="1F1A14"/>
            </a:solidFill>
            <a:prstDash val="solid"/>
          </a:ln>
          <a:effectLst>
            <a:outerShdw sx="100000" sy="100000" kx="0" ky="0" algn="bl" rotWithShape="0" blurRad="228600" dist="76200" dir="5400000">
              <a:srgbClr val="000000">
                <a:alpha val="45000"/>
              </a:srgbClr>
            </a:outerShdw>
          </a:effectLst>
        </p:spPr>
      </p:sp>
      <p:sp>
        <p:nvSpPr>
          <p:cNvPr id="3" name="Hill Country dot 1"/>
          <p:cNvSpPr/>
          <p:nvPr/>
        </p:nvSpPr>
        <p:spPr>
          <a:xfrm>
            <a:off x="1805483" y="458663"/>
            <a:ext cx="70226" cy="70226"/>
          </a:xfrm>
          <a:prstGeom prst="ellipse">
            <a:avLst/>
          </a:prstGeom>
          <a:solidFill>
            <a:srgbClr val="3B342A"/>
          </a:solidFill>
          <a:ln w="12700">
            <a:solidFill>
              <a:srgbClr val="3B342A"/>
            </a:solidFill>
            <a:prstDash val="solid"/>
          </a:ln>
        </p:spPr>
      </p:sp>
      <p:sp>
        <p:nvSpPr>
          <p:cNvPr id="4" name="Hill Country dot 2"/>
          <p:cNvSpPr/>
          <p:nvPr/>
        </p:nvSpPr>
        <p:spPr>
          <a:xfrm>
            <a:off x="1924867" y="458663"/>
            <a:ext cx="70226" cy="70226"/>
          </a:xfrm>
          <a:prstGeom prst="ellipse">
            <a:avLst/>
          </a:prstGeom>
          <a:solidFill>
            <a:srgbClr val="3B342A"/>
          </a:solidFill>
          <a:ln w="12700">
            <a:solidFill>
              <a:srgbClr val="3B342A"/>
            </a:solidFill>
            <a:prstDash val="solid"/>
          </a:ln>
        </p:spPr>
      </p:sp>
      <p:sp>
        <p:nvSpPr>
          <p:cNvPr id="5" name="Hill Country dot 3"/>
          <p:cNvSpPr/>
          <p:nvPr/>
        </p:nvSpPr>
        <p:spPr>
          <a:xfrm>
            <a:off x="2044251" y="458663"/>
            <a:ext cx="70226" cy="70226"/>
          </a:xfrm>
          <a:prstGeom prst="ellipse">
            <a:avLst/>
          </a:prstGeom>
          <a:solidFill>
            <a:srgbClr val="3B342A"/>
          </a:solidFill>
          <a:ln w="12700">
            <a:solidFill>
              <a:srgbClr val="3B342A"/>
            </a:solidFill>
            <a:prstDash val="solid"/>
          </a:ln>
        </p:spPr>
      </p:sp>
      <p:pic>
        <p:nvPicPr>
          <p:cNvPr id="6" name="Hill Country screenshot" descr="Hill Country homepage concept">    </p:cNvPr>
          <p:cNvPicPr>
            <a:picLocks noChangeAspect="1"/>
          </p:cNvPicPr>
          <p:nvPr/>
        </p:nvPicPr>
        <p:blipFill>
          <a:blip r:embed="rId1"/>
          <a:stretch>
            <a:fillRect/>
          </a:stretch>
        </p:blipFill>
        <p:spPr>
          <a:xfrm>
            <a:off x="1706728" y="603504"/>
            <a:ext cx="8778240" cy="5139261"/>
          </a:xfrm>
          <a:prstGeom prst="rect">
            <a:avLst/>
          </a:prstGeom>
        </p:spPr>
      </p:pic>
      <p:sp>
        <p:nvSpPr>
          <p:cNvPr id="7" name="Text 4"/>
          <p:cNvSpPr txBox="1"/>
          <p:nvPr/>
        </p:nvSpPr>
        <p:spPr>
          <a:xfrm>
            <a:off x="1706728" y="6090237"/>
            <a:ext cx="457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05</a:t>
            </a:r>
            <a:endParaRPr lang="en-US" sz="1200" dirty="0"/>
          </a:p>
        </p:txBody>
      </p:sp>
      <p:sp>
        <p:nvSpPr>
          <p:cNvPr id="8" name="Text 5"/>
          <p:cNvSpPr txBox="1"/>
          <p:nvPr/>
        </p:nvSpPr>
        <p:spPr>
          <a:xfrm>
            <a:off x="2209648" y="5998797"/>
            <a:ext cx="2606040" cy="457200"/>
          </a:xfrm>
          <a:prstGeom prst="rect">
            <a:avLst/>
          </a:prstGeom>
          <a:noFill/>
          <a:ln/>
        </p:spPr>
        <p:txBody>
          <a:bodyPr wrap="square" lIns="0" tIns="0" rIns="0" bIns="0" rtlCol="0" anchor="t"/>
          <a:lstStyle/>
          <a:p>
            <a:pPr indent="0" marL="0">
              <a:buNone/>
            </a:pPr>
            <a:r>
              <a:rPr lang="en-US" sz="2600" b="1" dirty="0">
                <a:solidFill>
                  <a:schemeClr val="bg2"/>
                </a:solidFill>
                <a:latin typeface="Cambria" pitchFamily="34" charset="0"/>
                <a:ea typeface="Cambria" pitchFamily="34" charset="-122"/>
                <a:cs typeface="Cambria" pitchFamily="34" charset="-120"/>
              </a:rPr>
              <a:t>Hill Country</a:t>
            </a:r>
            <a:endParaRPr lang="en-US" sz="2600" dirty="0"/>
          </a:p>
        </p:txBody>
      </p:sp>
      <p:sp>
        <p:nvSpPr>
          <p:cNvPr id="9" name="Text 6"/>
          <p:cNvSpPr txBox="1"/>
          <p:nvPr/>
        </p:nvSpPr>
        <p:spPr>
          <a:xfrm>
            <a:off x="4861408" y="6053661"/>
            <a:ext cx="2560320" cy="365760"/>
          </a:xfrm>
          <a:prstGeom prst="rect">
            <a:avLst/>
          </a:prstGeom>
          <a:noFill/>
          <a:ln/>
        </p:spPr>
        <p:txBody>
          <a:bodyPr wrap="square" lIns="0" tIns="0" rIns="0" bIns="0" rtlCol="0" anchor="t"/>
          <a:lstStyle/>
          <a:p>
            <a:pPr indent="0" marL="0">
              <a:buNone/>
            </a:pPr>
            <a:r>
              <a:rPr lang="en-US" sz="1500" dirty="0">
                <a:solidFill>
                  <a:srgbClr val="BDB4A2"/>
                </a:solidFill>
              </a:rPr>
              <a:t>Warm, friendly, welcoming.</a:t>
            </a:r>
            <a:endParaRPr lang="en-US" sz="1500" dirty="0"/>
          </a:p>
        </p:txBody>
      </p:sp>
      <p:sp>
        <p:nvSpPr>
          <p:cNvPr id="10" name="Hill Country live link"/>
          <p:cNvSpPr txBox="1"/>
          <p:nvPr/>
        </p:nvSpPr>
        <p:spPr>
          <a:xfrm>
            <a:off x="9159088" y="6035373"/>
            <a:ext cx="1325880" cy="329184"/>
          </a:xfrm>
          <a:prstGeom prst="rect">
            <a:avLst/>
          </a:prstGeom>
          <a:solidFill>
            <a:schemeClr val="accent1"/>
          </a:solidFill>
          <a:ln/>
        </p:spPr>
        <p:txBody>
          <a:bodyPr wrap="square" lIns="0" tIns="0" rIns="0" bIns="0" rtlCol="0" anchor="ctr"/>
          <a:lstStyle/>
          <a:p>
            <a:pPr algn="ctr" indent="0" marL="0">
              <a:buNone/>
            </a:pPr>
            <a:r>
              <a:rPr lang="en-US" sz="1000" b="1" u="sng" spc="200" kern="0" dirty="0">
                <a:solidFill>
                  <a:schemeClr val="tx2"/>
                </a:solidFill>
                <a:hlinkClick r:id="rId2" invalidUrl="" action="" tgtFrame="" tooltip="Open the Hill Country live site" history="1" highlightClick="0" endSnd="0">
                  <a:extLst>
                    <a:ext uri="{A12FA001-AC4F-418D-AE19-62706E023703}">
                      <ahyp:hlinkClr xmlns:ahyp="http://schemas.microsoft.com/office/drawing/2018/hyperlinkcolor" val="tx"/>
                    </a:ext>
                  </a:extLst>
                </a:hlinkClick>
              </a:rPr>
              <a:t>OPEN LIVE ↗</a:t>
            </a:r>
            <a:endParaRPr lang="en-US" sz="1000" dirty="0"/>
          </a:p>
        </p:txBody>
      </p:sp>
      <p:sp>
        <p:nvSpPr>
          <p:cNvPr id="11" name="Text 8"/>
          <p:cNvSpPr txBox="1"/>
          <p:nvPr/>
        </p:nvSpPr>
        <p:spPr>
          <a:xfrm>
            <a:off x="7513168" y="6035373"/>
            <a:ext cx="1508760" cy="329184"/>
          </a:xfrm>
          <a:prstGeom prst="rect">
            <a:avLst/>
          </a:prstGeom>
          <a:noFill/>
          <a:ln w="9525">
            <a:solidFill>
              <a:schemeClr val="accent2"/>
            </a:solidFill>
          </a:ln>
        </p:spPr>
        <p:txBody>
          <a:bodyPr wrap="square" lIns="0" tIns="0" rIns="0" bIns="0" rtlCol="0" anchor="ctr"/>
          <a:lstStyle/>
          <a:p>
            <a:pPr algn="ctr" indent="0" marL="0">
              <a:buNone/>
            </a:pPr>
            <a:r>
              <a:rPr lang="en-US" sz="1000" b="1" spc="200" kern="0" dirty="0">
                <a:solidFill>
                  <a:schemeClr val="accent1"/>
                </a:solidFill>
              </a:rPr>
              <a:t>ALTERNATE</a:t>
            </a:r>
            <a:endParaRPr lang="en-US" sz="1000" dirty="0"/>
          </a:p>
        </p:txBody>
      </p:sp>
    </p:spTree>
  </p:cSld>
  <p:clrMapOvr>
    <a:masterClrMapping/>
  </p:clrMapOvr>
</p:sld>
</file>

<file path=ppt/theme/theme1.xml><?xml version="1.0" encoding="utf-8"?>
<a:theme xmlns:a="http://schemas.openxmlformats.org/drawingml/2006/main" name="ACE Gold">
  <a:themeElements>
    <a:clrScheme name="ACE Gold">
      <a:dk1>
        <a:srgbClr val="1D1810"/>
      </a:dk1>
      <a:lt1>
        <a:srgbClr val="FAF6EE"/>
      </a:lt1>
      <a:dk2>
        <a:srgbClr val="15110B"/>
      </a:dk2>
      <a:lt2>
        <a:srgbClr val="F5EFE3"/>
      </a:lt2>
      <a:accent1>
        <a:srgbClr val="D6A64A"/>
      </a:accent1>
      <a:accent2>
        <a:srgbClr val="A9792A"/>
      </a:accent2>
      <a:accent3>
        <a:srgbClr val="6B604C"/>
      </a:accent3>
      <a:accent4>
        <a:srgbClr val="E2D6BF"/>
      </a:accent4>
      <a:accent5>
        <a:srgbClr val="B9AE98"/>
      </a:accent5>
      <a:accent6>
        <a:srgbClr val="2A2116"/>
      </a:accent6>
      <a:hlink>
        <a:srgbClr val="A9792A"/>
      </a:hlink>
      <a:folHlink>
        <a:srgbClr val="6B604C"/>
      </a:folHlink>
    </a:clrScheme>
    <a:fontScheme name="ACE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A.C.E. Distribution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 Design Review</dc:title>
  <dc:subject>PptxGenJS Presentation</dc:subject>
  <dc:creator>PptxGenJS</dc:creator>
  <cp:lastModifiedBy>PptxGenJS</cp:lastModifiedBy>
  <cp:revision>1</cp:revision>
  <dcterms:created xsi:type="dcterms:W3CDTF">2026-10-09T17:15:07Z</dcterms:created>
  <dcterms:modified xsi:type="dcterms:W3CDTF">2026-10-09T17:15:07Z</dcterms:modified>
</cp:coreProperties>
</file>