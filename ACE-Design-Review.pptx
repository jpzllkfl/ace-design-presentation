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0a85f9-3e3e-2e2c-8785-2cd22f22d00d}">
          <p14:sldIdLst>
            <p14:sldId id="256"/>
            <p14:sldId id="257"/>
            <p14:sldId id="258"/>
          </p14:sldIdLst>
        </p14:section>
        <p14:section name="Designs" id="{9176bed9-3973-6312-ebde-e8f77ba564bd}">
          <p14:sldIdLst>
            <p14:sldId id="259"/>
            <p14:sldId id="260"/>
            <p14:sldId id="261"/>
            <p14:sldId id="262"/>
            <p14:sldId id="263"/>
            <p14:sldId id="264"/>
            <p14:sldId id="265"/>
            <p14:sldId id="266"/>
          </p14:sldIdLst>
        </p14:section>
        <p14:section name="Accountability (EOS)" id="{fc5f1ad5-c56e-6f22-b7d7-3506058cc4f9}">
          <p14:sldIdLst>
            <p14:sldId id="267"/>
            <p14:sldId id="268"/>
            <p14:sldId id="269"/>
            <p14:sldId id="270"/>
            <p14:sldId id="271"/>
          </p14:sldIdLst>
        </p14:section>
        <p14:section name="Decision" id="{fc578f1d-c760-c5ce-183c-88e84479a687}">
          <p14:sldIdLst>
            <p14:sldId id="272"/>
            <p14:sldId id="273"/>
          </p14:sldIdLst>
        </p14:section>
        <p14:section name="Appendix" id="{b5bcb4f9-afb9-8777-e517-4aa978b59067}">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here to admire mockups forever. We’re here to pick a face and own what happens next.
Keep this short. The room knows the business. Say what the next stretch is: look at the work, choose, put names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If we leave with a direction but no owner, we didn’t finish the meeting.
The site is the first thing a new fleet manager or farm buyer sees before they ever call Pleasanton. That’s why it’s worth a real decision, not a vibe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That’s how websites actually ship.
Plant the lens now. We’ll come back to it after the designs, when it’s time to assign.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were built end to end — homepage, services, booking flow — not just mood boards.
The two highlighted are the ones I want us to sit with. The other three are real alternates; we’ll see them side by side after.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throwaways. Each one is a complete direction and any of them could ship.
If someone in the room is pulling for one of these, now is the time to say so — we can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it costs us.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 it’s supporting, not the story.
Whichever face we pick, the booking matrix already wears it. The site doesn’t just look good; it turns a visit into a scheduled delivery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The designs are the easy part. This is the part that decides whether the site exists in ninety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EOS every seat has one person accountable. Not two. Not “the team.”
The Accountability Chart isn’t the org chart. It’s who owns which outcome. The website needs a seat and a name in it.
Accountability isn’t blame. It’s clarity —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few things that matter this quarter. You take one, you drive it to done.
To-Dos are the weekly promises. You do them — or you raise the flag early, not at the deadline.
Both are commitments to yourself and to the team.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 are accountable for the things you give yourself.
Ambition without ownership is noise. Everyone in this room has had a “we should redo the website” moment. You don’t get credit for the intention to rebuild the site.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means for ACE this quarter. These are proposed — adjust them in the room.
Type owner names straight into the Owner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face ships? If the room can’t land on one, land on two and name who decides by when.
Fill the To-Do owners and dates before anyone stands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names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4" Type="http://schemas.openxmlformats.org/officeDocument/2006/relationships/hyperlink" Target="https://jpzllkfl.github.io/ace-design-presentation/designs/piney.html" TargetMode="External"/><Relationship Id="rId6" Type="http://schemas.openxmlformats.org/officeDocument/2006/relationships/hyperlink" Target="https://jpzllkfl.github.io/ace-design-presentation/designs/openwater.html" TargetMode="External"/><Relationship Id="rId8" Type="http://schemas.openxmlformats.org/officeDocument/2006/relationships/hyperlink" Target="https://jpzllkfl.github.io/ace-design-presentation/designs/heartland.html" TargetMode="External"/><Relationship Id="rId10" Type="http://schemas.openxmlformats.org/officeDocument/2006/relationships/hyperlink" Target="https://jpzllkfl.github.io/ace-design-presentation/designs/hill.html" TargetMode="External"/><Relationship Id="rId1" Type="http://schemas.openxmlformats.org/officeDocument/2006/relationships/image" Target="../media/image-4-1.jpg"/><Relationship Id="rId3" Type="http://schemas.openxmlformats.org/officeDocument/2006/relationships/image" Target="../media/image-4-2.jpg"/><Relationship Id="rId5" Type="http://schemas.openxmlformats.org/officeDocument/2006/relationships/image" Target="../media/image-4-3.jpg"/><Relationship Id="rId7" Type="http://schemas.openxmlformats.org/officeDocument/2006/relationships/image" Target="../media/image-4-4.jpg"/><Relationship Id="rId9" Type="http://schemas.openxmlformats.org/officeDocument/2006/relationships/image" Target="../media/image-4-5.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1" Type="http://schemas.openxmlformats.org/officeDocument/2006/relationships/image" Target="../media/image-5-1.jp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1" Type="http://schemas.openxmlformats.org/officeDocument/2006/relationships/image" Target="../media/image-6-1.jp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jpzllkfl.github.io/ace-design-presentation/designs/heartland.html" TargetMode="External"/><Relationship Id="rId1" Type="http://schemas.openxmlformats.org/officeDocument/2006/relationships/image" Target="../media/image-7-1.jp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jpzllkfl.github.io/ace-design-presentation/designs/heartland.html" TargetMode="External"/><Relationship Id="rId1" Type="http://schemas.openxmlformats.org/officeDocument/2006/relationships/image" Target="../media/image-8-1.jpg"/><Relationship Id="rId3" Type="http://schemas.openxmlformats.org/officeDocument/2006/relationships/slideLayout" Target="../slideLayouts/slideLayou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jpzllkfl.github.io/ace-design-presentation/designs/piney.html" TargetMode="External"/><Relationship Id="rId1" Type="http://schemas.openxmlformats.org/officeDocument/2006/relationships/image" Target="../media/image-20-1.jpg"/><Relationship Id="rId3" Type="http://schemas.openxmlformats.org/officeDocument/2006/relationships/slideLayout" Target="../slideLayouts/slideLayou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jpzllkfl.github.io/ace-design-presentation/designs/openwater.html" TargetMode="External"/><Relationship Id="rId1" Type="http://schemas.openxmlformats.org/officeDocument/2006/relationships/image" Target="../media/image-21-1.jpg"/><Relationship Id="rId3" Type="http://schemas.openxmlformats.org/officeDocument/2006/relationships/slideLayout" Target="../slideLayouts/slideLayout7.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jpzllkfl.github.io/ace-design-presentation/designs/hill.html" TargetMode="External"/><Relationship Id="rId1" Type="http://schemas.openxmlformats.org/officeDocument/2006/relationships/image" Target="../media/image-22-1.jp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Picking ACE’s</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public face</a:t>
            </a:r>
            <a:endParaRPr lang="en-US" sz="6600" dirty="0"/>
          </a:p>
        </p:txBody>
      </p:sp>
      <p:sp>
        <p:nvSpPr>
          <p:cNvPr id="5" name="Text 2"/>
          <p:cNvSpPr txBox="1"/>
          <p:nvPr/>
        </p:nvSpPr>
        <p:spPr>
          <a:xfrm>
            <a:off x="886968" y="5166360"/>
            <a:ext cx="7315200" cy="731520"/>
          </a:xfrm>
          <a:prstGeom prst="rect">
            <a:avLst/>
          </a:prstGeom>
          <a:noFill/>
          <a:ln/>
        </p:spPr>
        <p:txBody>
          <a:bodyPr wrap="square" lIns="0" tIns="0" rIns="0" bIns="0" rtlCol="0" anchor="t"/>
          <a:lstStyle/>
          <a:p>
            <a:pPr indent="0" marL="0">
              <a:buNone/>
            </a:pPr>
            <a:r>
              <a:rPr lang="en-US" sz="1800" dirty="0">
                <a:solidFill>
                  <a:srgbClr val="BDB4A2"/>
                </a:solidFill>
              </a:rPr>
              <a:t>Five directions. Two to sit with. One decision — and the names that carry it.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Pick a face. Leave with </a:t>
            </a:r>
            <a:pPr algn="l" indent="0" marL="0">
              <a:buNone/>
            </a:pPr>
            <a:r>
              <a:rPr lang="en-US" sz="4400" b="1" i="1" dirty="0">
                <a:solidFill>
                  <a:schemeClr val="tx1"/>
                </a:solidFill>
                <a:latin typeface="Cambria" pitchFamily="34" charset="0"/>
                <a:ea typeface="Cambria" pitchFamily="34" charset="-122"/>
                <a:cs typeface="Cambria" pitchFamily="34" charset="-120"/>
              </a:rPr>
              <a:t>owners</a:t>
            </a:r>
            <a:pPr algn="l" indent="0" marL="0">
              <a:buNone/>
            </a:pPr>
            <a:r>
              <a:rPr lang="en-US" sz="4400" b="1" dirty="0">
                <a:solidFill>
                  <a:schemeClr val="tx1"/>
                </a:solidFill>
                <a:latin typeface="Cambria" pitchFamily="34" charset="0"/>
                <a:ea typeface="Cambria" pitchFamily="34" charset="-122"/>
                <a:cs typeface="Cambria" pitchFamily="34" charset="-120"/>
              </a:rPr>
              <a:t>, not vibes</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Choose the direction the website ships in</a:t>
            </a:r>
            <a:endParaRPr lang="en-US" sz="2100" dirty="0"/>
          </a:p>
          <a:p>
            <a:pPr indent="0" marL="0">
              <a:buNone/>
            </a:pPr>
            <a:r>
              <a:rPr lang="en-US" sz="1400" dirty="0">
                <a:solidFill>
                  <a:schemeClr val="accent3"/>
                </a:solidFill>
              </a:rPr>
              <a:t>Five built. Two featured. All on the table.</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Put one name on the build</a:t>
            </a:r>
            <a:endParaRPr lang="en-US" sz="2100" dirty="0"/>
          </a:p>
          <a:p>
            <a:pPr indent="0" marL="0">
              <a:buNone/>
            </a:pPr>
            <a:r>
              <a:rPr lang="en-US" sz="1400" dirty="0">
                <a:solidFill>
                  <a:schemeClr val="accent3"/>
                </a:solidFill>
              </a:rPr>
              <a:t>One owner, not a committee.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Leave with Rocks and To-Dos</a:t>
            </a:r>
            <a:endParaRPr lang="en-US" sz="2100" dirty="0"/>
          </a:p>
          <a:p>
            <a:pPr indent="0" marL="0">
              <a:buNone/>
            </a:pPr>
            <a:r>
              <a:rPr lang="en-US" sz="1400" dirty="0">
                <a:solidFill>
                  <a:schemeClr val="accent3"/>
                </a:solidFill>
              </a:rPr>
              <a:t>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FOR TODAY · EOS</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Hold that while we look at the designs. Liking one is easy. Owning it to launch is the job.</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WORK</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a:hlinkClick r:id="rId2" tooltip="Open the Big Sky live site"/>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a:hlinkClick r:id="rId4" tooltip="Open the Piney Woods live site"/>
          </p:cNvPr>
          <p:cNvPicPr>
            <a:picLocks noChangeAspect="1"/>
          </p:cNvPicPr>
          <p:nvPr/>
        </p:nvPicPr>
        <p:blipFill>
          <a:blip r:embed="rId3">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a:hlinkClick r:id="rId6" tooltip="Open the Open Water live site"/>
          </p:cNvPr>
          <p:cNvPicPr>
            <a:picLocks noChangeAspect="1"/>
          </p:cNvPicPr>
          <p:nvPr/>
        </p:nvPicPr>
        <p:blipFill>
          <a:blip r:embed="rId5">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a:hlinkClick r:id="rId8" tooltip="Open the Heartland Steel live site"/>
          </p:cNvPr>
          <p:cNvPicPr>
            <a:picLocks noChangeAspect="1"/>
          </p:cNvPicPr>
          <p:nvPr/>
        </p:nvPicPr>
        <p:blipFill>
          <a:blip r:embed="rId7"/>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a:hlinkClick r:id="rId10" tooltip="Open the Hill Country live site"/>
          </p:cNvPr>
          <p:cNvPicPr>
            <a:picLocks noChangeAspect="1"/>
          </p:cNvPicPr>
          <p:nvPr/>
        </p:nvPicPr>
        <p:blipFill>
          <a:blip r:embed="rId9">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Big Sk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Big Sky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2"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Heartland Steel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Heartland Steel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2"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ON THE TABLE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989320"/>
            <a:ext cx="2743200" cy="228600"/>
          </a:xfrm>
          <a:prstGeom prst="rect">
            <a:avLst/>
          </a:prstGeom>
          <a:noFill/>
          <a:ln/>
        </p:spPr>
        <p:txBody>
          <a:bodyPr wrap="square" lIns="0" tIns="0" rIns="0" bIns="0" rtlCol="0" anchor="t"/>
          <a:lstStyle/>
          <a:p>
            <a:pPr indent="0" marL="0">
              <a:buNone/>
            </a:pPr>
            <a:r>
              <a:rPr lang="en-US" sz="1100" dirty="0">
                <a:solidFill>
                  <a:schemeClr val="accent3"/>
                </a:solidFill>
              </a:rPr>
              <a:t>★ featured pair</a:t>
            </a:r>
            <a:endParaRPr lang="en-US" sz="11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HOW THE SITE CONVERTS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Booking is built in — and it wears whichever face we pick</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ter mark"/>
          <p:cNvSpPr txBox="1"/>
          <p:nvPr/>
        </p:nvSpPr>
        <p:spPr>
          <a:xfrm>
            <a:off x="7223760" y="4206240"/>
            <a:ext cx="4572000" cy="2377440"/>
          </a:xfrm>
          <a:prstGeom prst="rect">
            <a:avLst/>
          </a:prstGeom>
          <a:noFill/>
          <a:ln/>
        </p:spPr>
        <p:txBody>
          <a:bodyPr wrap="square" lIns="0" tIns="0" rIns="0" bIns="0" rtlCol="0" anchor="t"/>
          <a:lstStyle/>
          <a:p>
            <a:pPr algn="r" indent="0" marL="0">
              <a:buNone/>
            </a:pPr>
            <a:r>
              <a:rPr lang="en-US" sz="17000" dirty="0">
                <a:solidFill>
                  <a:schemeClr val="accent1">
                    <a:alpha val="15000"/>
                  </a:schemeClr>
                </a:solidFill>
                <a:latin typeface="Cambria" pitchFamily="34" charset="0"/>
                <a:ea typeface="Cambria" pitchFamily="34" charset="-122"/>
                <a:cs typeface="Cambria" pitchFamily="34" charset="-120"/>
              </a:rPr>
              <a:t>EOS</a:t>
            </a:r>
            <a:endParaRPr lang="en-US" sz="17000" dirty="0"/>
          </a:p>
        </p:txBody>
      </p:sp>
      <p:sp>
        <p:nvSpPr>
          <p:cNvPr id="3"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EOS · TRACTION</a:t>
            </a: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Accountability</a:t>
            </a: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Picking a design isn’t the finish line. It’s the first thing someone has to own.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ONE SEAT · ONE NAME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22783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246120"/>
            <a:ext cx="173736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a:t>
            </a:r>
            <a:endParaRPr lang="en-US" sz="1500" dirty="0"/>
          </a:p>
        </p:txBody>
      </p:sp>
      <p:sp>
        <p:nvSpPr>
          <p:cNvPr id="9" name="Text 7"/>
          <p:cNvSpPr txBox="1"/>
          <p:nvPr/>
        </p:nvSpPr>
        <p:spPr>
          <a:xfrm>
            <a:off x="88696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ACCOUNTABILITY CHART</a:t>
            </a:r>
            <a:endParaRPr lang="en-US" sz="1100" dirty="0"/>
          </a:p>
        </p:txBody>
      </p:sp>
      <p:sp>
        <p:nvSpPr>
          <p:cNvPr id="10" name="Text 8"/>
          <p:cNvSpPr txBox="1"/>
          <p:nvPr/>
        </p:nvSpPr>
        <p:spPr>
          <a:xfrm>
            <a:off x="88696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Names who owns each outcome — not who reports to whom. The website gets a seat, and the seat gets one name.</a:t>
            </a:r>
            <a:endParaRPr lang="en-US" sz="1700" dirty="0"/>
          </a:p>
        </p:txBody>
      </p:sp>
      <p:sp>
        <p:nvSpPr>
          <p:cNvPr id="11" name="Text 9"/>
          <p:cNvSpPr txBox="1"/>
          <p:nvPr/>
        </p:nvSpPr>
        <p:spPr>
          <a:xfrm>
            <a:off x="646160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NOT BLAME</a:t>
            </a:r>
            <a:endParaRPr lang="en-US" sz="1100" dirty="0"/>
          </a:p>
        </p:txBody>
      </p:sp>
      <p:sp>
        <p:nvSpPr>
          <p:cNvPr id="12" name="Text 10"/>
          <p:cNvSpPr txBox="1"/>
          <p:nvPr/>
        </p:nvSpPr>
        <p:spPr>
          <a:xfrm>
            <a:off x="646160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Clarity + ownership + follow-through. Clarity kills drift. Nobody wonders who’s driving.</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COMMITMENTS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you say, you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FEW · IMPORTANT</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The handful of things that must be true by the end of the quarter.</a:t>
            </a:r>
            <a:endParaRPr lang="en-US" sz="1800" dirty="0"/>
          </a:p>
          <a:p>
            <a:pPr indent="0" marL="0">
              <a:spcAft>
                <a:spcPts val="800"/>
              </a:spcAft>
              <a:buNone/>
            </a:pPr>
            <a:r>
              <a:rPr lang="en-US" sz="1800" dirty="0">
                <a:solidFill>
                  <a:srgbClr val="BDB4A2"/>
                </a:solidFill>
              </a:rPr>
              <a:t>You take a Rock → you drive it to done.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to the team.</a:t>
            </a:r>
            <a:endParaRPr lang="en-US" sz="1800" dirty="0"/>
          </a:p>
          <a:p>
            <a:pPr indent="0" marL="0">
              <a:spcAft>
                <a:spcPts val="800"/>
              </a:spcAft>
              <a:buNone/>
            </a:pPr>
            <a:r>
              <a:rPr lang="en-US" sz="1800" dirty="0">
                <a:solidFill>
                  <a:srgbClr val="BDB4A2"/>
                </a:solidFill>
              </a:rPr>
              <a:t>Done — or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Ambition without ownership is noise. Credit goes to the finish — not the intention.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THIS QUARTER · PROPOSED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website, as Rocks</a:t>
            </a:r>
            <a:endParaRPr lang="en-US" sz="4400" dirty="0"/>
          </a:p>
        </p:txBody>
      </p:sp>
      <p:graphicFrame>
        <p:nvGraphicFramePr>
          <p:cNvPr id="17"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949440"/>
                <a:gridCol w="3465576"/>
              </a:tblGrid>
              <a:tr h="365760">
                <a:tc>
                  <a:txBody>
                    <a:bodyPr/>
                    <a:lstStyle/>
                    <a:p>
                      <a:pPr indent="0" marL="0">
                        <a:buNone/>
                      </a:pPr>
                      <a:r>
                        <a:rPr lang="en-US" sz="1000" b="1" spc="200" kern="0" dirty="0">
                          <a:solidFill>
                            <a:schemeClr val="accent2"/>
                          </a:solidFill>
                        </a:rPr>
                        <a:t>ROCK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homepage in the chosen direction</a:t>
                      </a:r>
                      <a:endParaRPr lang="en-US" sz="1200" dirty="0"/>
                    </a:p>
                    <a:p>
                      <a:pPr indent="0" marL="0">
                        <a:buNone/>
                      </a:pPr>
                      <a:r>
                        <a:rPr lang="en-US" sz="1300" dirty="0">
                          <a:solidFill>
                            <a:schemeClr val="accent3"/>
                          </a:solidFill>
                        </a:rPr>
                        <a:t>Live on the domain, mobile-checked,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ready to publish</a:t>
                      </a:r>
                      <a:endParaRPr lang="en-US" sz="1200" dirty="0"/>
                    </a:p>
                    <a:p>
                      <a:pPr indent="0" marL="0">
                        <a:buNone/>
                      </a:pPr>
                      <a:r>
                        <a:rPr lang="en-US" sz="1300" dirty="0">
                          <a:solidFill>
                            <a:schemeClr val="accent3"/>
                          </a:solidFill>
                        </a:rPr>
                        <a:t>Services, coverage, contact — written and approved.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85216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Type owner names into the Owner column during the meeting.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DECISION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face ships?</a:t>
            </a:r>
            <a:endParaRPr lang="en-US" sz="4400" dirty="0"/>
          </a:p>
        </p:txBody>
      </p:sp>
      <p:sp>
        <p:nvSpPr>
          <p:cNvPr id="4" name="Big Sky card"/>
          <p:cNvSpPr/>
          <p:nvPr/>
        </p:nvSpPr>
        <p:spPr>
          <a:xfrm>
            <a:off x="886968" y="233172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33172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3840480"/>
          <a:ext cx="10417759" cy="914400"/>
        </p:xfrm>
        <a:graphic>
          <a:graphicData uri="http://schemas.openxmlformats.org/drawingml/2006/table">
            <a:tbl>
              <a:tblPr/>
              <a:tblGrid>
                <a:gridCol w="5852160"/>
                <a:gridCol w="2743200"/>
                <a:gridCol w="1819656"/>
              </a:tblGrid>
              <a:tr h="347472">
                <a:tc>
                  <a:txBody>
                    <a:bodyPr/>
                    <a:lstStyle/>
                    <a:p>
                      <a:pPr indent="0" marL="0">
                        <a:buNone/>
                      </a:pPr>
                      <a:r>
                        <a:rPr lang="en-US" sz="1000" b="1" spc="200" kern="0" dirty="0">
                          <a:solidFill>
                            <a:schemeClr val="accent1"/>
                          </a:solidFill>
                        </a:rPr>
                        <a:t>TO-DO · THIS WEEK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Confirm the direction (or final two + who decides)</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Kick off the build with the chosen design</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Gather photos &amp; copy owners need</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960120"/>
            <a:ext cx="3356386" cy="713232"/>
          </a:xfrm>
          <a:prstGeom prst="rect">
            <a:avLst/>
          </a:prstGeom>
        </p:spPr>
      </p:pic>
      <p:sp>
        <p:nvSpPr>
          <p:cNvPr id="3" name="Text 0"/>
          <p:cNvSpPr txBox="1"/>
          <p:nvPr/>
        </p:nvSpPr>
        <p:spPr>
          <a:xfrm>
            <a:off x="886968" y="2331720"/>
            <a:ext cx="10417759" cy="219456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Own it.</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Finish it.</a:t>
            </a:r>
            <a:endParaRPr lang="en-US" sz="6600" dirty="0"/>
          </a:p>
        </p:txBody>
      </p:sp>
      <p:sp>
        <p:nvSpPr>
          <p:cNvPr id="4" name="Text 1"/>
          <p:cNvSpPr txBox="1"/>
          <p:nvPr/>
        </p:nvSpPr>
        <p:spPr>
          <a:xfrm>
            <a:off x="886968" y="4754880"/>
            <a:ext cx="7315200" cy="731520"/>
          </a:xfrm>
          <a:prstGeom prst="rect">
            <a:avLst/>
          </a:prstGeom>
          <a:noFill/>
          <a:ln/>
        </p:spPr>
        <p:txBody>
          <a:bodyPr wrap="square" lIns="0" tIns="0" rIns="0" bIns="0" rtlCol="0" anchor="t"/>
          <a:lstStyle/>
          <a:p>
            <a:pPr indent="0" marL="0">
              <a:buNone/>
            </a:pPr>
            <a:r>
              <a:rPr lang="en-US" sz="1800" dirty="0">
                <a:solidFill>
                  <a:srgbClr val="BDB4A2"/>
                </a:solidFill>
              </a:rPr>
              <a:t>We picked a face. Now we put the names on it and drive it to done.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Piney Woods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Piney Woods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Open Water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Open Water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Hill Countr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ill Countr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2026-10-09T17:20:13Z</dcterms:created>
  <dcterms:modified xsi:type="dcterms:W3CDTF">2026-10-09T17:20:13Z</dcterms:modified>
</cp:coreProperties>
</file>